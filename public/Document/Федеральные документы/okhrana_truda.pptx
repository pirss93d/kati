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17B4CA-A510-455D-B520-96CA20C41BEB}" type="datetimeFigureOut">
              <a:rPr lang="ru-RU" smtClean="0"/>
              <a:t>20.02.2023</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B4D698-5797-41B9-8433-1871729D6F03}" type="slidenum">
              <a:rPr lang="ru-RU" smtClean="0"/>
              <a:t>‹#›</a:t>
            </a:fld>
            <a:endParaRPr lang="ru-RU"/>
          </a:p>
        </p:txBody>
      </p:sp>
    </p:spTree>
    <p:extLst>
      <p:ext uri="{BB962C8B-B14F-4D97-AF65-F5344CB8AC3E}">
        <p14:creationId xmlns:p14="http://schemas.microsoft.com/office/powerpoint/2010/main" val="911763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A6B4D698-5797-41B9-8433-1871729D6F03}" type="slidenum">
              <a:rPr lang="ru-RU" smtClean="0"/>
              <a:t>70</a:t>
            </a:fld>
            <a:endParaRPr lang="ru-RU"/>
          </a:p>
        </p:txBody>
      </p:sp>
    </p:spTree>
    <p:extLst>
      <p:ext uri="{BB962C8B-B14F-4D97-AF65-F5344CB8AC3E}">
        <p14:creationId xmlns:p14="http://schemas.microsoft.com/office/powerpoint/2010/main" val="3648747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ru-RU" smtClean="0"/>
              <a:t>Образец заголовка</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20.02.2023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20.02.2023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ru-RU" smtClean="0"/>
              <a:t>Образец заголовка</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20.02.2023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B4C71EC6-210F-42DE-9C53-41977AD35B3D}" type="datetimeFigureOut">
              <a:rPr lang="ru-RU" smtClean="0"/>
              <a:t>20.02.2023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20.02.2023</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20.02.2023</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C71EC6-210F-42DE-9C53-41977AD35B3D}" type="datetimeFigureOut">
              <a:rPr lang="ru-RU" smtClean="0"/>
              <a:t>20.02.2023</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ru-RU" smtClean="0"/>
              <a:t>Образец заголовка</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20.02.2023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ru-RU" smtClean="0"/>
              <a:t>Образец заголовка</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20.02.2023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20.02.2023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20.02.2023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B4C71EC6-210F-42DE-9C53-41977AD35B3D}" type="datetimeFigureOut">
              <a:rPr lang="ru-RU" smtClean="0"/>
              <a:t>20.02.2023</a:t>
            </a:fld>
            <a:endParaRPr lang="ru-RU"/>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ru-RU"/>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B19B0651-EE4F-4900-A07F-96A6BFA9D0F0}" type="slidenum">
              <a:rPr lang="ru-RU" smtClean="0"/>
              <a:t>‹#›</a:t>
            </a:fld>
            <a:endParaRPr lang="ru-RU"/>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1073;&#1083;&#1086;&#1075;-&#1080;&#1085;&#1078;&#1077;&#1085;&#1077;&#1088;&#1072;.&#1088;&#1092;/trudovoj-kodeks/%d1%81%d1%82%d0%b0%d1%82%d1%8c%d1%8f-214-%d1%82%d0%ba-%d1%80%d1%84.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hyperlink" Target="http://publication.pravo.gov.ru/Document/View/0001202212310004"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hyperlink" Target="https://&#1073;&#1083;&#1086;&#1075;-&#1080;&#1085;&#1078;&#1077;&#1085;&#1077;&#1088;&#1072;.&#1088;&#1092;/trudovoj-kodeks/%d1%81%d1%82%d0%b0%d1%82%d1%8c%d1%8f-219-%d1%82%d0%ba-%d1%80%d1%84.html"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1073;&#1083;&#1086;&#1075;-&#1080;&#1085;&#1078;&#1077;&#1085;&#1077;&#1088;&#1072;.&#1088;&#1092;/%d1%80%d0%b8%d1%81%d0%ba%d0%bf%d1%80%d0%be%d1%84"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1073;&#1083;&#1086;&#1075;-&#1080;&#1085;&#1078;&#1077;&#1085;&#1077;&#1088;&#1072;.&#1088;&#1092;/wp-content/uploads/2022/04/skhema-periodichnosti-obucheniya-pervoj-pomoshchi.png" TargetMode="External"/><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pPr algn="r"/>
            <a:r>
              <a:rPr lang="ru-RU" sz="4000" dirty="0" smtClean="0"/>
              <a:t>Охрана труда. </a:t>
            </a:r>
            <a:br>
              <a:rPr lang="ru-RU" sz="4000" dirty="0" smtClean="0"/>
            </a:br>
            <a:r>
              <a:rPr lang="ru-RU" sz="4000" dirty="0" smtClean="0"/>
              <a:t>На что обратить внимание!!!</a:t>
            </a:r>
            <a:endParaRPr lang="ru-RU" sz="4000" dirty="0"/>
          </a:p>
        </p:txBody>
      </p:sp>
      <p:sp>
        <p:nvSpPr>
          <p:cNvPr id="3" name="Подзаголовок 2"/>
          <p:cNvSpPr>
            <a:spLocks noGrp="1"/>
          </p:cNvSpPr>
          <p:nvPr>
            <p:ph type="subTitle" idx="1"/>
          </p:nvPr>
        </p:nvSpPr>
        <p:spPr/>
        <p:txBody>
          <a:bodyPr/>
          <a:lstStyle/>
          <a:p>
            <a:pPr algn="r"/>
            <a:r>
              <a:rPr lang="ru-RU" dirty="0" smtClean="0"/>
              <a:t>Фонд развития детских лагерей</a:t>
            </a:r>
            <a:endParaRPr lang="ru-RU" dirty="0"/>
          </a:p>
        </p:txBody>
      </p:sp>
    </p:spTree>
    <p:extLst>
      <p:ext uri="{BB962C8B-B14F-4D97-AF65-F5344CB8AC3E}">
        <p14:creationId xmlns:p14="http://schemas.microsoft.com/office/powerpoint/2010/main" val="4191977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pPr algn="r"/>
            <a:r>
              <a:rPr lang="ru-RU" sz="3200" dirty="0"/>
              <a:t>Реестр (перечень) нормативных правовых актов по охране труда на 2023 год</a:t>
            </a:r>
          </a:p>
        </p:txBody>
      </p:sp>
      <p:sp>
        <p:nvSpPr>
          <p:cNvPr id="3" name="Объект 2"/>
          <p:cNvSpPr>
            <a:spLocks noGrp="1"/>
          </p:cNvSpPr>
          <p:nvPr>
            <p:ph idx="1"/>
          </p:nvPr>
        </p:nvSpPr>
        <p:spPr/>
        <p:txBody>
          <a:bodyPr/>
          <a:lstStyle/>
          <a:p>
            <a:pPr marL="0" indent="0" algn="just">
              <a:buNone/>
            </a:pPr>
            <a:r>
              <a:rPr lang="ru-RU" dirty="0" smtClean="0"/>
              <a:t>	В </a:t>
            </a:r>
            <a:r>
              <a:rPr lang="ru-RU" dirty="0"/>
              <a:t>соответствии со </a:t>
            </a:r>
            <a:r>
              <a:rPr lang="ru-RU" u="sng" dirty="0">
                <a:hlinkClick r:id="rId2"/>
              </a:rPr>
              <a:t>статьёй 214 ТК РФ</a:t>
            </a:r>
            <a:r>
              <a:rPr lang="ru-RU" dirty="0"/>
              <a:t> работодатель обязан обеспечить ведение </a:t>
            </a:r>
            <a:r>
              <a:rPr lang="ru-RU" b="1" dirty="0"/>
              <a:t>реестра (перечня) нормативных правовых актов</a:t>
            </a:r>
            <a:r>
              <a:rPr lang="ru-RU" dirty="0"/>
              <a:t> (в том числе с использованием электронных вычислительных машин и баз данных), содержащих требования охраны труда, в соответствии со спецификой своей деятельности, а также доступ работников к актуальным редакциям таких нормативных правовых актов.</a:t>
            </a:r>
          </a:p>
          <a:p>
            <a:pPr marL="0" indent="0" algn="just">
              <a:buNone/>
            </a:pPr>
            <a:r>
              <a:rPr lang="ru-RU" dirty="0" smtClean="0"/>
              <a:t>	Работодатель </a:t>
            </a:r>
            <a:r>
              <a:rPr lang="ru-RU" dirty="0"/>
              <a:t>имеет право по своему усмотрению организовать ведение реестра любым удобным для организации способом.</a:t>
            </a:r>
          </a:p>
          <a:p>
            <a:pPr marL="0" indent="0">
              <a:buNone/>
            </a:pPr>
            <a:endParaRPr lang="ru-RU" dirty="0"/>
          </a:p>
        </p:txBody>
      </p:sp>
    </p:spTree>
    <p:extLst>
      <p:ext uri="{BB962C8B-B14F-4D97-AF65-F5344CB8AC3E}">
        <p14:creationId xmlns:p14="http://schemas.microsoft.com/office/powerpoint/2010/main" val="1555847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pPr algn="r"/>
            <a:r>
              <a:rPr lang="ru-RU" sz="2800" dirty="0"/>
              <a:t>Вне зависимости от выбранного способа ведения, логика действий работодателя будет </a:t>
            </a:r>
            <a:r>
              <a:rPr lang="ru-RU" sz="2800" dirty="0" smtClean="0"/>
              <a:t/>
            </a:r>
            <a:br>
              <a:rPr lang="ru-RU" sz="2800" dirty="0" smtClean="0"/>
            </a:br>
            <a:r>
              <a:rPr lang="ru-RU" sz="2800" dirty="0" smtClean="0"/>
              <a:t>примерно </a:t>
            </a:r>
            <a:r>
              <a:rPr lang="ru-RU" sz="2800" dirty="0"/>
              <a:t>такой</a:t>
            </a:r>
          </a:p>
        </p:txBody>
      </p:sp>
      <p:sp>
        <p:nvSpPr>
          <p:cNvPr id="3" name="Объект 2"/>
          <p:cNvSpPr>
            <a:spLocks noGrp="1"/>
          </p:cNvSpPr>
          <p:nvPr>
            <p:ph idx="1"/>
          </p:nvPr>
        </p:nvSpPr>
        <p:spPr/>
        <p:txBody>
          <a:bodyPr/>
          <a:lstStyle/>
          <a:p>
            <a:pPr marL="0" indent="0" algn="just">
              <a:buNone/>
            </a:pPr>
            <a:r>
              <a:rPr lang="ru-RU" sz="3200" b="1" dirty="0">
                <a:solidFill>
                  <a:srgbClr val="FF0000"/>
                </a:solidFill>
                <a:effectLst>
                  <a:outerShdw blurRad="38100" dist="38100" dir="2700000" algn="tl">
                    <a:srgbClr val="000000">
                      <a:alpha val="43137"/>
                    </a:srgbClr>
                  </a:outerShdw>
                </a:effectLst>
              </a:rPr>
              <a:t>Шаг 1. </a:t>
            </a:r>
            <a:r>
              <a:rPr lang="ru-RU" sz="3200" dirty="0"/>
              <a:t>Издать локальный нормативный акт (приказ/распоряжение</a:t>
            </a:r>
            <a:r>
              <a:rPr lang="ru-RU" sz="3200" dirty="0" smtClean="0"/>
              <a:t>);</a:t>
            </a:r>
            <a:endParaRPr lang="ru-RU" sz="3200" dirty="0"/>
          </a:p>
          <a:p>
            <a:pPr marL="0" indent="0" algn="just">
              <a:buNone/>
            </a:pPr>
            <a:r>
              <a:rPr lang="ru-RU" sz="3200" b="1" dirty="0">
                <a:solidFill>
                  <a:srgbClr val="FF0000"/>
                </a:solidFill>
                <a:effectLst>
                  <a:outerShdw blurRad="38100" dist="38100" dir="2700000" algn="tl">
                    <a:srgbClr val="000000">
                      <a:alpha val="43137"/>
                    </a:srgbClr>
                  </a:outerShdw>
                </a:effectLst>
              </a:rPr>
              <a:t>Шаг 2.</a:t>
            </a:r>
            <a:r>
              <a:rPr lang="ru-RU" sz="3200" dirty="0"/>
              <a:t> Ознакомить работников организации с изданным локальным </a:t>
            </a:r>
            <a:r>
              <a:rPr lang="ru-RU" sz="3200" dirty="0" smtClean="0"/>
              <a:t>актом;</a:t>
            </a:r>
            <a:endParaRPr lang="ru-RU" sz="3200" dirty="0"/>
          </a:p>
          <a:p>
            <a:pPr marL="0" indent="0" algn="just">
              <a:buNone/>
            </a:pPr>
            <a:r>
              <a:rPr lang="ru-RU" sz="3200" b="1" dirty="0">
                <a:solidFill>
                  <a:srgbClr val="FF0000"/>
                </a:solidFill>
                <a:effectLst>
                  <a:outerShdw blurRad="38100" dist="38100" dir="2700000" algn="tl">
                    <a:srgbClr val="000000">
                      <a:alpha val="43137"/>
                    </a:srgbClr>
                  </a:outerShdw>
                </a:effectLst>
              </a:rPr>
              <a:t>Шаг 3.</a:t>
            </a:r>
            <a:r>
              <a:rPr lang="ru-RU" sz="3200" dirty="0"/>
              <a:t> Предоставить работникам доступ к реестру </a:t>
            </a:r>
            <a:r>
              <a:rPr lang="ru-RU" sz="3200" dirty="0" smtClean="0"/>
              <a:t>НПА.</a:t>
            </a:r>
            <a:endParaRPr lang="ru-RU" sz="3200" dirty="0"/>
          </a:p>
          <a:p>
            <a:pPr marL="0" indent="0">
              <a:buNone/>
            </a:pPr>
            <a:endParaRPr lang="ru-RU" dirty="0"/>
          </a:p>
        </p:txBody>
      </p:sp>
    </p:spTree>
    <p:extLst>
      <p:ext uri="{BB962C8B-B14F-4D97-AF65-F5344CB8AC3E}">
        <p14:creationId xmlns:p14="http://schemas.microsoft.com/office/powerpoint/2010/main" val="1774698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В локальном акте организации укажите</a:t>
            </a:r>
          </a:p>
        </p:txBody>
      </p:sp>
      <p:sp>
        <p:nvSpPr>
          <p:cNvPr id="3" name="Объект 2"/>
          <p:cNvSpPr>
            <a:spLocks noGrp="1"/>
          </p:cNvSpPr>
          <p:nvPr>
            <p:ph idx="1"/>
          </p:nvPr>
        </p:nvSpPr>
        <p:spPr/>
        <p:txBody>
          <a:bodyPr>
            <a:normAutofit/>
          </a:bodyPr>
          <a:lstStyle/>
          <a:p>
            <a:pPr algn="just">
              <a:buFont typeface="Wingdings" panose="05000000000000000000" pitchFamily="2" charset="2"/>
              <a:buChar char="ü"/>
            </a:pPr>
            <a:r>
              <a:rPr lang="ru-RU" sz="3600" dirty="0"/>
              <a:t>каким образом ведётся реестр;</a:t>
            </a:r>
          </a:p>
          <a:p>
            <a:pPr algn="just">
              <a:buFont typeface="Wingdings" panose="05000000000000000000" pitchFamily="2" charset="2"/>
              <a:buChar char="ü"/>
            </a:pPr>
            <a:r>
              <a:rPr lang="ru-RU" sz="3600" dirty="0"/>
              <a:t>какие разделы (папки) имеются в реестре (учитывая специфику деятельности);</a:t>
            </a:r>
          </a:p>
          <a:p>
            <a:pPr algn="just">
              <a:buFont typeface="Wingdings" panose="05000000000000000000" pitchFamily="2" charset="2"/>
              <a:buChar char="ü"/>
            </a:pPr>
            <a:r>
              <a:rPr lang="ru-RU" sz="3600" dirty="0"/>
              <a:t>каким образом обеспечивается доступ работников к актуальным документам, и т.п.</a:t>
            </a:r>
          </a:p>
          <a:p>
            <a:pPr algn="just">
              <a:buFont typeface="Wingdings" panose="05000000000000000000" pitchFamily="2" charset="2"/>
              <a:buChar char="ü"/>
            </a:pPr>
            <a:endParaRPr lang="ru-RU" sz="3600" dirty="0"/>
          </a:p>
        </p:txBody>
      </p:sp>
    </p:spTree>
    <p:extLst>
      <p:ext uri="{BB962C8B-B14F-4D97-AF65-F5344CB8AC3E}">
        <p14:creationId xmlns:p14="http://schemas.microsoft.com/office/powerpoint/2010/main" val="1389679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Формулировка приказа может быть такой:</a:t>
            </a:r>
          </a:p>
        </p:txBody>
      </p:sp>
      <p:sp>
        <p:nvSpPr>
          <p:cNvPr id="3" name="Объект 2"/>
          <p:cNvSpPr>
            <a:spLocks noGrp="1"/>
          </p:cNvSpPr>
          <p:nvPr>
            <p:ph idx="1"/>
          </p:nvPr>
        </p:nvSpPr>
        <p:spPr/>
        <p:txBody>
          <a:bodyPr>
            <a:normAutofit fontScale="62500" lnSpcReduction="20000"/>
          </a:bodyPr>
          <a:lstStyle/>
          <a:p>
            <a:pPr marL="0" indent="0" algn="just">
              <a:buNone/>
            </a:pPr>
            <a:r>
              <a:rPr lang="ru-RU" dirty="0" smtClean="0"/>
              <a:t>	В </a:t>
            </a:r>
            <a:r>
              <a:rPr lang="ru-RU" dirty="0"/>
              <a:t>целях реализации требований статьи 214 Трудового кодекса Российской Федерации и иных нормативных правовых актов, содержащих нормы труда, </a:t>
            </a:r>
            <a:endParaRPr lang="ru-RU" dirty="0" smtClean="0"/>
          </a:p>
          <a:p>
            <a:pPr marL="0" indent="0" algn="just">
              <a:buNone/>
            </a:pPr>
            <a:r>
              <a:rPr lang="ru-RU" b="1" dirty="0" smtClean="0"/>
              <a:t>п </a:t>
            </a:r>
            <a:r>
              <a:rPr lang="ru-RU" b="1" dirty="0"/>
              <a:t>р и к а з ы в а ю</a:t>
            </a:r>
            <a:r>
              <a:rPr lang="ru-RU" dirty="0"/>
              <a:t>:</a:t>
            </a:r>
          </a:p>
          <a:p>
            <a:pPr marL="0" indent="0" algn="just">
              <a:buNone/>
            </a:pPr>
            <a:r>
              <a:rPr lang="ru-RU" dirty="0" smtClean="0"/>
              <a:t>	1</a:t>
            </a:r>
            <a:r>
              <a:rPr lang="ru-RU" dirty="0"/>
              <a:t>. Утвердить и ввести в действие Реестр (перечень) нормативных правовых актов, содержащих требования охраны труда (далее – Реестр НПА), в соответствии со спецификой деятельности ООО «Победа» (далее – Общество), которыми необходимо руководствоваться всем работникам Общества.</a:t>
            </a:r>
          </a:p>
          <a:p>
            <a:pPr marL="0" indent="0" algn="just">
              <a:buNone/>
            </a:pPr>
            <a:r>
              <a:rPr lang="ru-RU" dirty="0" smtClean="0"/>
              <a:t>	2</a:t>
            </a:r>
            <a:r>
              <a:rPr lang="ru-RU" dirty="0"/>
              <a:t>. Специалисту по кадрам Петровой Снежане Олеговне в срок до 10 января 2023 года ознакомить работников Общества с настоящим Реестром НПА.</a:t>
            </a:r>
          </a:p>
          <a:p>
            <a:pPr marL="0" indent="0" algn="just">
              <a:buNone/>
            </a:pPr>
            <a:r>
              <a:rPr lang="ru-RU" dirty="0" smtClean="0"/>
              <a:t>	3</a:t>
            </a:r>
            <a:r>
              <a:rPr lang="ru-RU" dirty="0"/>
              <a:t>. Специалисту по охране труда Богову Андрею Ивановичу отслеживать статус нормативных правовых актов, содержащихся в настоящем Реестре НПА. В случае изменения статуса вносить соответствующие изменения в настоящий Реестр НПА.</a:t>
            </a:r>
          </a:p>
          <a:p>
            <a:pPr marL="0" indent="0" algn="just">
              <a:buNone/>
            </a:pPr>
            <a:r>
              <a:rPr lang="ru-RU" dirty="0" smtClean="0"/>
              <a:t>	4</a:t>
            </a:r>
            <a:r>
              <a:rPr lang="ru-RU" dirty="0"/>
              <a:t>. Специалисту по информационной безопасности </a:t>
            </a:r>
            <a:r>
              <a:rPr lang="ru-RU" dirty="0" err="1"/>
              <a:t>Трепетову</a:t>
            </a:r>
            <a:r>
              <a:rPr lang="ru-RU" dirty="0"/>
              <a:t> Борису Иннокентьевичу обеспечить доступ работников к электронным версиям актуальных редакций нормативных правовых актов, содержащихся в настоящем Реестре НПА.</a:t>
            </a:r>
          </a:p>
          <a:p>
            <a:pPr marL="0" indent="0" algn="just">
              <a:buNone/>
            </a:pPr>
            <a:r>
              <a:rPr lang="ru-RU" dirty="0" smtClean="0"/>
              <a:t>	5</a:t>
            </a:r>
            <a:r>
              <a:rPr lang="ru-RU" dirty="0"/>
              <a:t>. Настоящий приказ выступает в силу со дня его подписания директором Общества.</a:t>
            </a:r>
          </a:p>
          <a:p>
            <a:pPr marL="0" indent="0" algn="just">
              <a:buNone/>
            </a:pPr>
            <a:r>
              <a:rPr lang="ru-RU" dirty="0" smtClean="0"/>
              <a:t>	6</a:t>
            </a:r>
            <a:r>
              <a:rPr lang="ru-RU" dirty="0"/>
              <a:t>. Контроль за исполнением настоящего приказа возложить на заместителя директора по корпоративной безопасности Замятина Феникса Александровича.</a:t>
            </a:r>
          </a:p>
          <a:p>
            <a:pPr marL="0" indent="0" algn="just">
              <a:buNone/>
            </a:pPr>
            <a:endParaRPr lang="ru-RU" dirty="0"/>
          </a:p>
        </p:txBody>
      </p:sp>
    </p:spTree>
    <p:extLst>
      <p:ext uri="{BB962C8B-B14F-4D97-AF65-F5344CB8AC3E}">
        <p14:creationId xmlns:p14="http://schemas.microsoft.com/office/powerpoint/2010/main" val="2342037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ВАЖНО!!!</a:t>
            </a:r>
            <a:endParaRPr lang="ru-RU" dirty="0"/>
          </a:p>
        </p:txBody>
      </p:sp>
      <p:sp>
        <p:nvSpPr>
          <p:cNvPr id="3" name="Объект 2"/>
          <p:cNvSpPr>
            <a:spLocks noGrp="1"/>
          </p:cNvSpPr>
          <p:nvPr>
            <p:ph idx="1"/>
          </p:nvPr>
        </p:nvSpPr>
        <p:spPr/>
        <p:txBody>
          <a:bodyPr>
            <a:normAutofit/>
          </a:bodyPr>
          <a:lstStyle/>
          <a:p>
            <a:pPr marL="0" indent="0" algn="ctr">
              <a:buNone/>
            </a:pPr>
            <a:r>
              <a:rPr lang="ru-RU" sz="4400" b="1" dirty="0">
                <a:solidFill>
                  <a:srgbClr val="FF0000"/>
                </a:solidFill>
                <a:effectLst>
                  <a:outerShdw blurRad="38100" dist="38100" dir="2700000" algn="tl">
                    <a:srgbClr val="000000">
                      <a:alpha val="43137"/>
                    </a:srgbClr>
                  </a:outerShdw>
                </a:effectLst>
              </a:rPr>
              <a:t>Работников нужно ознакомить с данным документом под подпись. Для этого к приказу можно приложить лист ознакомления.</a:t>
            </a:r>
            <a:endParaRPr lang="ru-RU" sz="4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11347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ПРЕДОСТАВИТЬ ДОСТУП</a:t>
            </a:r>
            <a:endParaRPr lang="ru-RU" dirty="0"/>
          </a:p>
        </p:txBody>
      </p:sp>
      <p:sp>
        <p:nvSpPr>
          <p:cNvPr id="3" name="Объект 2"/>
          <p:cNvSpPr>
            <a:spLocks noGrp="1"/>
          </p:cNvSpPr>
          <p:nvPr>
            <p:ph idx="1"/>
          </p:nvPr>
        </p:nvSpPr>
        <p:spPr/>
        <p:txBody>
          <a:bodyPr/>
          <a:lstStyle/>
          <a:p>
            <a:pPr marL="0" indent="0" algn="just">
              <a:buNone/>
            </a:pPr>
            <a:r>
              <a:rPr lang="ru-RU" dirty="0" smtClean="0"/>
              <a:t>	Предоставить </a:t>
            </a:r>
            <a:r>
              <a:rPr lang="ru-RU" dirty="0"/>
              <a:t>доступ можно как к бумажным, так и электронным версиям нормативных актов. Нормативные документы можно скачать и разместись, к примеру, в облаке. В приказе следует указать месторасположение электронных документов.</a:t>
            </a:r>
          </a:p>
          <a:p>
            <a:pPr marL="0" indent="0" algn="just">
              <a:buNone/>
            </a:pPr>
            <a:r>
              <a:rPr lang="ru-RU" dirty="0" smtClean="0"/>
              <a:t>	Сам </a:t>
            </a:r>
            <a:r>
              <a:rPr lang="ru-RU" dirty="0"/>
              <a:t>по себе реестр может представлять собой обычного вида перечь нормативных правовых актов с гиперссылками, перейдя по которым, работник ознакомится с содержанием документа. Полагаем, что это один из самых простых вариантов.</a:t>
            </a:r>
          </a:p>
          <a:p>
            <a:pPr marL="0" indent="0" algn="just">
              <a:buNone/>
            </a:pPr>
            <a:endParaRPr lang="ru-RU" dirty="0"/>
          </a:p>
        </p:txBody>
      </p:sp>
    </p:spTree>
    <p:extLst>
      <p:ext uri="{BB962C8B-B14F-4D97-AF65-F5344CB8AC3E}">
        <p14:creationId xmlns:p14="http://schemas.microsoft.com/office/powerpoint/2010/main" val="838964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pPr algn="just"/>
            <a:r>
              <a:rPr lang="ru-RU" sz="2400" b="1" dirty="0">
                <a:effectLst>
                  <a:outerShdw blurRad="38100" dist="38100" dir="2700000" algn="tl">
                    <a:srgbClr val="000000">
                      <a:alpha val="43137"/>
                    </a:srgbClr>
                  </a:outerShdw>
                </a:effectLst>
              </a:rPr>
              <a:t>Приложение – Реестр (перечень) нормативных правовых актов, содержащих требования охраны труда, действующих в ООО «Победа»</a:t>
            </a:r>
          </a:p>
        </p:txBody>
      </p:sp>
      <p:sp>
        <p:nvSpPr>
          <p:cNvPr id="3" name="Объект 2"/>
          <p:cNvSpPr>
            <a:spLocks noGrp="1"/>
          </p:cNvSpPr>
          <p:nvPr>
            <p:ph idx="1"/>
          </p:nvPr>
        </p:nvSpPr>
        <p:spPr/>
        <p:txBody>
          <a:bodyPr/>
          <a:lstStyle/>
          <a:p>
            <a:pPr marL="0" indent="0" algn="ctr">
              <a:buNone/>
            </a:pPr>
            <a:endParaRPr lang="ru-RU" sz="4400" dirty="0" smtClean="0"/>
          </a:p>
          <a:p>
            <a:pPr marL="0" indent="0" algn="ctr">
              <a:buNone/>
            </a:pPr>
            <a:r>
              <a:rPr lang="ru-RU" sz="4400" b="1" dirty="0" smtClean="0">
                <a:solidFill>
                  <a:srgbClr val="FF0000"/>
                </a:solidFill>
                <a:effectLst>
                  <a:outerShdw blurRad="38100" dist="38100" dir="2700000" algn="tl">
                    <a:srgbClr val="000000">
                      <a:alpha val="43137"/>
                    </a:srgbClr>
                  </a:outerShdw>
                </a:effectLst>
              </a:rPr>
              <a:t>Вам </a:t>
            </a:r>
            <a:r>
              <a:rPr lang="ru-RU" sz="4400" b="1" dirty="0">
                <a:solidFill>
                  <a:srgbClr val="FF0000"/>
                </a:solidFill>
                <a:effectLst>
                  <a:outerShdw blurRad="38100" dist="38100" dir="2700000" algn="tl">
                    <a:srgbClr val="000000">
                      <a:alpha val="43137"/>
                    </a:srgbClr>
                  </a:outerShdw>
                </a:effectLst>
              </a:rPr>
              <a:t>остаётся отсечь лишнее и, возможно, добавить недостающее</a:t>
            </a:r>
            <a:r>
              <a:rPr lang="ru-RU" dirty="0"/>
              <a:t>.</a:t>
            </a:r>
            <a:endParaRPr lang="ru-RU" dirty="0"/>
          </a:p>
        </p:txBody>
      </p:sp>
    </p:spTree>
    <p:extLst>
      <p:ext uri="{BB962C8B-B14F-4D97-AF65-F5344CB8AC3E}">
        <p14:creationId xmlns:p14="http://schemas.microsoft.com/office/powerpoint/2010/main" val="4034957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r>
              <a:rPr lang="ru-RU" sz="3200" b="1" dirty="0">
                <a:effectLst>
                  <a:outerShdw blurRad="38100" dist="38100" dir="2700000" algn="tl">
                    <a:srgbClr val="000000">
                      <a:alpha val="43137"/>
                    </a:srgbClr>
                  </a:outerShdw>
                </a:effectLst>
              </a:rPr>
              <a:t>Реестр НПА по охране труда на 2023 год</a:t>
            </a:r>
          </a:p>
        </p:txBody>
      </p:sp>
      <p:sp>
        <p:nvSpPr>
          <p:cNvPr id="3" name="Объект 2"/>
          <p:cNvSpPr>
            <a:spLocks noGrp="1"/>
          </p:cNvSpPr>
          <p:nvPr>
            <p:ph idx="1"/>
          </p:nvPr>
        </p:nvSpPr>
        <p:spPr/>
        <p:txBody>
          <a:bodyPr>
            <a:normAutofit fontScale="85000" lnSpcReduction="20000"/>
          </a:bodyPr>
          <a:lstStyle/>
          <a:p>
            <a:pPr algn="just"/>
            <a:r>
              <a:rPr lang="ru-RU" dirty="0"/>
              <a:t>Конституция Российской Федерации</a:t>
            </a:r>
          </a:p>
          <a:p>
            <a:pPr algn="just"/>
            <a:r>
              <a:rPr lang="ru-RU" dirty="0"/>
              <a:t>Трудовой кодекс Российской Федерации</a:t>
            </a:r>
          </a:p>
          <a:p>
            <a:pPr algn="just"/>
            <a:r>
              <a:rPr lang="ru-RU" dirty="0"/>
              <a:t>Кодекс Российской Федерации об административных правонарушениях</a:t>
            </a:r>
          </a:p>
          <a:p>
            <a:pPr algn="just"/>
            <a:r>
              <a:rPr lang="ru-RU" dirty="0"/>
              <a:t>Гражданский кодекс Российской Федерации</a:t>
            </a:r>
          </a:p>
          <a:p>
            <a:pPr algn="just"/>
            <a:r>
              <a:rPr lang="ru-RU" dirty="0"/>
              <a:t>Уголовный кодекс Российской Федерации</a:t>
            </a:r>
          </a:p>
          <a:p>
            <a:pPr algn="just"/>
            <a:r>
              <a:rPr lang="ru-RU" dirty="0"/>
              <a:t>Федеральный закон от 21.12.1994 г. № 68-ФЗ «О защите населения и территорий от чрезвычайных ситуаций природного и техногенного характера»</a:t>
            </a:r>
          </a:p>
          <a:p>
            <a:pPr algn="just"/>
            <a:r>
              <a:rPr lang="ru-RU" dirty="0"/>
              <a:t>Федеральный закон от 21.12.1994 г. № 69-ФЗ «О пожарной безопасности»</a:t>
            </a:r>
          </a:p>
          <a:p>
            <a:pPr algn="just"/>
            <a:r>
              <a:rPr lang="ru-RU" dirty="0"/>
              <a:t>Федеральный закон от 10.12.1995 г. № 196-ФЗ «О безопасности дорожного движения»</a:t>
            </a:r>
          </a:p>
          <a:p>
            <a:pPr algn="just"/>
            <a:r>
              <a:rPr lang="ru-RU" dirty="0"/>
              <a:t>Федеральный закон от 12.01.1996 г. № 10-ФЗ «О профессиональных союзах, их правах и гарантиях деятельности»</a:t>
            </a:r>
          </a:p>
          <a:p>
            <a:pPr algn="just"/>
            <a:r>
              <a:rPr lang="ru-RU" dirty="0"/>
              <a:t>Федеральный закон от 21.07.1997 г. № 116-ФЗ «О промышленной безопасности опасных производственных объектов»</a:t>
            </a:r>
          </a:p>
          <a:p>
            <a:pPr marL="0" indent="0" algn="just">
              <a:buNone/>
            </a:pPr>
            <a:endParaRPr lang="ru-RU" dirty="0"/>
          </a:p>
        </p:txBody>
      </p:sp>
    </p:spTree>
    <p:extLst>
      <p:ext uri="{BB962C8B-B14F-4D97-AF65-F5344CB8AC3E}">
        <p14:creationId xmlns:p14="http://schemas.microsoft.com/office/powerpoint/2010/main" val="1634829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62500" lnSpcReduction="20000"/>
          </a:bodyPr>
          <a:lstStyle/>
          <a:p>
            <a:pPr algn="just"/>
            <a:r>
              <a:rPr lang="ru-RU" dirty="0"/>
              <a:t>Федеральный закон от 01.05.1999 г. № 92-ФЗ «О Российской трёхсторонней комиссии по регулированию социально-трудовых отношений»</a:t>
            </a:r>
          </a:p>
          <a:p>
            <a:pPr algn="just"/>
            <a:r>
              <a:rPr lang="ru-RU" dirty="0"/>
              <a:t>Федеральный закон от 30.12.2009 г. № 384-ФЗ «Технический регламент о безопасности зданий и сооружений»</a:t>
            </a:r>
          </a:p>
          <a:p>
            <a:pPr algn="just"/>
            <a:r>
              <a:rPr lang="ru-RU" dirty="0"/>
              <a:t>Федеральный закон от 27.12.2002 г. № 184-ФЗ «О техническом регулировании»</a:t>
            </a:r>
          </a:p>
          <a:p>
            <a:pPr algn="just"/>
            <a:r>
              <a:rPr lang="ru-RU" dirty="0"/>
              <a:t>Федеральный закон от 26.12.2008 г. № 294-ФЗ «О защите прав юридических лиц и индивидуальных предпринимателей при осуществлении государственного контроля (надзора) и муниципального контроля»</a:t>
            </a:r>
          </a:p>
          <a:p>
            <a:pPr algn="just"/>
            <a:r>
              <a:rPr lang="ru-RU" dirty="0"/>
              <a:t>Федеральный закон от 28.12.2013 г. № 426-ФЗ «О специальной оценке условий труда»</a:t>
            </a:r>
          </a:p>
          <a:p>
            <a:pPr algn="just"/>
            <a:r>
              <a:rPr lang="ru-RU" dirty="0"/>
              <a:t>Федеральный закон от 31.07.2020 г. № 248-ФЗ «О государственном контроле (надзоре) и муниципальном контроле в Российской Федерации»</a:t>
            </a:r>
          </a:p>
          <a:p>
            <a:pPr algn="just"/>
            <a:r>
              <a:rPr lang="ru-RU" dirty="0"/>
              <a:t>Федеральный закон от 24.07.1998 № 125-ФЗ «Об обязательном социальном страховании от несчастных случаев на производстве и профессиональных заболеваний</a:t>
            </a:r>
          </a:p>
          <a:p>
            <a:pPr algn="just"/>
            <a:r>
              <a:rPr lang="ru-RU" dirty="0"/>
              <a:t>Федеральный закон от 30.03.1999 г. № 52-ФЗ «О санитарно-эпидемиологическом благополучии населения»</a:t>
            </a:r>
          </a:p>
          <a:p>
            <a:pPr algn="just"/>
            <a:r>
              <a:rPr lang="ru-RU" dirty="0"/>
              <a:t>Федеральный закон от 21.11.2011 г. № 323-ФЗ «Об основах охраны здоровья граждан в Российской Федерации»</a:t>
            </a:r>
          </a:p>
          <a:p>
            <a:pPr algn="just"/>
            <a:r>
              <a:rPr lang="ru-RU" dirty="0"/>
              <a:t>Постановление Правительства РФ от 24.12.2021 г. № 2464 «О порядке обучения по охране труда и проверки знания требований охраны труда» (вместе с «Правилами обучения по охране труда и проверки знания требований охраны труда»)</a:t>
            </a:r>
          </a:p>
          <a:p>
            <a:pPr marL="0" indent="0">
              <a:buNone/>
            </a:pPr>
            <a:endParaRPr lang="ru-RU" dirty="0"/>
          </a:p>
        </p:txBody>
      </p:sp>
    </p:spTree>
    <p:extLst>
      <p:ext uri="{BB962C8B-B14F-4D97-AF65-F5344CB8AC3E}">
        <p14:creationId xmlns:p14="http://schemas.microsoft.com/office/powerpoint/2010/main" val="1419638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47500" lnSpcReduction="20000"/>
          </a:bodyPr>
          <a:lstStyle/>
          <a:p>
            <a:pPr algn="just"/>
            <a:r>
              <a:rPr lang="ru-RU" dirty="0"/>
              <a:t>Постановление Правительства РФ от 25.02.2000 г. № 163 «Об утверждении перечня тяжёлых работ и работ с вредными или опасными условиями труда, при выполнении которых запрещается применение труда лиц моложе восемнадцати лет»</a:t>
            </a:r>
          </a:p>
          <a:p>
            <a:pPr algn="just"/>
            <a:r>
              <a:rPr lang="ru-RU" dirty="0"/>
              <a:t>Постановление Правительства РФ от 21.07.2021 г. № 1230 «Об утверждении Положения о федеральном государственном контроле (надзоре) за соблюдением трудового законодательства и иных нормативных правовых актов, содержащих нормы трудового права» (до 01.06.2023 г.)</a:t>
            </a:r>
          </a:p>
          <a:p>
            <a:pPr algn="just"/>
            <a:r>
              <a:rPr lang="ru-RU" dirty="0"/>
              <a:t>Постановление Правительства РФ от 06.06.2013 г. № 482 «О продолжительности ежегодного дополнительного оплачиваемого отпуска за работу с вредными и (или) опасными условиями труда, предоставляемого отдельным категориям работников»</a:t>
            </a:r>
          </a:p>
          <a:p>
            <a:pPr algn="just"/>
            <a:r>
              <a:rPr lang="ru-RU" dirty="0"/>
              <a:t>Постановление Правительства РФ от 14.04.2014 г. № 290 «Об утверждении перечня рабочих мест в организациях, осуществляющих отдельные виды деятельности, в отношении которых специальная оценка условий труда проводится с учётом устанавливаемых уполномоченным федеральным органом исполнительной власти особенностей» (до 01.03.2023 г.)</a:t>
            </a:r>
          </a:p>
          <a:p>
            <a:pPr algn="just"/>
            <a:r>
              <a:rPr lang="ru-RU" dirty="0"/>
              <a:t>Приказ Минтруда РФ от 12.05.2022 г. № 291н «Об утверждении перечня вредных производственных факторов на рабочих местах с вредными условиями труда, установленными по результатам специальной оценки условий труда, при наличии которых занятым на таких рабочих местах работникам выдаются бесплатно по установленным нормам молоко или другие равноценные пищевые продукты, норм и условий бесплатной выдачи молока или других равноценных пищевых продуктов, порядка осуществления компенсационной выплаты, в размере, эквивалентном стоимости молока или других равноценных пищевых продуктов»</a:t>
            </a:r>
          </a:p>
          <a:p>
            <a:pPr algn="just"/>
            <a:r>
              <a:rPr lang="ru-RU" dirty="0"/>
              <a:t>Приказ Минтруда РФ от 16.05.2022 г. № 298н «Об утверждении перечня отдельных видов работ, при выполнении которых работникам предоставляется бесплатно по установленным нормам лечебно-профилактическое питание, норм бесплатной выдачи витаминных препаратов, а также норм и условий бесплатной выдачи лечебно-профилактического питания»</a:t>
            </a:r>
          </a:p>
          <a:p>
            <a:pPr algn="just"/>
            <a:r>
              <a:rPr lang="ru-RU" dirty="0"/>
              <a:t>Приказ Минтруда РФ от 17.06.2021 г. № 406н «О форме и Порядке подачи декларации соответствия условий труда государственным нормативным требованиям охраны труда, Порядке формирования и ведения реестра деклараций соответствия условий труда государственным нормативным требованиям охраны труда»</a:t>
            </a:r>
          </a:p>
          <a:p>
            <a:pPr algn="just"/>
            <a:r>
              <a:rPr lang="ru-RU" dirty="0"/>
              <a:t>Приказ Минтруда РФ и Министерства образования Российской Федерации от 29.10.2021 г. № 776н «Об утверждении Примерного положения о Системе управления охраной труда»</a:t>
            </a:r>
          </a:p>
          <a:p>
            <a:pPr algn="just"/>
            <a:r>
              <a:rPr lang="ru-RU" dirty="0"/>
              <a:t>Приказ Минтруда РФ от 29.10.2021 г. № 771н «Об утверждении Примерного перечня ежегодно реализуемых работодателем мероприятий по улучшению условий и охраны труда, ликвидации или снижению уровней профессиональных рисков либо недопущению повышения их уровней»</a:t>
            </a:r>
          </a:p>
          <a:p>
            <a:pPr algn="just"/>
            <a:r>
              <a:rPr lang="ru-RU" dirty="0"/>
              <a:t>Приказ Минтруда РФ от 29.10.2021 г. № 772н «Об утверждении основных требований к порядку разработки и содержанию правил и инструкций по охране труда, разрабатываемых работодателем»</a:t>
            </a:r>
          </a:p>
          <a:p>
            <a:pPr marL="0" indent="0" algn="just">
              <a:buNone/>
            </a:pPr>
            <a:endParaRPr lang="ru-RU" dirty="0"/>
          </a:p>
        </p:txBody>
      </p:sp>
    </p:spTree>
    <p:extLst>
      <p:ext uri="{BB962C8B-B14F-4D97-AF65-F5344CB8AC3E}">
        <p14:creationId xmlns:p14="http://schemas.microsoft.com/office/powerpoint/2010/main" val="1868771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47500" lnSpcReduction="20000"/>
          </a:bodyPr>
          <a:lstStyle/>
          <a:p>
            <a:pPr algn="just"/>
            <a:r>
              <a:rPr lang="ru-RU" dirty="0"/>
              <a:t>Приказ Минтруда России от 22.09.2021 г. № 650н «Об утверждении примерного положения о комитете (комиссии) по охране труда»</a:t>
            </a:r>
          </a:p>
          <a:p>
            <a:pPr algn="just"/>
            <a:r>
              <a:rPr lang="ru-RU" dirty="0"/>
              <a:t>Приказ Минтруда РФ от 15.09.2021 г. № 632н «Об утверждении рекомендаций по учёту микроповреждений (микротравм) работников»</a:t>
            </a:r>
          </a:p>
          <a:p>
            <a:pPr algn="just"/>
            <a:r>
              <a:rPr lang="ru-RU" dirty="0"/>
              <a:t>Приказ Минтруда РФ от 14.09.2021 г. № 629н «Об утверждении предельно допустимых норм нагрузок для женщин при подъёме и перемещении тяжестей вручную»</a:t>
            </a:r>
          </a:p>
          <a:p>
            <a:pPr algn="just"/>
            <a:r>
              <a:rPr lang="ru-RU" dirty="0"/>
              <a:t>Приказ Минтруда РФ от 18.07.2019 г. № 512н «Об утверждении перечня производств, работ и должностей с вредными и (или) опасными условиями труда, на которых ограничивается применение труда женщин»</a:t>
            </a:r>
          </a:p>
          <a:p>
            <a:pPr algn="just"/>
            <a:r>
              <a:rPr lang="ru-RU" dirty="0"/>
              <a:t>Приказ Минтруда РФ от 29.10.2021 г. № 775н «Об утверждении Порядка проведения государственной экспертизы условий труда»</a:t>
            </a:r>
          </a:p>
          <a:p>
            <a:pPr algn="just"/>
            <a:r>
              <a:rPr lang="ru-RU" dirty="0"/>
              <a:t>Приказ Минтруда РФ от 20.04.2022 г. № 223н «Об утверждении Положения об особенностях расследования несчастных случаев на производстве в отдельных отраслях и организациях, форм документов, соответствующих классификаторов, необходимых для расследования несчастных случаев на производстве»</a:t>
            </a:r>
          </a:p>
          <a:p>
            <a:pPr algn="just"/>
            <a:r>
              <a:rPr lang="ru-RU" dirty="0"/>
              <a:t>Приказ Минтруда России от 17.12.2021 г. № 894 «Об утверждении рекомендаций по размещению работодателем информационных материалов в целях информирования работников об их трудовых правах, включая право на безопасные условия и охрану труда»</a:t>
            </a:r>
          </a:p>
          <a:p>
            <a:pPr algn="just"/>
            <a:r>
              <a:rPr lang="ru-RU" dirty="0"/>
              <a:t>Приказ Минтруда РФ от 14.07.2021 г. № 467н «Об утверждении Правил финансового обеспечения предупредительных мер по сокращению производственного травматизма и профессиональных заболеваний работников и санаторно-курортного лечения работников, занятых на работах с вредными и (или) опасными производственными факторами»</a:t>
            </a:r>
          </a:p>
          <a:p>
            <a:pPr algn="just"/>
            <a:r>
              <a:rPr lang="ru-RU" dirty="0"/>
              <a:t>Приказ Минтруда России от 28.12.2021 г. № 926 «Об утверждении Рекомендаций по выбору методов оценки уровней профессиональных рисков и по снижению уровней таких рисков»</a:t>
            </a:r>
          </a:p>
          <a:p>
            <a:pPr algn="just"/>
            <a:r>
              <a:rPr lang="ru-RU" dirty="0"/>
              <a:t>Приказ Минтруда РФ от 29.10.2021 г. № 773н «Об утверждении форм (способов) информирования работников об их трудовых правах, включая право на безопасные условия и охрану труда, и примерного перечня информационных материалов в целях информирования работников об их трудовых правах, включая право на безопасные условия и охрану труда»</a:t>
            </a:r>
          </a:p>
          <a:p>
            <a:pPr marL="0" indent="0" algn="just">
              <a:buNone/>
            </a:pPr>
            <a:endParaRPr lang="ru-RU" dirty="0"/>
          </a:p>
        </p:txBody>
      </p:sp>
    </p:spTree>
    <p:extLst>
      <p:ext uri="{BB962C8B-B14F-4D97-AF65-F5344CB8AC3E}">
        <p14:creationId xmlns:p14="http://schemas.microsoft.com/office/powerpoint/2010/main" val="252980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47500" lnSpcReduction="20000"/>
          </a:bodyPr>
          <a:lstStyle/>
          <a:p>
            <a:pPr algn="just"/>
            <a:r>
              <a:rPr lang="ru-RU" dirty="0"/>
              <a:t>Постановление Минтруда РФ от 07.04.1999 г. № 7 «Об утверждении норм предельно допустимых нагрузок для лиц моложе восемнадцати лет при подъёме и перемещении тяжестей вручную»</a:t>
            </a:r>
          </a:p>
          <a:p>
            <a:pPr algn="just"/>
            <a:r>
              <a:rPr lang="ru-RU" dirty="0"/>
              <a:t>Приказ Минтруда РФ, Минздрава РФ от 31.12.2020 г. № 988н/1420н «Об утверждении перечня вредных и (или) опасных производственных факторов и работ, при выполнении которых проводятся обязательные предварительные медицинские осмотры при поступлении на работу и периодические медицинские осмотры»</a:t>
            </a:r>
          </a:p>
          <a:p>
            <a:pPr algn="just"/>
            <a:r>
              <a:rPr lang="ru-RU" dirty="0"/>
              <a:t>Приказ Минздрава РФ от 28.01.2021 г. № 29н «Об утверждении Порядка проведения обязательных предварительных и периодических медицинских осмотров работников, предусмотренных частью четвертой статьи 213 Трудового кодекса Российской Федерации, перечня медицинских противопоказаний к осуществлению работ с вредными и (или) опасными производственными факторами, а также работам, при выполнении которых проводятся обязательные предварительные и периодические медицинские осмотры»</a:t>
            </a:r>
          </a:p>
          <a:p>
            <a:pPr algn="just"/>
            <a:r>
              <a:rPr lang="ru-RU" dirty="0"/>
              <a:t>Приказ Минздрава РФ от 20.05.2022 г. № 342н «Об утверждении порядка прохождения обязательного психиатрического освидетельствования работниками, осуществляющими отдельные виды деятельности, его периодичности, а также видов деятельности, при осуществлении которых проводится психиатрическое освидетельствование»</a:t>
            </a:r>
          </a:p>
          <a:p>
            <a:pPr algn="just"/>
            <a:r>
              <a:rPr lang="ru-RU" dirty="0"/>
              <a:t>Приказ Минздрава РФ от 28.05.2001 г. № 176 «О совершенствовании системы расследования и учёта профессиональных заболеваний в Российской Федерации» (вместе с «Инструкцией о порядке применения Положения о расследовании и учёте профессиональных заболеваний, утверждённой постановлением Правительства Российской Федерации от 15.12.2000 г. № 967»)</a:t>
            </a:r>
          </a:p>
          <a:p>
            <a:pPr algn="just"/>
            <a:r>
              <a:rPr lang="ru-RU" dirty="0"/>
              <a:t>Приказ </a:t>
            </a:r>
            <a:r>
              <a:rPr lang="ru-RU" dirty="0" err="1"/>
              <a:t>Минздравсоцразвития</a:t>
            </a:r>
            <a:r>
              <a:rPr lang="ru-RU" dirty="0"/>
              <a:t> РФ от 24.02.2005 г. № 160 «Об определении степени тяжести повреждения здоровья при несчастных случаях на производстве»</a:t>
            </a:r>
          </a:p>
          <a:p>
            <a:pPr algn="just"/>
            <a:r>
              <a:rPr lang="ru-RU" dirty="0"/>
              <a:t>Приказ </a:t>
            </a:r>
            <a:r>
              <a:rPr lang="ru-RU" dirty="0" err="1"/>
              <a:t>Минздравсоцразвития</a:t>
            </a:r>
            <a:r>
              <a:rPr lang="ru-RU" dirty="0"/>
              <a:t> РФ от 15.04.2005 г. № 275 «О формах документов, необходимых для расследования несчастных случаев на производстве»</a:t>
            </a:r>
          </a:p>
          <a:p>
            <a:pPr algn="just"/>
            <a:r>
              <a:rPr lang="ru-RU" dirty="0"/>
              <a:t>Постановление Правительства РФ от 05.07.2022 г. № 1206 «О порядке расследования и учёта случаев профессиональных заболеваний работников» (вместе с «Правилами расследования и учёта случаев профессиональных заболеваний работников»)</a:t>
            </a:r>
          </a:p>
          <a:p>
            <a:pPr algn="just"/>
            <a:r>
              <a:rPr lang="ru-RU" dirty="0"/>
              <a:t>Постановление Правительства РФ от 15.12.2000 г. № 967 «Об утверждении Положения о расследовании и учёте профессиональных заболеваний»</a:t>
            </a:r>
          </a:p>
          <a:p>
            <a:pPr algn="just"/>
            <a:r>
              <a:rPr lang="ru-RU" dirty="0"/>
              <a:t>Постановление Правительства РФ от 16.10.2000 г. № 789 «Об утверждении Правил установления степени утраты профессиональной трудоспособности в результате несчастных случаев на производстве и профессиональных заболеваний»</a:t>
            </a:r>
          </a:p>
          <a:p>
            <a:pPr marL="0" indent="0">
              <a:buNone/>
            </a:pPr>
            <a:endParaRPr lang="ru-RU" dirty="0"/>
          </a:p>
        </p:txBody>
      </p:sp>
    </p:spTree>
    <p:extLst>
      <p:ext uri="{BB962C8B-B14F-4D97-AF65-F5344CB8AC3E}">
        <p14:creationId xmlns:p14="http://schemas.microsoft.com/office/powerpoint/2010/main" val="2407690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47500" lnSpcReduction="20000"/>
          </a:bodyPr>
          <a:lstStyle/>
          <a:p>
            <a:pPr algn="just"/>
            <a:r>
              <a:rPr lang="ru-RU" dirty="0"/>
              <a:t>Приказ </a:t>
            </a:r>
            <a:r>
              <a:rPr lang="ru-RU" dirty="0" err="1"/>
              <a:t>Минздравсоцразвития</a:t>
            </a:r>
            <a:r>
              <a:rPr lang="ru-RU" dirty="0"/>
              <a:t> РФ от 01.06.2009 № 290н «Об утверждении Межотраслевых правил обеспечения работников специальной одеждой, специальной обувью и другими средствами индивидуальной защиты»</a:t>
            </a:r>
          </a:p>
          <a:p>
            <a:pPr algn="just"/>
            <a:r>
              <a:rPr lang="ru-RU" dirty="0"/>
              <a:t>Приказ </a:t>
            </a:r>
            <a:r>
              <a:rPr lang="ru-RU" dirty="0" err="1"/>
              <a:t>Минздравсоцразвития</a:t>
            </a:r>
            <a:r>
              <a:rPr lang="ru-RU" dirty="0"/>
              <a:t> РФ от 17.12.2010 г. № 1122н «Об утверждении типовых норм бесплатной выдачи работникам смывающих и (или) обезвреживающих средств и стандарта безопасности труда «Обеспечение работников смывающими и (или) обезвреживающими средствами»</a:t>
            </a:r>
          </a:p>
          <a:p>
            <a:pPr algn="just"/>
            <a:r>
              <a:rPr lang="ru-RU" dirty="0"/>
              <a:t>Приказ </a:t>
            </a:r>
            <a:r>
              <a:rPr lang="ru-RU" dirty="0" err="1"/>
              <a:t>Минздравсоцразвития</a:t>
            </a:r>
            <a:r>
              <a:rPr lang="ru-RU" dirty="0"/>
              <a:t> РФ от 15.12.2020 г. № 1331н «Об утверждении требований к комплектации изделиями медицинского назначения аптечек для оказания первой помощи работникам»</a:t>
            </a:r>
          </a:p>
          <a:p>
            <a:pPr algn="just"/>
            <a:r>
              <a:rPr lang="ru-RU" dirty="0"/>
              <a:t>Приказ Минтруда РФ от 09.12.2014 г. № 997н «Об утверждении Типовых норм бесплатной выдачи специальной одежды, специальной обуви и других средств индивидуальной защиты работникам сквозных профессий и должностей всех видов экономической деятельности, занятым на работах с вредными и (или) опасными условиями труда, а также на работах, выполняемых в особых температурных условиях или связанных с загрязнением» </a:t>
            </a:r>
            <a:r>
              <a:rPr lang="ru-RU" b="1" dirty="0"/>
              <a:t>(</a:t>
            </a:r>
            <a:r>
              <a:rPr lang="ru-RU" b="1" i="1" dirty="0"/>
              <a:t>добавить отраслевые нормы</a:t>
            </a:r>
            <a:r>
              <a:rPr lang="ru-RU" b="1" dirty="0"/>
              <a:t>)</a:t>
            </a:r>
            <a:endParaRPr lang="ru-RU" dirty="0"/>
          </a:p>
          <a:p>
            <a:pPr algn="just"/>
            <a:r>
              <a:rPr lang="ru-RU" dirty="0"/>
              <a:t>Постановление Правительства РФ от 16.09.2020 г. № 1479 «Об утверждении Правил противопожарного режима в РФ</a:t>
            </a:r>
          </a:p>
          <a:p>
            <a:pPr algn="just"/>
            <a:r>
              <a:rPr lang="ru-RU" dirty="0"/>
              <a:t>Приказ МЧС России от 18.11.2021 г. № 806 «Об определении Порядка, видов, сроков обучения лиц, осуществляющих трудовую или служебную деятельность в организациях, по программам противопожарного инструктажа, требований к содержанию указанных программ и категорий лиц, проходящих обучение по дополнительным профессиональным программам в области пожарной безопасности»</a:t>
            </a:r>
          </a:p>
          <a:p>
            <a:pPr algn="just"/>
            <a:r>
              <a:rPr lang="ru-RU" dirty="0"/>
              <a:t>Приказ Министерства энергетики Российской Федерации от 13 января 2003 г. № 6 «Об утверждении правил технической эксплуатации электроустановок потребителя»</a:t>
            </a:r>
          </a:p>
          <a:p>
            <a:pPr algn="just"/>
            <a:r>
              <a:rPr lang="ru-RU" dirty="0"/>
              <a:t>Правила устройства электроустановок (ПУЭ), издание седьмое</a:t>
            </a:r>
          </a:p>
          <a:p>
            <a:pPr algn="just"/>
            <a:r>
              <a:rPr lang="ru-RU" dirty="0"/>
              <a:t>Приказ </a:t>
            </a:r>
            <a:r>
              <a:rPr lang="ru-RU" dirty="0" err="1"/>
              <a:t>Роспотребнадзора</a:t>
            </a:r>
            <a:r>
              <a:rPr lang="ru-RU" dirty="0"/>
              <a:t> от 31.03.2008 г. № 103 «Об утверждении инструкции по составлению санитарно-гигиенической характеристики условий труда работника при подозрении у него профессионального заболевания»</a:t>
            </a:r>
          </a:p>
          <a:p>
            <a:pPr algn="just"/>
            <a:r>
              <a:rPr lang="ru-RU" dirty="0"/>
              <a:t>Правила по охране труда при строительстве, реконструкции и ремонте, утв. приказом Минтруда России от 11.12.2020 г. № 883н</a:t>
            </a:r>
          </a:p>
          <a:p>
            <a:pPr marL="0" indent="0" algn="just">
              <a:buNone/>
            </a:pPr>
            <a:endParaRPr lang="ru-RU" dirty="0"/>
          </a:p>
        </p:txBody>
      </p:sp>
    </p:spTree>
    <p:extLst>
      <p:ext uri="{BB962C8B-B14F-4D97-AF65-F5344CB8AC3E}">
        <p14:creationId xmlns:p14="http://schemas.microsoft.com/office/powerpoint/2010/main" val="2394133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p:nvPr>
        </p:nvSpPr>
        <p:spPr/>
        <p:txBody>
          <a:bodyPr/>
          <a:lstStyle/>
          <a:p>
            <a:pPr algn="ctr"/>
            <a:r>
              <a:rPr lang="ru-RU" sz="3200" dirty="0"/>
              <a:t>Электронный документооборот: требования к документам по охране труда в 2023 году</a:t>
            </a:r>
          </a:p>
        </p:txBody>
      </p:sp>
      <p:sp>
        <p:nvSpPr>
          <p:cNvPr id="5" name="Подзаголовок 4"/>
          <p:cNvSpPr>
            <a:spLocks noGrp="1"/>
          </p:cNvSpPr>
          <p:nvPr>
            <p:ph type="subTitle" idx="1"/>
          </p:nvPr>
        </p:nvSpPr>
        <p:spPr/>
        <p:txBody>
          <a:bodyPr/>
          <a:lstStyle/>
          <a:p>
            <a:endParaRPr lang="ru-RU"/>
          </a:p>
        </p:txBody>
      </p:sp>
    </p:spTree>
    <p:extLst>
      <p:ext uri="{BB962C8B-B14F-4D97-AF65-F5344CB8AC3E}">
        <p14:creationId xmlns:p14="http://schemas.microsoft.com/office/powerpoint/2010/main" val="2304266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dirty="0"/>
              <a:t>Требования к документам по охране труда в 2023 году</a:t>
            </a:r>
          </a:p>
        </p:txBody>
      </p:sp>
      <p:sp>
        <p:nvSpPr>
          <p:cNvPr id="3" name="Объект 2"/>
          <p:cNvSpPr>
            <a:spLocks noGrp="1"/>
          </p:cNvSpPr>
          <p:nvPr>
            <p:ph idx="1"/>
          </p:nvPr>
        </p:nvSpPr>
        <p:spPr/>
        <p:txBody>
          <a:bodyPr/>
          <a:lstStyle/>
          <a:p>
            <a:pPr marL="0" indent="0" algn="just">
              <a:buNone/>
            </a:pPr>
            <a:r>
              <a:rPr lang="ru-RU" dirty="0"/>
              <a:t>	</a:t>
            </a:r>
            <a:r>
              <a:rPr lang="ru-RU" dirty="0" smtClean="0"/>
              <a:t>Установлены </a:t>
            </a:r>
            <a:r>
              <a:rPr lang="ru-RU" dirty="0"/>
              <a:t>единые требования к составу и форматам документов, связанных с работой, оформляемых в электронном виде без дублирования на бумажном носителе.</a:t>
            </a:r>
          </a:p>
          <a:p>
            <a:pPr marL="0" indent="0" algn="just">
              <a:buNone/>
            </a:pPr>
            <a:r>
              <a:rPr lang="ru-RU" dirty="0" smtClean="0"/>
              <a:t>	Соответствующий </a:t>
            </a:r>
            <a:r>
              <a:rPr lang="ru-RU" dirty="0"/>
              <a:t>приказ Минтруда России от 20 сентября 2022 г. № 578н “Об утверждении единых требований к составу и форматам документов, связанных с работой, оформляемых в электронном виде без дублирования на бумажном носителе” опубликован на портале правовой информации.</a:t>
            </a:r>
          </a:p>
          <a:p>
            <a:pPr marL="0" indent="0" algn="just">
              <a:buNone/>
            </a:pPr>
            <a:endParaRPr lang="ru-RU" dirty="0"/>
          </a:p>
        </p:txBody>
      </p:sp>
    </p:spTree>
    <p:extLst>
      <p:ext uri="{BB962C8B-B14F-4D97-AF65-F5344CB8AC3E}">
        <p14:creationId xmlns:p14="http://schemas.microsoft.com/office/powerpoint/2010/main" val="2609604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Не дублируя на бумаге</a:t>
            </a:r>
            <a:endParaRPr lang="ru-RU" dirty="0"/>
          </a:p>
        </p:txBody>
      </p:sp>
      <p:sp>
        <p:nvSpPr>
          <p:cNvPr id="3" name="Объект 2"/>
          <p:cNvSpPr>
            <a:spLocks noGrp="1"/>
          </p:cNvSpPr>
          <p:nvPr>
            <p:ph idx="1"/>
          </p:nvPr>
        </p:nvSpPr>
        <p:spPr/>
        <p:txBody>
          <a:bodyPr>
            <a:normAutofit fontScale="85000" lnSpcReduction="20000"/>
          </a:bodyPr>
          <a:lstStyle/>
          <a:p>
            <a:pPr marL="0" indent="0" algn="just">
              <a:buNone/>
            </a:pPr>
            <a:r>
              <a:rPr lang="ru-RU" dirty="0"/>
              <a:t>В части охраны труда (раздел V. Охрана труда в Приложении к перечню структурных элементов описания электронного документа, связанного с работой) оформлять в электронном виде без дублирования на бумажном носителе можно будет:</a:t>
            </a:r>
          </a:p>
          <a:p>
            <a:pPr algn="just"/>
            <a:r>
              <a:rPr lang="ru-RU" dirty="0"/>
              <a:t>Заявление работника об освобождении от работы для прохождения диспансеризации (ст. 185.1 ТК РФ).</a:t>
            </a:r>
          </a:p>
          <a:p>
            <a:pPr algn="just"/>
            <a:r>
              <a:rPr lang="ru-RU" dirty="0"/>
              <a:t>Заявление о замене молока или других равноценных пищевых продуктов компенсационной выплатой (ст. 222 ТК РФ).</a:t>
            </a:r>
          </a:p>
          <a:p>
            <a:pPr algn="just"/>
            <a:r>
              <a:rPr lang="ru-RU" dirty="0"/>
              <a:t>Заявление о замене компенсационной выплаты на молоко или другие равноценные пищевые продукты (ст. 222 ТК РФ).</a:t>
            </a:r>
          </a:p>
          <a:p>
            <a:pPr algn="just"/>
            <a:r>
              <a:rPr lang="ru-RU" dirty="0"/>
              <a:t>Заявление о замене выдачи молока на выдачу равноценных пищевых продуктов (ст. 222 ТК РФ).</a:t>
            </a:r>
          </a:p>
          <a:p>
            <a:pPr algn="just"/>
            <a:r>
              <a:rPr lang="ru-RU" dirty="0"/>
              <a:t>Заявление о замене выдачи равноценных пищевых продуктов на выдачу молока (ст. 222 ТК РФ).</a:t>
            </a:r>
          </a:p>
          <a:p>
            <a:pPr algn="just"/>
            <a:r>
              <a:rPr lang="ru-RU" dirty="0"/>
              <a:t>Согласие работника об информировании о результатах расследования несчастного случая, происшедшего с ним при выполнении работы по совместительству, работодателя по месту основной работы (ст. 229 ТК РФ).</a:t>
            </a:r>
          </a:p>
          <a:p>
            <a:pPr marL="0" indent="0">
              <a:buNone/>
            </a:pPr>
            <a:endParaRPr lang="ru-RU" dirty="0"/>
          </a:p>
        </p:txBody>
      </p:sp>
    </p:spTree>
    <p:extLst>
      <p:ext uri="{BB962C8B-B14F-4D97-AF65-F5344CB8AC3E}">
        <p14:creationId xmlns:p14="http://schemas.microsoft.com/office/powerpoint/2010/main" val="2565984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pPr algn="just"/>
            <a:r>
              <a:rPr lang="ru-RU" sz="2400" dirty="0"/>
              <a:t>Кроме документов по охране труда под ЭДО попадают следующие виды документов (кадровых мероприятий) по разделам</a:t>
            </a:r>
            <a:endParaRPr lang="ru-RU" sz="2400" dirty="0"/>
          </a:p>
        </p:txBody>
      </p:sp>
      <p:sp>
        <p:nvSpPr>
          <p:cNvPr id="3" name="Объект 2"/>
          <p:cNvSpPr>
            <a:spLocks noGrp="1"/>
          </p:cNvSpPr>
          <p:nvPr>
            <p:ph idx="1"/>
          </p:nvPr>
        </p:nvSpPr>
        <p:spPr/>
        <p:txBody>
          <a:bodyPr>
            <a:normAutofit lnSpcReduction="10000"/>
          </a:bodyPr>
          <a:lstStyle/>
          <a:p>
            <a:r>
              <a:rPr lang="ru-RU" dirty="0"/>
              <a:t>Приём на работу</a:t>
            </a:r>
          </a:p>
          <a:p>
            <a:r>
              <a:rPr lang="ru-RU" dirty="0"/>
              <a:t>Рабочее время и время отдыха</a:t>
            </a:r>
          </a:p>
          <a:p>
            <a:r>
              <a:rPr lang="ru-RU" dirty="0"/>
              <a:t>Материальная ответственность</a:t>
            </a:r>
          </a:p>
          <a:p>
            <a:r>
              <a:rPr lang="ru-RU" dirty="0"/>
              <a:t>Оплата труда</a:t>
            </a:r>
          </a:p>
          <a:p>
            <a:r>
              <a:rPr lang="ru-RU" dirty="0"/>
              <a:t>Оплата труда</a:t>
            </a:r>
          </a:p>
          <a:p>
            <a:r>
              <a:rPr lang="ru-RU" dirty="0"/>
              <a:t>Образование работника</a:t>
            </a:r>
          </a:p>
          <a:p>
            <a:r>
              <a:rPr lang="ru-RU" dirty="0"/>
              <a:t>Социальное партнёрство</a:t>
            </a:r>
          </a:p>
          <a:p>
            <a:r>
              <a:rPr lang="ru-RU" dirty="0"/>
              <a:t>Индивидуальные трудовые споры</a:t>
            </a:r>
          </a:p>
          <a:p>
            <a:r>
              <a:rPr lang="ru-RU" dirty="0"/>
              <a:t>Персональные данные</a:t>
            </a:r>
          </a:p>
          <a:p>
            <a:r>
              <a:rPr lang="ru-RU" dirty="0"/>
              <a:t>Изменение условий трудового договора</a:t>
            </a:r>
          </a:p>
          <a:p>
            <a:r>
              <a:rPr lang="ru-RU" dirty="0"/>
              <a:t>Прекращение трудовых отношений</a:t>
            </a:r>
          </a:p>
          <a:p>
            <a:r>
              <a:rPr lang="ru-RU" dirty="0"/>
              <a:t>Иные кадровые мероприятия</a:t>
            </a:r>
          </a:p>
          <a:p>
            <a:pPr marL="0" indent="0">
              <a:buNone/>
            </a:pPr>
            <a:endParaRPr lang="ru-RU" dirty="0"/>
          </a:p>
        </p:txBody>
      </p:sp>
    </p:spTree>
    <p:extLst>
      <p:ext uri="{BB962C8B-B14F-4D97-AF65-F5344CB8AC3E}">
        <p14:creationId xmlns:p14="http://schemas.microsoft.com/office/powerpoint/2010/main" val="2664305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ВНИМАНИЕ!!!</a:t>
            </a:r>
            <a:endParaRPr lang="ru-RU" dirty="0"/>
          </a:p>
        </p:txBody>
      </p:sp>
      <p:sp>
        <p:nvSpPr>
          <p:cNvPr id="3" name="Объект 2"/>
          <p:cNvSpPr>
            <a:spLocks noGrp="1"/>
          </p:cNvSpPr>
          <p:nvPr>
            <p:ph idx="1"/>
          </p:nvPr>
        </p:nvSpPr>
        <p:spPr/>
        <p:txBody>
          <a:bodyPr>
            <a:normAutofit/>
          </a:bodyPr>
          <a:lstStyle/>
          <a:p>
            <a:pPr marL="0" indent="0" algn="ctr">
              <a:buNone/>
            </a:pPr>
            <a:endParaRPr lang="ru-RU" sz="3600" dirty="0" smtClean="0"/>
          </a:p>
          <a:p>
            <a:pPr marL="0" indent="0" algn="ctr">
              <a:buNone/>
            </a:pPr>
            <a:r>
              <a:rPr lang="ru-RU" sz="3600" b="1" dirty="0" smtClean="0">
                <a:solidFill>
                  <a:srgbClr val="FF0000"/>
                </a:solidFill>
                <a:effectLst>
                  <a:outerShdw blurRad="38100" dist="38100" dir="2700000" algn="tl">
                    <a:srgbClr val="000000">
                      <a:alpha val="43137"/>
                    </a:srgbClr>
                  </a:outerShdw>
                </a:effectLst>
              </a:rPr>
              <a:t>Приказ </a:t>
            </a:r>
            <a:r>
              <a:rPr lang="ru-RU" sz="3600" b="1" dirty="0">
                <a:solidFill>
                  <a:srgbClr val="FF0000"/>
                </a:solidFill>
                <a:effectLst>
                  <a:outerShdw blurRad="38100" dist="38100" dir="2700000" algn="tl">
                    <a:srgbClr val="000000">
                      <a:alpha val="43137"/>
                    </a:srgbClr>
                  </a:outerShdw>
                </a:effectLst>
              </a:rPr>
              <a:t>Минтруда России от 20.09.2022 № 578н вступит в силу </a:t>
            </a:r>
            <a:endParaRPr lang="ru-RU" sz="3600" b="1" dirty="0" smtClean="0">
              <a:solidFill>
                <a:srgbClr val="FF0000"/>
              </a:solidFill>
              <a:effectLst>
                <a:outerShdw blurRad="38100" dist="38100" dir="2700000" algn="tl">
                  <a:srgbClr val="000000">
                    <a:alpha val="43137"/>
                  </a:srgbClr>
                </a:outerShdw>
              </a:effectLst>
            </a:endParaRPr>
          </a:p>
          <a:p>
            <a:pPr marL="0" indent="0" algn="ctr">
              <a:buNone/>
            </a:pPr>
            <a:r>
              <a:rPr lang="ru-RU" sz="3600" b="1" dirty="0" smtClean="0">
                <a:solidFill>
                  <a:srgbClr val="FF0000"/>
                </a:solidFill>
                <a:effectLst>
                  <a:outerShdw blurRad="38100" dist="38100" dir="2700000" algn="tl">
                    <a:srgbClr val="000000">
                      <a:alpha val="43137"/>
                    </a:srgbClr>
                  </a:outerShdw>
                </a:effectLst>
              </a:rPr>
              <a:t>1 </a:t>
            </a:r>
            <a:r>
              <a:rPr lang="ru-RU" sz="3600" b="1" dirty="0">
                <a:solidFill>
                  <a:srgbClr val="FF0000"/>
                </a:solidFill>
                <a:effectLst>
                  <a:outerShdw blurRad="38100" dist="38100" dir="2700000" algn="tl">
                    <a:srgbClr val="000000">
                      <a:alpha val="43137"/>
                    </a:srgbClr>
                  </a:outerShdw>
                </a:effectLst>
              </a:rPr>
              <a:t>марта 2023 года.</a:t>
            </a:r>
            <a:endParaRPr lang="ru-RU" sz="36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493032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p:nvPr>
        </p:nvSpPr>
        <p:spPr/>
        <p:txBody>
          <a:bodyPr/>
          <a:lstStyle/>
          <a:p>
            <a:pPr algn="ctr"/>
            <a:r>
              <a:rPr lang="ru-RU" sz="4400" dirty="0" smtClean="0"/>
              <a:t>Программа стажировки. Важный элемент в работе по охране труда</a:t>
            </a:r>
            <a:endParaRPr lang="ru-RU" sz="4400" dirty="0"/>
          </a:p>
        </p:txBody>
      </p:sp>
      <p:sp>
        <p:nvSpPr>
          <p:cNvPr id="5" name="Подзаголовок 4"/>
          <p:cNvSpPr>
            <a:spLocks noGrp="1"/>
          </p:cNvSpPr>
          <p:nvPr>
            <p:ph type="subTitle" idx="1"/>
          </p:nvPr>
        </p:nvSpPr>
        <p:spPr/>
        <p:txBody>
          <a:bodyPr/>
          <a:lstStyle/>
          <a:p>
            <a:endParaRPr lang="ru-RU"/>
          </a:p>
        </p:txBody>
      </p:sp>
    </p:spTree>
    <p:extLst>
      <p:ext uri="{BB962C8B-B14F-4D97-AF65-F5344CB8AC3E}">
        <p14:creationId xmlns:p14="http://schemas.microsoft.com/office/powerpoint/2010/main" val="30661131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dirty="0"/>
              <a:t>Универсальная “болванка” для создания программы стажировки</a:t>
            </a:r>
          </a:p>
        </p:txBody>
      </p:sp>
      <p:sp>
        <p:nvSpPr>
          <p:cNvPr id="3" name="Объект 2"/>
          <p:cNvSpPr>
            <a:spLocks noGrp="1"/>
          </p:cNvSpPr>
          <p:nvPr>
            <p:ph idx="1"/>
          </p:nvPr>
        </p:nvSpPr>
        <p:spPr/>
        <p:txBody>
          <a:bodyPr>
            <a:normAutofit/>
          </a:bodyPr>
          <a:lstStyle/>
          <a:p>
            <a:pPr marL="0" indent="0" algn="ctr">
              <a:buNone/>
            </a:pPr>
            <a:r>
              <a:rPr lang="ru-RU" sz="3600" dirty="0"/>
              <a:t>Внимание! Это обезличенная план программа стажировки и её надо дорабатывать! Чтобы “запилить” её под нужную профессию/должность, берите конкретный перечень работ и приёмов из ЕТКС, </a:t>
            </a:r>
            <a:r>
              <a:rPr lang="ru-RU" sz="3600" dirty="0" err="1"/>
              <a:t>профстандарта</a:t>
            </a:r>
            <a:r>
              <a:rPr lang="ru-RU" sz="3600" dirty="0"/>
              <a:t>, инструкций и вписывайте в нужное место.</a:t>
            </a:r>
            <a:endParaRPr lang="ru-RU" sz="3600" dirty="0"/>
          </a:p>
        </p:txBody>
      </p:sp>
    </p:spTree>
    <p:extLst>
      <p:ext uri="{BB962C8B-B14F-4D97-AF65-F5344CB8AC3E}">
        <p14:creationId xmlns:p14="http://schemas.microsoft.com/office/powerpoint/2010/main" val="15937991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1560" y="1628800"/>
            <a:ext cx="8352928" cy="4982366"/>
          </a:xfrm>
        </p:spPr>
      </p:pic>
    </p:spTree>
    <p:extLst>
      <p:ext uri="{BB962C8B-B14F-4D97-AF65-F5344CB8AC3E}">
        <p14:creationId xmlns:p14="http://schemas.microsoft.com/office/powerpoint/2010/main" val="2551790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p:nvPr>
        </p:nvSpPr>
        <p:spPr/>
        <p:txBody>
          <a:bodyPr/>
          <a:lstStyle/>
          <a:p>
            <a:pPr algn="ctr"/>
            <a:r>
              <a:rPr lang="ru-RU" sz="2800" b="1" dirty="0">
                <a:effectLst>
                  <a:outerShdw blurRad="38100" dist="38100" dir="2700000" algn="tl">
                    <a:srgbClr val="000000">
                      <a:alpha val="43137"/>
                    </a:srgbClr>
                  </a:outerShdw>
                </a:effectLst>
              </a:rPr>
              <a:t>Присвоение 1-ой группы по электробезопасности </a:t>
            </a:r>
            <a:r>
              <a:rPr lang="ru-RU" sz="2800" b="1" dirty="0" err="1">
                <a:effectLst>
                  <a:outerShdw blurRad="38100" dist="38100" dir="2700000" algn="tl">
                    <a:srgbClr val="000000">
                      <a:alpha val="43137"/>
                    </a:srgbClr>
                  </a:outerShdw>
                </a:effectLst>
              </a:rPr>
              <a:t>неэлектротехническому</a:t>
            </a:r>
            <a:r>
              <a:rPr lang="ru-RU" sz="2800" b="1" dirty="0">
                <a:effectLst>
                  <a:outerShdw blurRad="38100" dist="38100" dir="2700000" algn="tl">
                    <a:srgbClr val="000000">
                      <a:alpha val="43137"/>
                    </a:srgbClr>
                  </a:outerShdw>
                </a:effectLst>
              </a:rPr>
              <a:t> персоналу</a:t>
            </a:r>
          </a:p>
        </p:txBody>
      </p:sp>
      <p:sp>
        <p:nvSpPr>
          <p:cNvPr id="5" name="Подзаголовок 4"/>
          <p:cNvSpPr>
            <a:spLocks noGrp="1"/>
          </p:cNvSpPr>
          <p:nvPr>
            <p:ph type="subTitle" idx="1"/>
          </p:nvPr>
        </p:nvSpPr>
        <p:spPr/>
        <p:txBody>
          <a:bodyPr/>
          <a:lstStyle/>
          <a:p>
            <a:endParaRPr lang="ru-RU" dirty="0"/>
          </a:p>
        </p:txBody>
      </p:sp>
    </p:spTree>
    <p:extLst>
      <p:ext uri="{BB962C8B-B14F-4D97-AF65-F5344CB8AC3E}">
        <p14:creationId xmlns:p14="http://schemas.microsoft.com/office/powerpoint/2010/main" val="3355557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Что говорит закон!!!</a:t>
            </a:r>
            <a:endParaRPr lang="ru-RU" dirty="0"/>
          </a:p>
        </p:txBody>
      </p:sp>
      <p:sp>
        <p:nvSpPr>
          <p:cNvPr id="3" name="Объект 2"/>
          <p:cNvSpPr>
            <a:spLocks noGrp="1"/>
          </p:cNvSpPr>
          <p:nvPr>
            <p:ph idx="1"/>
          </p:nvPr>
        </p:nvSpPr>
        <p:spPr/>
        <p:txBody>
          <a:bodyPr/>
          <a:lstStyle/>
          <a:p>
            <a:pPr marL="0" indent="0" algn="just">
              <a:buNone/>
            </a:pPr>
            <a:r>
              <a:rPr lang="ru-RU" dirty="0"/>
              <a:t>Основной нормативный правовой акт, который предъявляет требования к присвоению 1 группы по электробезопасности </a:t>
            </a:r>
            <a:r>
              <a:rPr lang="ru-RU" b="1" dirty="0"/>
              <a:t>с 7 января 2023 года</a:t>
            </a:r>
            <a:r>
              <a:rPr lang="ru-RU" dirty="0"/>
              <a:t> – это приказ Минэнерго России от 12.08.2022 № 811 “Об утверждении Правил технической эксплуатации электроустановок потребителей электрической энергии”</a:t>
            </a:r>
            <a:endParaRPr lang="ru-RU" dirty="0"/>
          </a:p>
        </p:txBody>
      </p:sp>
    </p:spTree>
    <p:extLst>
      <p:ext uri="{BB962C8B-B14F-4D97-AF65-F5344CB8AC3E}">
        <p14:creationId xmlns:p14="http://schemas.microsoft.com/office/powerpoint/2010/main" val="639302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dirty="0"/>
              <a:t>В ПТЭЭП есть ссылки </a:t>
            </a:r>
            <a:r>
              <a:rPr lang="ru-RU" dirty="0" smtClean="0"/>
              <a:t>на</a:t>
            </a:r>
            <a:br>
              <a:rPr lang="ru-RU" dirty="0" smtClean="0"/>
            </a:br>
            <a:r>
              <a:rPr lang="ru-RU" dirty="0" smtClean="0"/>
              <a:t> </a:t>
            </a:r>
            <a:r>
              <a:rPr lang="ru-RU" dirty="0"/>
              <a:t>2 нормативных документа.</a:t>
            </a:r>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074572"/>
            <a:ext cx="8229600" cy="3928056"/>
          </a:xfrm>
        </p:spPr>
      </p:pic>
    </p:spTree>
    <p:extLst>
      <p:ext uri="{BB962C8B-B14F-4D97-AF65-F5344CB8AC3E}">
        <p14:creationId xmlns:p14="http://schemas.microsoft.com/office/powerpoint/2010/main" val="30071062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ВАЖНО</a:t>
            </a:r>
            <a:endParaRPr lang="ru-RU" dirty="0"/>
          </a:p>
        </p:txBody>
      </p:sp>
      <p:sp>
        <p:nvSpPr>
          <p:cNvPr id="3" name="Объект 2"/>
          <p:cNvSpPr>
            <a:spLocks noGrp="1"/>
          </p:cNvSpPr>
          <p:nvPr>
            <p:ph idx="1"/>
          </p:nvPr>
        </p:nvSpPr>
        <p:spPr/>
        <p:txBody>
          <a:bodyPr/>
          <a:lstStyle/>
          <a:p>
            <a:pPr marL="0" indent="0" algn="just">
              <a:buNone/>
            </a:pPr>
            <a:r>
              <a:rPr lang="ru-RU" dirty="0"/>
              <a:t>Правила работы с персоналом в организациях электроэнергетики, утверждённые приказом Минэнерго России от 22.09.2020 № 796, не распространяются на потребителей электрической энергии, поэтому в вопросе присвоения 1 группы мы будем ссылаться только на Правила по охране труда при эксплуатации электроустановок, утверждённые приказом Минтруда России от 15.12.2020 № 903н</a:t>
            </a:r>
            <a:endParaRPr lang="ru-RU" dirty="0"/>
          </a:p>
        </p:txBody>
      </p:sp>
    </p:spTree>
    <p:extLst>
      <p:ext uri="{BB962C8B-B14F-4D97-AF65-F5344CB8AC3E}">
        <p14:creationId xmlns:p14="http://schemas.microsoft.com/office/powerpoint/2010/main" val="18505951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dirty="0"/>
              <a:t>Кому присваивается 1 группа по электробезопасности?</a:t>
            </a:r>
          </a:p>
        </p:txBody>
      </p:sp>
      <p:sp>
        <p:nvSpPr>
          <p:cNvPr id="3" name="Объект 2"/>
          <p:cNvSpPr>
            <a:spLocks noGrp="1"/>
          </p:cNvSpPr>
          <p:nvPr>
            <p:ph idx="1"/>
          </p:nvPr>
        </p:nvSpPr>
        <p:spPr/>
        <p:txBody>
          <a:bodyPr>
            <a:normAutofit lnSpcReduction="10000"/>
          </a:bodyPr>
          <a:lstStyle/>
          <a:p>
            <a:pPr marL="0" indent="0" algn="just">
              <a:buNone/>
            </a:pPr>
            <a:r>
              <a:rPr lang="ru-RU" dirty="0"/>
              <a:t>Работникам, относящимся к </a:t>
            </a:r>
            <a:r>
              <a:rPr lang="ru-RU" dirty="0" err="1"/>
              <a:t>неэлектротехническому</a:t>
            </a:r>
            <a:r>
              <a:rPr lang="ru-RU" dirty="0"/>
              <a:t> персоналу и выполняющим работы, при которых может возникнуть опасность поражения электрическим током в соответствии с </a:t>
            </a:r>
            <a:r>
              <a:rPr lang="ru-RU" dirty="0" smtClean="0"/>
              <a:t>ПОТЭУ </a:t>
            </a:r>
            <a:r>
              <a:rPr lang="ru-RU" dirty="0"/>
              <a:t>(</a:t>
            </a:r>
            <a:r>
              <a:rPr lang="ru-RU" i="1" dirty="0"/>
              <a:t>п. 40 ПТЭЭП</a:t>
            </a:r>
            <a:r>
              <a:rPr lang="ru-RU" dirty="0" smtClean="0"/>
              <a:t>).</a:t>
            </a:r>
          </a:p>
          <a:p>
            <a:pPr marL="0" indent="0" algn="ctr">
              <a:buNone/>
            </a:pPr>
            <a:r>
              <a:rPr lang="ru-RU" b="1" i="1" dirty="0">
                <a:solidFill>
                  <a:srgbClr val="FF0000"/>
                </a:solidFill>
                <a:effectLst>
                  <a:outerShdw blurRad="38100" dist="38100" dir="2700000" algn="tl">
                    <a:srgbClr val="000000">
                      <a:alpha val="43137"/>
                    </a:srgbClr>
                  </a:outerShdw>
                </a:effectLst>
              </a:rPr>
              <a:t>Например, персональные компьютеры, бытовые электроприборы, выключатели и т.п</a:t>
            </a:r>
            <a:r>
              <a:rPr lang="ru-RU" b="1" i="1" dirty="0" smtClean="0">
                <a:solidFill>
                  <a:srgbClr val="FF0000"/>
                </a:solidFill>
                <a:effectLst>
                  <a:outerShdw blurRad="38100" dist="38100" dir="2700000" algn="tl">
                    <a:srgbClr val="000000">
                      <a:alpha val="43137"/>
                    </a:srgbClr>
                  </a:outerShdw>
                </a:effectLst>
              </a:rPr>
              <a:t>.</a:t>
            </a:r>
          </a:p>
          <a:p>
            <a:pPr marL="0" indent="0" algn="just">
              <a:buNone/>
            </a:pPr>
            <a:r>
              <a:rPr lang="ru-RU" dirty="0"/>
              <a:t>В ПОТЭУ уже уточняется, что 1 группа по электробезопасности присваивается на основании перечня должностей, рабочих мест, на которых для выполнения работы необходимо присвоение работникам 1 группы по электробезопасности, утверждённого руководителем организации (</a:t>
            </a:r>
            <a:r>
              <a:rPr lang="ru-RU" i="1" dirty="0"/>
              <a:t>п. 2.3 ПОТЭУ</a:t>
            </a:r>
            <a:r>
              <a:rPr lang="ru-RU" dirty="0"/>
              <a:t>).</a:t>
            </a:r>
            <a:endParaRPr lang="ru-RU"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200017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dirty="0"/>
              <a:t>Кто присваивает 1 группу по электробезопасности?</a:t>
            </a:r>
          </a:p>
        </p:txBody>
      </p:sp>
      <p:sp>
        <p:nvSpPr>
          <p:cNvPr id="3" name="Объект 2"/>
          <p:cNvSpPr>
            <a:spLocks noGrp="1"/>
          </p:cNvSpPr>
          <p:nvPr>
            <p:ph idx="1"/>
          </p:nvPr>
        </p:nvSpPr>
        <p:spPr/>
        <p:txBody>
          <a:bodyPr/>
          <a:lstStyle/>
          <a:p>
            <a:pPr marL="0" indent="0" algn="just">
              <a:buNone/>
            </a:pPr>
            <a:r>
              <a:rPr lang="ru-RU" dirty="0"/>
              <a:t>Присвоение 1 группы по электробезопасности проводится работником из числа электротехнического персонала, имеющего 3 группу по электробезопасности </a:t>
            </a:r>
            <a:r>
              <a:rPr lang="ru-RU" dirty="0"/>
              <a:t>или</a:t>
            </a:r>
            <a:r>
              <a:rPr lang="ru-RU" dirty="0"/>
              <a:t> специалистом по охране труда, имеющим 4 группу по электробезопасности или выше, назначенным распоряжением руководителя организации (</a:t>
            </a:r>
            <a:r>
              <a:rPr lang="ru-RU" i="1" dirty="0"/>
              <a:t>п. 2.3 ПОТЭУ</a:t>
            </a:r>
            <a:r>
              <a:rPr lang="ru-RU" dirty="0"/>
              <a:t>).</a:t>
            </a:r>
            <a:endParaRPr lang="ru-RU" dirty="0"/>
          </a:p>
        </p:txBody>
      </p:sp>
    </p:spTree>
    <p:extLst>
      <p:ext uri="{BB962C8B-B14F-4D97-AF65-F5344CB8AC3E}">
        <p14:creationId xmlns:p14="http://schemas.microsoft.com/office/powerpoint/2010/main" val="25250610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dirty="0"/>
              <a:t>Как присваивается 1 группа по электробезопасности?</a:t>
            </a:r>
          </a:p>
        </p:txBody>
      </p:sp>
      <p:sp>
        <p:nvSpPr>
          <p:cNvPr id="3" name="Объект 2"/>
          <p:cNvSpPr>
            <a:spLocks noGrp="1"/>
          </p:cNvSpPr>
          <p:nvPr>
            <p:ph idx="1"/>
          </p:nvPr>
        </p:nvSpPr>
        <p:spPr/>
        <p:txBody>
          <a:bodyPr>
            <a:normAutofit fontScale="92500" lnSpcReduction="10000"/>
          </a:bodyPr>
          <a:lstStyle/>
          <a:p>
            <a:pPr marL="0" indent="0" algn="just">
              <a:buNone/>
            </a:pPr>
            <a:r>
              <a:rPr lang="ru-RU" dirty="0"/>
              <a:t>Присвоение 1 группы по электробезопасности производится путём проведения </a:t>
            </a:r>
            <a:r>
              <a:rPr lang="ru-RU" dirty="0"/>
              <a:t>инструктажа</a:t>
            </a:r>
            <a:r>
              <a:rPr lang="ru-RU" dirty="0"/>
              <a:t>, который должен завершаться проверкой знаний в форме устного опроса и (</a:t>
            </a:r>
            <a:r>
              <a:rPr lang="ru-RU" b="1" dirty="0"/>
              <a:t>при необходимости</a:t>
            </a:r>
            <a:r>
              <a:rPr lang="ru-RU" dirty="0"/>
              <a:t>) проверкой приобретённых навыков безопасных способов работы и оказания первой помощи при поражении электрическим током</a:t>
            </a:r>
            <a:r>
              <a:rPr lang="ru-RU" dirty="0" smtClean="0"/>
              <a:t>.</a:t>
            </a:r>
          </a:p>
          <a:p>
            <a:pPr marL="0" indent="0" algn="just">
              <a:buNone/>
            </a:pPr>
            <a:r>
              <a:rPr lang="ru-RU" b="1" dirty="0">
                <a:solidFill>
                  <a:srgbClr val="FF0000"/>
                </a:solidFill>
                <a:effectLst>
                  <a:outerShdw blurRad="38100" dist="38100" dir="2700000" algn="tl">
                    <a:srgbClr val="000000">
                      <a:alpha val="43137"/>
                    </a:srgbClr>
                  </a:outerShdw>
                </a:effectLst>
              </a:rPr>
              <a:t>Обратите внимание </a:t>
            </a:r>
            <a:r>
              <a:rPr lang="ru-RU" dirty="0"/>
              <a:t>на проверку навыков оказания первой помощи. Этот пункт даёт возможность выбора </a:t>
            </a:r>
            <a:r>
              <a:rPr lang="ru-RU" b="1" dirty="0"/>
              <a:t>“при необходимости”</a:t>
            </a:r>
            <a:r>
              <a:rPr lang="ru-RU" dirty="0"/>
              <a:t>. Таким образом, если вы его скопируете полностью и пропишете в своём ЛНА, то весь персонал, которому присваивается 1 группа по электробезопасности, обязан быть обучен оказанию первой помощи. Также это касается и инструкции. Если в ней будет прописан алгоритм оказания первой помощи, то данные работники должны быть обучены оказанию первой помощи.</a:t>
            </a:r>
            <a:endParaRPr lang="ru-RU" dirty="0"/>
          </a:p>
        </p:txBody>
      </p:sp>
    </p:spTree>
    <p:extLst>
      <p:ext uri="{BB962C8B-B14F-4D97-AF65-F5344CB8AC3E}">
        <p14:creationId xmlns:p14="http://schemas.microsoft.com/office/powerpoint/2010/main" val="22287905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dirty="0"/>
              <a:t>Чем завершается присвоение 1 группы по электробезопасности?</a:t>
            </a:r>
          </a:p>
        </p:txBody>
      </p:sp>
      <p:sp>
        <p:nvSpPr>
          <p:cNvPr id="3" name="Объект 2"/>
          <p:cNvSpPr>
            <a:spLocks noGrp="1"/>
          </p:cNvSpPr>
          <p:nvPr>
            <p:ph idx="1"/>
          </p:nvPr>
        </p:nvSpPr>
        <p:spPr/>
        <p:txBody>
          <a:bodyPr/>
          <a:lstStyle/>
          <a:p>
            <a:pPr marL="0" indent="0" algn="just">
              <a:buNone/>
            </a:pPr>
            <a:r>
              <a:rPr lang="ru-RU" dirty="0"/>
              <a:t>Персоналу, усвоившему требования по электробезопасности, относящиеся к его производственной деятельности, присваивается 1 группа по электробезопасности с оформлением в </a:t>
            </a:r>
            <a:r>
              <a:rPr lang="ru-RU" dirty="0"/>
              <a:t>журнале</a:t>
            </a:r>
            <a:r>
              <a:rPr lang="ru-RU" dirty="0"/>
              <a:t>, в котором указываются фамилия, имя, отчество (при наличии) работника, его должность, дата присвоения группы I по электробезопасности, подпись проверяемого и проверяющего (</a:t>
            </a:r>
            <a:r>
              <a:rPr lang="ru-RU" i="1" dirty="0"/>
              <a:t>п. 2.3 ПОТЭУ</a:t>
            </a:r>
            <a:r>
              <a:rPr lang="ru-RU" dirty="0" smtClean="0"/>
              <a:t>).</a:t>
            </a:r>
          </a:p>
          <a:p>
            <a:pPr marL="0" indent="0" algn="just">
              <a:buNone/>
            </a:pPr>
            <a:r>
              <a:rPr lang="ru-RU" b="1" dirty="0" smtClean="0">
                <a:solidFill>
                  <a:srgbClr val="FF0000"/>
                </a:solidFill>
                <a:effectLst>
                  <a:outerShdw blurRad="38100" dist="38100" dir="2700000" algn="tl">
                    <a:srgbClr val="000000">
                      <a:alpha val="43137"/>
                    </a:srgbClr>
                  </a:outerShdw>
                </a:effectLst>
              </a:rPr>
              <a:t>!!!!!</a:t>
            </a:r>
            <a:r>
              <a:rPr lang="ru-RU" b="1" dirty="0">
                <a:solidFill>
                  <a:srgbClr val="FF0000"/>
                </a:solidFill>
                <a:effectLst>
                  <a:outerShdw blurRad="38100" dist="38100" dir="2700000" algn="tl">
                    <a:srgbClr val="000000">
                      <a:alpha val="43137"/>
                    </a:srgbClr>
                  </a:outerShdw>
                </a:effectLst>
              </a:rPr>
              <a:t> Требования о сроках отменены. Будем ждать разъяснений о том, действительно ли теперь присвоение 1 группы по электробезопасности бессрочно.</a:t>
            </a:r>
            <a:endParaRPr lang="ru-RU"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869248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p:nvPr>
        </p:nvSpPr>
        <p:spPr/>
        <p:txBody>
          <a:bodyPr/>
          <a:lstStyle/>
          <a:p>
            <a:pPr algn="ctr"/>
            <a:r>
              <a:rPr lang="ru-RU" sz="4000" dirty="0"/>
              <a:t>Правительство изменило Правила обучения по охране труда</a:t>
            </a:r>
          </a:p>
        </p:txBody>
      </p:sp>
      <p:sp>
        <p:nvSpPr>
          <p:cNvPr id="5" name="Подзаголовок 4"/>
          <p:cNvSpPr>
            <a:spLocks noGrp="1"/>
          </p:cNvSpPr>
          <p:nvPr>
            <p:ph type="subTitle" idx="1"/>
          </p:nvPr>
        </p:nvSpPr>
        <p:spPr/>
        <p:txBody>
          <a:bodyPr/>
          <a:lstStyle/>
          <a:p>
            <a:endParaRPr lang="ru-RU"/>
          </a:p>
        </p:txBody>
      </p:sp>
    </p:spTree>
    <p:extLst>
      <p:ext uri="{BB962C8B-B14F-4D97-AF65-F5344CB8AC3E}">
        <p14:creationId xmlns:p14="http://schemas.microsoft.com/office/powerpoint/2010/main" val="28927878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pPr algn="just"/>
            <a:r>
              <a:rPr lang="ru-RU" sz="2000" dirty="0"/>
              <a:t>Уточнения внесены в порядок определения количества работников, подлежащих обучению в образовательных организациях и в основания для проведения внепланового обучения.</a:t>
            </a:r>
          </a:p>
        </p:txBody>
      </p:sp>
      <p:sp>
        <p:nvSpPr>
          <p:cNvPr id="3" name="Объект 2"/>
          <p:cNvSpPr>
            <a:spLocks noGrp="1"/>
          </p:cNvSpPr>
          <p:nvPr>
            <p:ph idx="1"/>
          </p:nvPr>
        </p:nvSpPr>
        <p:spPr/>
        <p:txBody>
          <a:bodyPr/>
          <a:lstStyle/>
          <a:p>
            <a:pPr marL="0" indent="0" algn="just">
              <a:buNone/>
            </a:pPr>
            <a:r>
              <a:rPr lang="ru-RU" dirty="0"/>
              <a:t>Постановление Правительства Российской Федерации от 30 декабря 2022 г. № 2540 “О внесении изменений в Правила обучения по охране труда и проверки знания требований охраны труда” </a:t>
            </a:r>
            <a:r>
              <a:rPr lang="ru-RU" u="sng" dirty="0">
                <a:hlinkClick r:id="rId2"/>
              </a:rPr>
              <a:t>опубликовано</a:t>
            </a:r>
            <a:r>
              <a:rPr lang="ru-RU" dirty="0"/>
              <a:t> на портале правовой </a:t>
            </a:r>
            <a:r>
              <a:rPr lang="ru-RU" dirty="0" smtClean="0"/>
              <a:t>информации </a:t>
            </a:r>
            <a:r>
              <a:rPr lang="ru-RU" dirty="0"/>
              <a:t>31 декабря 2022 года</a:t>
            </a:r>
            <a:r>
              <a:rPr lang="ru-RU" dirty="0" smtClean="0"/>
              <a:t>.</a:t>
            </a:r>
          </a:p>
          <a:p>
            <a:pPr marL="0" indent="0" algn="just">
              <a:buNone/>
            </a:pPr>
            <a:endParaRPr lang="ru-RU" dirty="0"/>
          </a:p>
          <a:p>
            <a:pPr marL="0" indent="0" algn="ctr">
              <a:buNone/>
            </a:pPr>
            <a:r>
              <a:rPr lang="ru-RU" b="1" dirty="0" smtClean="0">
                <a:solidFill>
                  <a:srgbClr val="FF0000"/>
                </a:solidFill>
                <a:effectLst>
                  <a:outerShdw blurRad="38100" dist="38100" dir="2700000" algn="tl">
                    <a:srgbClr val="000000">
                      <a:alpha val="43137"/>
                    </a:srgbClr>
                  </a:outerShdw>
                </a:effectLst>
              </a:rPr>
              <a:t>!!!!! </a:t>
            </a:r>
            <a:r>
              <a:rPr lang="ru-RU" b="1" dirty="0">
                <a:solidFill>
                  <a:srgbClr val="FF0000"/>
                </a:solidFill>
                <a:effectLst>
                  <a:outerShdw blurRad="38100" dist="38100" dir="2700000" algn="tl">
                    <a:srgbClr val="000000">
                      <a:alpha val="43137"/>
                    </a:srgbClr>
                  </a:outerShdw>
                </a:effectLst>
              </a:rPr>
              <a:t>Постановление № 2540 вступит в силу </a:t>
            </a:r>
            <a:endParaRPr lang="ru-RU" b="1" dirty="0" smtClean="0">
              <a:solidFill>
                <a:srgbClr val="FF0000"/>
              </a:solidFill>
              <a:effectLst>
                <a:outerShdw blurRad="38100" dist="38100" dir="2700000" algn="tl">
                  <a:srgbClr val="000000">
                    <a:alpha val="43137"/>
                  </a:srgbClr>
                </a:outerShdw>
              </a:effectLst>
            </a:endParaRPr>
          </a:p>
          <a:p>
            <a:pPr marL="0" indent="0" algn="ctr">
              <a:buNone/>
            </a:pPr>
            <a:r>
              <a:rPr lang="ru-RU" b="1" dirty="0" smtClean="0">
                <a:solidFill>
                  <a:srgbClr val="FF0000"/>
                </a:solidFill>
                <a:effectLst>
                  <a:outerShdw blurRad="38100" dist="38100" dir="2700000" algn="tl">
                    <a:srgbClr val="000000">
                      <a:alpha val="43137"/>
                    </a:srgbClr>
                  </a:outerShdw>
                </a:effectLst>
              </a:rPr>
              <a:t>1 </a:t>
            </a:r>
            <a:r>
              <a:rPr lang="ru-RU" b="1" dirty="0">
                <a:solidFill>
                  <a:srgbClr val="FF0000"/>
                </a:solidFill>
                <a:effectLst>
                  <a:outerShdw blurRad="38100" dist="38100" dir="2700000" algn="tl">
                    <a:srgbClr val="000000">
                      <a:alpha val="43137"/>
                    </a:srgbClr>
                  </a:outerShdw>
                </a:effectLst>
              </a:rPr>
              <a:t>сентября 2023 года.</a:t>
            </a:r>
            <a:endParaRPr lang="ru-RU"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86348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Изменений два</a:t>
            </a:r>
          </a:p>
        </p:txBody>
      </p:sp>
      <p:sp>
        <p:nvSpPr>
          <p:cNvPr id="3" name="Объект 2"/>
          <p:cNvSpPr>
            <a:spLocks noGrp="1"/>
          </p:cNvSpPr>
          <p:nvPr>
            <p:ph idx="1"/>
          </p:nvPr>
        </p:nvSpPr>
        <p:spPr/>
        <p:txBody>
          <a:bodyPr>
            <a:normAutofit lnSpcReduction="10000"/>
          </a:bodyPr>
          <a:lstStyle/>
          <a:p>
            <a:pPr marL="457200" indent="-457200" algn="just">
              <a:buFont typeface="+mj-lt"/>
              <a:buAutoNum type="arabicPeriod"/>
            </a:pPr>
            <a:r>
              <a:rPr lang="ru-RU" dirty="0"/>
              <a:t>Изменение внесено в приложение № 4 к Правилам обучения по охране труда. При определении минимального числа лиц, которых направляют в специализированную обучающую организацию (ИП), работодатель не должен учитывать сотрудников на постоянной </a:t>
            </a:r>
            <a:r>
              <a:rPr lang="ru-RU" dirty="0" err="1"/>
              <a:t>удалёнке</a:t>
            </a:r>
            <a:r>
              <a:rPr lang="ru-RU" dirty="0"/>
              <a:t>.</a:t>
            </a:r>
          </a:p>
          <a:p>
            <a:pPr marL="457200" indent="-457200" algn="just">
              <a:buFont typeface="+mj-lt"/>
              <a:buAutoNum type="arabicPeriod"/>
            </a:pPr>
            <a:r>
              <a:rPr lang="ru-RU" dirty="0"/>
              <a:t>Изменение внесено в п. 61 Правил. В нынешней формулировке при вступлении в силу новых НПА внеплановое обучение работников нужно проводить по требованию Минтруда. После вступления в силу изменений это нужно будет сделать только в том случае, если указание на необходимость проведения внепланового обучения прямо прописано в НПА.</a:t>
            </a:r>
          </a:p>
          <a:p>
            <a:pPr marL="457200" indent="-457200" algn="just">
              <a:buFont typeface="+mj-lt"/>
              <a:buAutoNum type="arabicPeriod"/>
            </a:pPr>
            <a:endParaRPr lang="ru-RU" dirty="0"/>
          </a:p>
        </p:txBody>
      </p:sp>
    </p:spTree>
    <p:extLst>
      <p:ext uri="{BB962C8B-B14F-4D97-AF65-F5344CB8AC3E}">
        <p14:creationId xmlns:p14="http://schemas.microsoft.com/office/powerpoint/2010/main" val="26458454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p:nvPr>
        </p:nvSpPr>
        <p:spPr/>
        <p:txBody>
          <a:bodyPr/>
          <a:lstStyle/>
          <a:p>
            <a:pPr algn="ctr"/>
            <a:r>
              <a:rPr lang="ru-RU" sz="4000" dirty="0"/>
              <a:t>Новый порядок обучения по охране труда</a:t>
            </a:r>
          </a:p>
        </p:txBody>
      </p:sp>
      <p:sp>
        <p:nvSpPr>
          <p:cNvPr id="5" name="Подзаголовок 4"/>
          <p:cNvSpPr>
            <a:spLocks noGrp="1"/>
          </p:cNvSpPr>
          <p:nvPr>
            <p:ph type="subTitle" idx="1"/>
          </p:nvPr>
        </p:nvSpPr>
        <p:spPr/>
        <p:txBody>
          <a:bodyPr/>
          <a:lstStyle/>
          <a:p>
            <a:endParaRPr lang="ru-RU"/>
          </a:p>
        </p:txBody>
      </p:sp>
    </p:spTree>
    <p:extLst>
      <p:ext uri="{BB962C8B-B14F-4D97-AF65-F5344CB8AC3E}">
        <p14:creationId xmlns:p14="http://schemas.microsoft.com/office/powerpoint/2010/main" val="6940790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dirty="0"/>
              <a:t>ТК РФ о порядке обучения </a:t>
            </a:r>
            <a:r>
              <a:rPr lang="ru-RU" dirty="0" smtClean="0"/>
              <a:t/>
            </a:r>
            <a:br>
              <a:rPr lang="ru-RU" dirty="0" smtClean="0"/>
            </a:br>
            <a:r>
              <a:rPr lang="ru-RU" dirty="0" smtClean="0"/>
              <a:t>по </a:t>
            </a:r>
            <a:r>
              <a:rPr lang="ru-RU" dirty="0"/>
              <a:t>охране труда</a:t>
            </a:r>
          </a:p>
        </p:txBody>
      </p:sp>
      <p:sp>
        <p:nvSpPr>
          <p:cNvPr id="3" name="Объект 2"/>
          <p:cNvSpPr>
            <a:spLocks noGrp="1"/>
          </p:cNvSpPr>
          <p:nvPr>
            <p:ph idx="1"/>
          </p:nvPr>
        </p:nvSpPr>
        <p:spPr/>
        <p:txBody>
          <a:bodyPr/>
          <a:lstStyle/>
          <a:p>
            <a:pPr marL="0" indent="0" algn="ctr">
              <a:buNone/>
            </a:pPr>
            <a:r>
              <a:rPr lang="ru-RU" b="1" dirty="0">
                <a:solidFill>
                  <a:srgbClr val="FF0000"/>
                </a:solidFill>
                <a:effectLst>
                  <a:outerShdw blurRad="38100" dist="38100" dir="2700000" algn="tl">
                    <a:srgbClr val="000000">
                      <a:alpha val="43137"/>
                    </a:srgbClr>
                  </a:outerShdw>
                </a:effectLst>
              </a:rPr>
              <a:t>Вот и </a:t>
            </a:r>
            <a:r>
              <a:rPr lang="ru-RU" b="1" dirty="0" smtClean="0">
                <a:solidFill>
                  <a:srgbClr val="FF0000"/>
                </a:solidFill>
                <a:effectLst>
                  <a:outerShdw blurRad="38100" dist="38100" dir="2700000" algn="tl">
                    <a:srgbClr val="000000">
                      <a:alpha val="43137"/>
                    </a:srgbClr>
                  </a:outerShdw>
                </a:effectLst>
              </a:rPr>
              <a:t>закончился </a:t>
            </a:r>
            <a:r>
              <a:rPr lang="ru-RU" b="1" dirty="0">
                <a:solidFill>
                  <a:srgbClr val="FF0000"/>
                </a:solidFill>
                <a:effectLst>
                  <a:outerShdw blurRad="38100" dist="38100" dir="2700000" algn="tl">
                    <a:srgbClr val="000000">
                      <a:alpha val="43137"/>
                    </a:srgbClr>
                  </a:outerShdw>
                </a:effectLst>
              </a:rPr>
              <a:t>19-летний период “жизни” старого, доброго Постановления 1/29. </a:t>
            </a:r>
            <a:endParaRPr lang="ru-RU" b="1" dirty="0" smtClean="0">
              <a:solidFill>
                <a:srgbClr val="FF0000"/>
              </a:solidFill>
              <a:effectLst>
                <a:outerShdw blurRad="38100" dist="38100" dir="2700000" algn="tl">
                  <a:srgbClr val="000000">
                    <a:alpha val="43137"/>
                  </a:srgbClr>
                </a:outerShdw>
              </a:effectLst>
            </a:endParaRPr>
          </a:p>
          <a:p>
            <a:pPr marL="0" indent="0" algn="just">
              <a:buNone/>
            </a:pPr>
            <a:r>
              <a:rPr lang="ru-RU" dirty="0" smtClean="0"/>
              <a:t>С </a:t>
            </a:r>
            <a:r>
              <a:rPr lang="ru-RU" dirty="0"/>
              <a:t>1 сентября 2022 г. старый порядок утратит силу. Одновременно вступит в силу новый порядок, утверждённый Правительством в соответствии с нормами </a:t>
            </a:r>
            <a:r>
              <a:rPr lang="ru-RU" u="sng" dirty="0">
                <a:hlinkClick r:id="rId2"/>
              </a:rPr>
              <a:t>ст. 219</a:t>
            </a:r>
            <a:r>
              <a:rPr lang="ru-RU" dirty="0"/>
              <a:t> обновленного Х раздела ТК РФ. </a:t>
            </a:r>
            <a:endParaRPr lang="ru-RU" dirty="0" smtClean="0"/>
          </a:p>
          <a:p>
            <a:pPr marL="0" indent="0" algn="ctr">
              <a:buNone/>
            </a:pPr>
            <a:r>
              <a:rPr lang="ru-RU" sz="4000" b="1" dirty="0" smtClean="0">
                <a:solidFill>
                  <a:srgbClr val="FF0000"/>
                </a:solidFill>
                <a:effectLst>
                  <a:outerShdw blurRad="38100" dist="38100" dir="2700000" algn="tl">
                    <a:srgbClr val="000000">
                      <a:alpha val="43137"/>
                    </a:srgbClr>
                  </a:outerShdw>
                </a:effectLst>
              </a:rPr>
              <a:t>Он </a:t>
            </a:r>
            <a:r>
              <a:rPr lang="ru-RU" sz="4000" b="1" dirty="0">
                <a:solidFill>
                  <a:srgbClr val="FF0000"/>
                </a:solidFill>
                <a:effectLst>
                  <a:outerShdw blurRad="38100" dist="38100" dir="2700000" algn="tl">
                    <a:srgbClr val="000000">
                      <a:alpha val="43137"/>
                    </a:srgbClr>
                  </a:outerShdw>
                </a:effectLst>
              </a:rPr>
              <a:t>будет </a:t>
            </a:r>
            <a:r>
              <a:rPr lang="ru-RU" sz="4000" b="1" dirty="0" smtClean="0">
                <a:solidFill>
                  <a:srgbClr val="FF0000"/>
                </a:solidFill>
                <a:effectLst>
                  <a:outerShdw blurRad="38100" dist="38100" dir="2700000" algn="tl">
                    <a:srgbClr val="000000">
                      <a:alpha val="43137"/>
                    </a:srgbClr>
                  </a:outerShdw>
                </a:effectLst>
              </a:rPr>
              <a:t>до </a:t>
            </a:r>
            <a:r>
              <a:rPr lang="ru-RU" sz="4000" b="1" dirty="0">
                <a:solidFill>
                  <a:srgbClr val="FF0000"/>
                </a:solidFill>
                <a:effectLst>
                  <a:outerShdw blurRad="38100" dist="38100" dir="2700000" algn="tl">
                    <a:srgbClr val="000000">
                      <a:alpha val="43137"/>
                    </a:srgbClr>
                  </a:outerShdw>
                </a:effectLst>
              </a:rPr>
              <a:t>1 сентября 2026 г.</a:t>
            </a:r>
            <a:endParaRPr lang="ru-RU" sz="40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010425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pPr algn="just"/>
            <a:r>
              <a:rPr lang="ru-RU" sz="2400" dirty="0"/>
              <a:t>Нормы статьи 219 новой редакции ТК РФ и ранее действовавшей статьи 225 старой редакции ТК РФ имеют три существенных отличия</a:t>
            </a:r>
          </a:p>
        </p:txBody>
      </p:sp>
      <p:sp>
        <p:nvSpPr>
          <p:cNvPr id="3" name="Объект 2"/>
          <p:cNvSpPr>
            <a:spLocks noGrp="1"/>
          </p:cNvSpPr>
          <p:nvPr>
            <p:ph idx="1"/>
          </p:nvPr>
        </p:nvSpPr>
        <p:spPr/>
        <p:txBody>
          <a:bodyPr>
            <a:normAutofit lnSpcReduction="10000"/>
          </a:bodyPr>
          <a:lstStyle/>
          <a:p>
            <a:pPr marL="0" indent="0" algn="just">
              <a:buNone/>
            </a:pPr>
            <a:r>
              <a:rPr lang="ru-RU" b="1" dirty="0"/>
              <a:t>Первое отличие.</a:t>
            </a:r>
            <a:r>
              <a:rPr lang="ru-RU" dirty="0"/>
              <a:t> Порядок обучения по охране труда будет устанавливать Правительство, а не Минтруд.</a:t>
            </a:r>
            <a:r>
              <a:rPr lang="ru-RU" dirty="0"/>
              <a:t/>
            </a:r>
            <a:br>
              <a:rPr lang="ru-RU" dirty="0"/>
            </a:br>
            <a:r>
              <a:rPr lang="ru-RU" dirty="0"/>
              <a:t>Право устанавливать порядок обучения и требования к обучающим организациям передано с министерского уровня на уровень Правительства РФ</a:t>
            </a:r>
            <a:r>
              <a:rPr lang="ru-RU" dirty="0" smtClean="0"/>
              <a:t>.</a:t>
            </a:r>
          </a:p>
          <a:p>
            <a:pPr marL="0" indent="0" algn="just">
              <a:buNone/>
            </a:pPr>
            <a:r>
              <a:rPr lang="ru-RU" b="1" dirty="0" smtClean="0">
                <a:solidFill>
                  <a:srgbClr val="FF0000"/>
                </a:solidFill>
                <a:effectLst>
                  <a:outerShdw blurRad="38100" dist="38100" dir="2700000" algn="tl">
                    <a:srgbClr val="000000">
                      <a:alpha val="43137"/>
                    </a:srgbClr>
                  </a:outerShdw>
                </a:effectLst>
              </a:rPr>
              <a:t>Извлечение </a:t>
            </a:r>
            <a:r>
              <a:rPr lang="ru-RU" b="1" dirty="0">
                <a:solidFill>
                  <a:srgbClr val="FF0000"/>
                </a:solidFill>
                <a:effectLst>
                  <a:outerShdw blurRad="38100" dist="38100" dir="2700000" algn="tl">
                    <a:srgbClr val="000000">
                      <a:alpha val="43137"/>
                    </a:srgbClr>
                  </a:outerShdw>
                </a:effectLst>
              </a:rPr>
              <a:t>из ст. 219 ТК РФ</a:t>
            </a:r>
            <a:r>
              <a:rPr lang="ru-RU" b="1" dirty="0" smtClean="0">
                <a:solidFill>
                  <a:srgbClr val="FF0000"/>
                </a:solidFill>
                <a:effectLst>
                  <a:outerShdw blurRad="38100" dist="38100" dir="2700000" algn="tl">
                    <a:srgbClr val="000000">
                      <a:alpha val="43137"/>
                    </a:srgbClr>
                  </a:outerShdw>
                </a:effectLst>
              </a:rPr>
              <a:t>:</a:t>
            </a:r>
          </a:p>
          <a:p>
            <a:pPr marL="0" indent="0" algn="just">
              <a:buNone/>
            </a:pPr>
            <a:r>
              <a:rPr lang="ru-RU" dirty="0" smtClean="0"/>
              <a:t>«Порядок </a:t>
            </a:r>
            <a:r>
              <a:rPr lang="ru-RU" dirty="0"/>
              <a:t>обучения по охране труда и проверки знания требований охраны труда, а также требования к организациям, оказывающим услуги по проведению обучения по охране труда, устанавливаются Правительством Российской Федерации с учётом мнения Российской трёхсторонней комиссии по регулированию социально-трудовых отношений</a:t>
            </a:r>
            <a:r>
              <a:rPr lang="ru-RU" dirty="0" smtClean="0"/>
              <a:t>.»</a:t>
            </a:r>
            <a:endParaRPr lang="ru-RU"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041762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85000" lnSpcReduction="10000"/>
          </a:bodyPr>
          <a:lstStyle/>
          <a:p>
            <a:pPr marL="0" indent="0" algn="just">
              <a:buNone/>
            </a:pPr>
            <a:r>
              <a:rPr lang="ru-RU" b="1" dirty="0" smtClean="0"/>
              <a:t>Второе </a:t>
            </a:r>
            <a:r>
              <a:rPr lang="ru-RU" b="1" dirty="0"/>
              <a:t>отличие.</a:t>
            </a:r>
            <a:r>
              <a:rPr lang="ru-RU" dirty="0"/>
              <a:t> Введено понятие “обучение по охране труда”.</a:t>
            </a:r>
          </a:p>
          <a:p>
            <a:pPr marL="0" indent="0" algn="just">
              <a:buNone/>
            </a:pPr>
            <a:r>
              <a:rPr lang="ru-RU" dirty="0" smtClean="0"/>
              <a:t>	Впервые </a:t>
            </a:r>
            <a:r>
              <a:rPr lang="ru-RU" dirty="0"/>
              <a:t>в нормативном акте определено, что </a:t>
            </a:r>
            <a:r>
              <a:rPr lang="ru-RU" b="1" dirty="0"/>
              <a:t>обучение по охране труда</a:t>
            </a:r>
            <a:r>
              <a:rPr lang="ru-RU" dirty="0"/>
              <a:t> – это процесс получения работниками, в том числе руководителями организаций, а также работодателями – индивидуальными предпринимателями знаний, умений, навыков, позволяющих формировать и развивать необходимые компетенции с целью обеспечения безопасности труда, сохранения жизни и здоровья. Работники, в том числе руководители организаций, и работодатели – индивидуальные предприниматели обязаны проходить обучение по охране труда и проверку знания требований охраны труда.</a:t>
            </a:r>
          </a:p>
          <a:p>
            <a:pPr marL="0" indent="0" algn="just">
              <a:buNone/>
            </a:pPr>
            <a:r>
              <a:rPr lang="ru-RU" dirty="0" smtClean="0"/>
              <a:t>	Таким </a:t>
            </a:r>
            <a:r>
              <a:rPr lang="ru-RU" dirty="0"/>
              <a:t>образом, </a:t>
            </a:r>
            <a:r>
              <a:rPr lang="ru-RU" b="1" dirty="0"/>
              <a:t>обучению по охране труда не подлежат</a:t>
            </a:r>
            <a:r>
              <a:rPr lang="ru-RU" dirty="0"/>
              <a:t> работодатели – физические лица, не являющихся ИП, то есть </a:t>
            </a:r>
            <a:r>
              <a:rPr lang="ru-RU" b="1" dirty="0"/>
              <a:t>те, кто нанимают работников для личного обслуживания и помощи в домашнем хозяйстве</a:t>
            </a:r>
            <a:r>
              <a:rPr lang="ru-RU" dirty="0"/>
              <a:t> (ч. 5 ст. 20 ТК РФ).</a:t>
            </a:r>
          </a:p>
          <a:p>
            <a:pPr marL="0" indent="0">
              <a:buNone/>
            </a:pPr>
            <a:endParaRPr lang="ru-RU" dirty="0"/>
          </a:p>
        </p:txBody>
      </p:sp>
    </p:spTree>
    <p:extLst>
      <p:ext uri="{BB962C8B-B14F-4D97-AF65-F5344CB8AC3E}">
        <p14:creationId xmlns:p14="http://schemas.microsoft.com/office/powerpoint/2010/main" val="4222595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92500"/>
          </a:bodyPr>
          <a:lstStyle/>
          <a:p>
            <a:pPr marL="0" indent="0" algn="just">
              <a:buNone/>
            </a:pPr>
            <a:r>
              <a:rPr lang="ru-RU" b="1" dirty="0"/>
              <a:t>Третье отличие.</a:t>
            </a:r>
            <a:r>
              <a:rPr lang="ru-RU" dirty="0"/>
              <a:t> Обучение по охране труда теперь складывается из пяти элементов и предусматривает получение знаний, умений и навыков в ходе проведения:</a:t>
            </a:r>
          </a:p>
          <a:p>
            <a:pPr algn="just"/>
            <a:r>
              <a:rPr lang="ru-RU" dirty="0"/>
              <a:t>инструктажи по охране труда;</a:t>
            </a:r>
          </a:p>
          <a:p>
            <a:pPr algn="just"/>
            <a:r>
              <a:rPr lang="ru-RU" dirty="0"/>
              <a:t>стажировки на рабочем месте (для определенных категорий работников);</a:t>
            </a:r>
          </a:p>
          <a:p>
            <a:pPr algn="just"/>
            <a:r>
              <a:rPr lang="ru-RU" dirty="0"/>
              <a:t>обучение по оказанию первой помощи пострадавшим;</a:t>
            </a:r>
          </a:p>
          <a:p>
            <a:pPr algn="just"/>
            <a:r>
              <a:rPr lang="ru-RU" dirty="0"/>
              <a:t>обучение по использованию (применению) средств индивидуальной защиты;</a:t>
            </a:r>
          </a:p>
          <a:p>
            <a:pPr algn="just"/>
            <a:r>
              <a:rPr lang="ru-RU" dirty="0"/>
              <a:t>обучение по охране труда у работодателя, в том числе обучения безопасным методам и приёмам выполнения работ, или в организациях, оказывающих услуги по проведению обучения по охране труда.</a:t>
            </a:r>
          </a:p>
          <a:p>
            <a:pPr marL="0" indent="0">
              <a:buNone/>
            </a:pPr>
            <a:endParaRPr lang="ru-RU" dirty="0"/>
          </a:p>
        </p:txBody>
      </p:sp>
    </p:spTree>
    <p:extLst>
      <p:ext uri="{BB962C8B-B14F-4D97-AF65-F5344CB8AC3E}">
        <p14:creationId xmlns:p14="http://schemas.microsoft.com/office/powerpoint/2010/main" val="32165809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pPr marL="0" indent="0" algn="just">
              <a:buNone/>
            </a:pPr>
            <a:r>
              <a:rPr lang="ru-RU" dirty="0" smtClean="0"/>
              <a:t>	Ранее</a:t>
            </a:r>
            <a:r>
              <a:rPr lang="ru-RU" dirty="0"/>
              <a:t>, стажировка на рабочем месте, обучение оказанию первой помощи и обучение использованию СИЗ самостоятельными видами обучения не были.</a:t>
            </a:r>
          </a:p>
          <a:p>
            <a:pPr marL="0" indent="0" algn="just">
              <a:buNone/>
            </a:pPr>
            <a:r>
              <a:rPr lang="ru-RU" dirty="0" smtClean="0"/>
              <a:t>	Безусловно</a:t>
            </a:r>
            <a:r>
              <a:rPr lang="ru-RU" dirty="0"/>
              <a:t>, всё это нашло отражение в подзаконном акте, в новом Порядке обучения, который мы прямо сейчас подробно разберём, придерживаясь логики структуры документа.</a:t>
            </a:r>
          </a:p>
          <a:p>
            <a:pPr marL="0" indent="0" algn="just">
              <a:buNone/>
            </a:pPr>
            <a:endParaRPr lang="ru-RU" dirty="0"/>
          </a:p>
        </p:txBody>
      </p:sp>
    </p:spTree>
    <p:extLst>
      <p:ext uri="{BB962C8B-B14F-4D97-AF65-F5344CB8AC3E}">
        <p14:creationId xmlns:p14="http://schemas.microsoft.com/office/powerpoint/2010/main" val="16884228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Правила обучения вступят в силу в два приёма</a:t>
            </a:r>
          </a:p>
        </p:txBody>
      </p:sp>
      <p:sp>
        <p:nvSpPr>
          <p:cNvPr id="3" name="Объект 2"/>
          <p:cNvSpPr>
            <a:spLocks noGrp="1"/>
          </p:cNvSpPr>
          <p:nvPr>
            <p:ph idx="1"/>
          </p:nvPr>
        </p:nvSpPr>
        <p:spPr/>
        <p:txBody>
          <a:bodyPr/>
          <a:lstStyle/>
          <a:p>
            <a:pPr marL="0" indent="0" algn="just">
              <a:buNone/>
            </a:pPr>
            <a:r>
              <a:rPr lang="ru-RU" dirty="0" smtClean="0"/>
              <a:t>Новые </a:t>
            </a:r>
            <a:r>
              <a:rPr lang="ru-RU" dirty="0"/>
              <a:t>Правила обучения вступят в силу 1 сентября 2022 г., но ряд требований будут применяться только с 1 марта 2023 года, а именно положения, касающиеся (раздел XI Правил, а также п.99, 104-116, 118, 119):</a:t>
            </a:r>
          </a:p>
          <a:p>
            <a:pPr algn="just"/>
            <a:r>
              <a:rPr lang="ru-RU" dirty="0"/>
              <a:t>ведения реестров тех, кто обучает и тех, кто обучен по охране труда;</a:t>
            </a:r>
          </a:p>
          <a:p>
            <a:pPr algn="just"/>
            <a:r>
              <a:rPr lang="ru-RU" dirty="0"/>
              <a:t>проверки знаний с использованием единого портала;</a:t>
            </a:r>
          </a:p>
          <a:p>
            <a:pPr algn="just"/>
            <a:r>
              <a:rPr lang="ru-RU" dirty="0"/>
              <a:t>внесения информации об обучении работников в личный кабинет работодателя на портале ЕСИОТ Минтруда.</a:t>
            </a:r>
          </a:p>
          <a:p>
            <a:pPr marL="0" indent="0">
              <a:buNone/>
            </a:pPr>
            <a:endParaRPr lang="ru-RU" dirty="0"/>
          </a:p>
        </p:txBody>
      </p:sp>
    </p:spTree>
    <p:extLst>
      <p:ext uri="{BB962C8B-B14F-4D97-AF65-F5344CB8AC3E}">
        <p14:creationId xmlns:p14="http://schemas.microsoft.com/office/powerpoint/2010/main" val="19399626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ВАЖНО</a:t>
            </a:r>
            <a:endParaRPr lang="ru-RU" dirty="0"/>
          </a:p>
        </p:txBody>
      </p:sp>
      <p:sp>
        <p:nvSpPr>
          <p:cNvPr id="3" name="Объект 2"/>
          <p:cNvSpPr>
            <a:spLocks noGrp="1"/>
          </p:cNvSpPr>
          <p:nvPr>
            <p:ph idx="1"/>
          </p:nvPr>
        </p:nvSpPr>
        <p:spPr/>
        <p:txBody>
          <a:bodyPr/>
          <a:lstStyle/>
          <a:p>
            <a:pPr marL="0" indent="0" algn="just">
              <a:buNone/>
            </a:pPr>
            <a:r>
              <a:rPr lang="ru-RU" dirty="0"/>
              <a:t>Оператором ЕСИОТ является Минтруд. Положение о единой общероссийской справочно-информационной системе по охране труда утверждено приказом </a:t>
            </a:r>
            <a:r>
              <a:rPr lang="ru-RU" dirty="0" err="1"/>
              <a:t>Минздравсоцразвития</a:t>
            </a:r>
            <a:r>
              <a:rPr lang="ru-RU" dirty="0"/>
              <a:t> России от 6 октября 2011 г. </a:t>
            </a:r>
            <a:endParaRPr lang="ru-RU" dirty="0" smtClean="0"/>
          </a:p>
          <a:p>
            <a:pPr marL="0" indent="0" algn="just">
              <a:buNone/>
            </a:pPr>
            <a:r>
              <a:rPr lang="ru-RU" dirty="0" smtClean="0"/>
              <a:t>№ </a:t>
            </a:r>
            <a:r>
              <a:rPr lang="ru-RU" dirty="0"/>
              <a:t>1137.</a:t>
            </a:r>
          </a:p>
          <a:p>
            <a:pPr marL="0" indent="0" algn="ctr">
              <a:buNone/>
            </a:pPr>
            <a:r>
              <a:rPr lang="ru-RU" b="1" dirty="0">
                <a:solidFill>
                  <a:srgbClr val="FF0000"/>
                </a:solidFill>
                <a:effectLst>
                  <a:outerShdw blurRad="38100" dist="38100" dir="2700000" algn="tl">
                    <a:srgbClr val="000000">
                      <a:alpha val="43137"/>
                    </a:srgbClr>
                  </a:outerShdw>
                </a:effectLst>
              </a:rPr>
              <a:t>Официальный сайт </a:t>
            </a:r>
            <a:r>
              <a:rPr lang="ru-RU" b="1" u="sng" dirty="0">
                <a:solidFill>
                  <a:srgbClr val="FF0000"/>
                </a:solidFill>
                <a:effectLst>
                  <a:outerShdw blurRad="38100" dist="38100" dir="2700000" algn="tl">
                    <a:srgbClr val="000000">
                      <a:alpha val="43137"/>
                    </a:srgbClr>
                  </a:outerShdw>
                </a:effectLst>
              </a:rPr>
              <a:t>ЕСИОТ Минтруда</a:t>
            </a:r>
            <a:endParaRPr lang="ru-RU" b="1" dirty="0">
              <a:solidFill>
                <a:srgbClr val="FF0000"/>
              </a:solidFill>
              <a:effectLst>
                <a:outerShdw blurRad="38100" dist="38100" dir="2700000" algn="tl">
                  <a:srgbClr val="000000">
                    <a:alpha val="43137"/>
                  </a:srgbClr>
                </a:outerShdw>
              </a:effectLst>
            </a:endParaRPr>
          </a:p>
          <a:p>
            <a:pPr marL="0" indent="0">
              <a:buNone/>
            </a:pPr>
            <a:endParaRPr lang="ru-RU" dirty="0"/>
          </a:p>
        </p:txBody>
      </p:sp>
    </p:spTree>
    <p:extLst>
      <p:ext uri="{BB962C8B-B14F-4D97-AF65-F5344CB8AC3E}">
        <p14:creationId xmlns:p14="http://schemas.microsoft.com/office/powerpoint/2010/main" val="12578853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dirty="0"/>
              <a:t>Кто попадает под обучение </a:t>
            </a:r>
            <a:r>
              <a:rPr lang="ru-RU" dirty="0" smtClean="0"/>
              <a:t/>
            </a:r>
            <a:br>
              <a:rPr lang="ru-RU" dirty="0" smtClean="0"/>
            </a:br>
            <a:r>
              <a:rPr lang="ru-RU" dirty="0" smtClean="0"/>
              <a:t>по </a:t>
            </a:r>
            <a:r>
              <a:rPr lang="ru-RU" dirty="0"/>
              <a:t>охране труда</a:t>
            </a:r>
          </a:p>
        </p:txBody>
      </p:sp>
      <p:sp>
        <p:nvSpPr>
          <p:cNvPr id="3" name="Объект 2"/>
          <p:cNvSpPr>
            <a:spLocks noGrp="1"/>
          </p:cNvSpPr>
          <p:nvPr>
            <p:ph idx="1"/>
          </p:nvPr>
        </p:nvSpPr>
        <p:spPr/>
        <p:txBody>
          <a:bodyPr>
            <a:normAutofit fontScale="92500"/>
          </a:bodyPr>
          <a:lstStyle/>
          <a:p>
            <a:pPr marL="0" indent="0" algn="just">
              <a:buNone/>
            </a:pPr>
            <a:r>
              <a:rPr lang="ru-RU" dirty="0" smtClean="0"/>
              <a:t>	Если </a:t>
            </a:r>
            <a:r>
              <a:rPr lang="ru-RU" dirty="0"/>
              <a:t>вы наняли работника, чтобы устроить огуречную грядку, то ни вы, ни ваш помощник не обязаны проходить обучение по охране труда и это чётко указано в ТК и, соответственно, в новых правилах обучения по охране труда, но это не единственное исключение.</a:t>
            </a:r>
          </a:p>
          <a:p>
            <a:pPr marL="0" indent="0" algn="just">
              <a:buNone/>
            </a:pPr>
            <a:r>
              <a:rPr lang="ru-RU" dirty="0" smtClean="0"/>
              <a:t>	Правила </a:t>
            </a:r>
            <a:r>
              <a:rPr lang="ru-RU" dirty="0"/>
              <a:t>не распространяются на обучение, предусмотренное специальными требованиями. В качестве примера такого “совместного действия” норм по обучению можно привести обучение по электробезопасности, высоте, тепловым установкам и т.п. Так, промышленный альпинист должен быть обучен по профессии, по правилам охраны труда при работе на высоте и по всем программам в рамках обучения по охране труда.</a:t>
            </a:r>
          </a:p>
          <a:p>
            <a:pPr marL="0" indent="0">
              <a:buNone/>
            </a:pPr>
            <a:endParaRPr lang="ru-RU" dirty="0"/>
          </a:p>
        </p:txBody>
      </p:sp>
    </p:spTree>
    <p:extLst>
      <p:ext uri="{BB962C8B-B14F-4D97-AF65-F5344CB8AC3E}">
        <p14:creationId xmlns:p14="http://schemas.microsoft.com/office/powerpoint/2010/main" val="29534221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21791" y="1600200"/>
            <a:ext cx="7100417" cy="4876800"/>
          </a:xfrm>
        </p:spPr>
      </p:pic>
    </p:spTree>
    <p:extLst>
      <p:ext uri="{BB962C8B-B14F-4D97-AF65-F5344CB8AC3E}">
        <p14:creationId xmlns:p14="http://schemas.microsoft.com/office/powerpoint/2010/main" val="36905326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ВАЖНО!!!!</a:t>
            </a:r>
            <a:endParaRPr lang="ru-RU" dirty="0"/>
          </a:p>
        </p:txBody>
      </p:sp>
      <p:sp>
        <p:nvSpPr>
          <p:cNvPr id="3" name="Объект 2"/>
          <p:cNvSpPr>
            <a:spLocks noGrp="1"/>
          </p:cNvSpPr>
          <p:nvPr>
            <p:ph idx="1"/>
          </p:nvPr>
        </p:nvSpPr>
        <p:spPr/>
        <p:txBody>
          <a:bodyPr>
            <a:normAutofit/>
          </a:bodyPr>
          <a:lstStyle/>
          <a:p>
            <a:pPr marL="0" indent="0" algn="just">
              <a:buNone/>
            </a:pPr>
            <a:r>
              <a:rPr lang="ru-RU" sz="3200" dirty="0"/>
              <a:t>Важно! Повторное обучение не требуется, если сохраняются условия труда работника, а также идентифицированные ранее источники опасности.</a:t>
            </a:r>
            <a:endParaRPr lang="ru-RU" sz="3200" dirty="0"/>
          </a:p>
        </p:txBody>
      </p:sp>
    </p:spTree>
    <p:extLst>
      <p:ext uri="{BB962C8B-B14F-4D97-AF65-F5344CB8AC3E}">
        <p14:creationId xmlns:p14="http://schemas.microsoft.com/office/powerpoint/2010/main" val="33832492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dirty="0"/>
              <a:t>Требования к обучающим организациям стали жёстче</a:t>
            </a:r>
          </a:p>
        </p:txBody>
      </p:sp>
      <p:sp>
        <p:nvSpPr>
          <p:cNvPr id="3" name="Объект 2"/>
          <p:cNvSpPr>
            <a:spLocks noGrp="1"/>
          </p:cNvSpPr>
          <p:nvPr>
            <p:ph idx="1"/>
          </p:nvPr>
        </p:nvSpPr>
        <p:spPr/>
        <p:txBody>
          <a:bodyPr>
            <a:normAutofit fontScale="92500" lnSpcReduction="10000"/>
          </a:bodyPr>
          <a:lstStyle/>
          <a:p>
            <a:pPr marL="0" indent="0" algn="just">
              <a:buNone/>
            </a:pPr>
            <a:r>
              <a:rPr lang="ru-RU" dirty="0" smtClean="0"/>
              <a:t>	Итак</a:t>
            </a:r>
            <a:r>
              <a:rPr lang="ru-RU" dirty="0"/>
              <a:t>, взамен Порядка правительство утвердило Правила обучения по охране труда и проверки знания требований охраны труда. Правила устанавливают обязательные требования:</a:t>
            </a:r>
          </a:p>
          <a:p>
            <a:pPr algn="just"/>
            <a:r>
              <a:rPr lang="ru-RU" dirty="0"/>
              <a:t>к обучению по охране труда и проверке знания требований охраны труда у работников, заключивших трудовой договор с работодателем;</a:t>
            </a:r>
          </a:p>
          <a:p>
            <a:pPr algn="just"/>
            <a:r>
              <a:rPr lang="ru-RU" dirty="0"/>
              <a:t>к организациям и индивидуальным предпринимателям, оказывающим услуги по обучению работодателей и работников вопросам охраны труда.</a:t>
            </a:r>
          </a:p>
          <a:p>
            <a:pPr marL="0" indent="0" algn="just">
              <a:buNone/>
            </a:pPr>
            <a:r>
              <a:rPr lang="ru-RU" dirty="0" smtClean="0"/>
              <a:t>	Организации </a:t>
            </a:r>
            <a:r>
              <a:rPr lang="ru-RU" dirty="0"/>
              <a:t>и индивидуальные предприниматели, оказывающие услуги по обучению работодателей и работников вопросам охраны труда, должны быть аккредитованы и соответствовать установленным требованиям.</a:t>
            </a:r>
          </a:p>
          <a:p>
            <a:pPr marL="0" indent="0" algn="just">
              <a:buNone/>
            </a:pPr>
            <a:endParaRPr lang="ru-RU" dirty="0"/>
          </a:p>
        </p:txBody>
      </p:sp>
    </p:spTree>
    <p:extLst>
      <p:ext uri="{BB962C8B-B14F-4D97-AF65-F5344CB8AC3E}">
        <p14:creationId xmlns:p14="http://schemas.microsoft.com/office/powerpoint/2010/main" val="10483719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dirty="0"/>
              <a:t>Организация и проведение инструктажей по охране труда</a:t>
            </a:r>
          </a:p>
        </p:txBody>
      </p:sp>
      <p:sp>
        <p:nvSpPr>
          <p:cNvPr id="3" name="Объект 2"/>
          <p:cNvSpPr>
            <a:spLocks noGrp="1"/>
          </p:cNvSpPr>
          <p:nvPr>
            <p:ph idx="1"/>
          </p:nvPr>
        </p:nvSpPr>
        <p:spPr/>
        <p:txBody>
          <a:bodyPr/>
          <a:lstStyle/>
          <a:p>
            <a:pPr marL="0" indent="0" algn="just">
              <a:buNone/>
            </a:pPr>
            <a:r>
              <a:rPr lang="ru-RU" dirty="0" smtClean="0"/>
              <a:t>В </a:t>
            </a:r>
            <a:r>
              <a:rPr lang="ru-RU" dirty="0"/>
              <a:t>новом Порядке предусматриваются следующие виды инструктажа по охране труда:</a:t>
            </a:r>
          </a:p>
          <a:p>
            <a:pPr algn="just"/>
            <a:r>
              <a:rPr lang="ru-RU" dirty="0"/>
              <a:t>вводный инструктаж по охране труда;</a:t>
            </a:r>
          </a:p>
          <a:p>
            <a:pPr algn="just"/>
            <a:r>
              <a:rPr lang="ru-RU" dirty="0"/>
              <a:t>инструктаж по охране труда на рабочем месте (первичный, повторный, внеплановый);</a:t>
            </a:r>
          </a:p>
          <a:p>
            <a:pPr algn="just"/>
            <a:r>
              <a:rPr lang="ru-RU" dirty="0"/>
              <a:t>целевой инструктаж по охране труда.</a:t>
            </a:r>
          </a:p>
          <a:p>
            <a:pPr marL="0" indent="0" algn="ctr">
              <a:buNone/>
            </a:pPr>
            <a:endParaRPr lang="ru-RU" b="1" dirty="0" smtClean="0">
              <a:solidFill>
                <a:srgbClr val="FF0000"/>
              </a:solidFill>
              <a:effectLst>
                <a:outerShdw blurRad="38100" dist="38100" dir="2700000" algn="tl">
                  <a:srgbClr val="000000">
                    <a:alpha val="43137"/>
                  </a:srgbClr>
                </a:outerShdw>
              </a:effectLst>
            </a:endParaRPr>
          </a:p>
          <a:p>
            <a:pPr marL="0" indent="0" algn="ctr">
              <a:buNone/>
            </a:pPr>
            <a:r>
              <a:rPr lang="ru-RU" b="1" dirty="0" smtClean="0">
                <a:solidFill>
                  <a:srgbClr val="FF0000"/>
                </a:solidFill>
                <a:effectLst>
                  <a:outerShdw blurRad="38100" dist="38100" dir="2700000" algn="tl">
                    <a:srgbClr val="000000">
                      <a:alpha val="43137"/>
                    </a:srgbClr>
                  </a:outerShdw>
                </a:effectLst>
              </a:rPr>
              <a:t>!!!!! </a:t>
            </a:r>
            <a:r>
              <a:rPr lang="ru-RU" b="1" dirty="0">
                <a:solidFill>
                  <a:srgbClr val="FF0000"/>
                </a:solidFill>
                <a:effectLst>
                  <a:outerShdw blurRad="38100" dist="38100" dir="2700000" algn="tl">
                    <a:srgbClr val="000000">
                      <a:alpha val="43137"/>
                    </a:srgbClr>
                  </a:outerShdw>
                </a:effectLst>
              </a:rPr>
              <a:t>Законодатели впервые исключили целевой инструктаж из инструктажей на рабочем месте.</a:t>
            </a:r>
            <a:endParaRPr lang="ru-RU"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346425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dirty="0"/>
              <a:t>Виды инструктажей по охране труда и их регистрация</a:t>
            </a:r>
          </a:p>
        </p:txBody>
      </p:sp>
      <p:sp>
        <p:nvSpPr>
          <p:cNvPr id="5" name="Объект 4"/>
          <p:cNvSpPr>
            <a:spLocks noGrp="1"/>
          </p:cNvSpPr>
          <p:nvPr>
            <p:ph idx="1"/>
          </p:nvPr>
        </p:nvSpPr>
        <p:spPr/>
        <p:txBody>
          <a:bodyPr/>
          <a:lstStyle/>
          <a:p>
            <a:pPr marL="0" indent="0" algn="ctr">
              <a:buNone/>
            </a:pPr>
            <a:r>
              <a:rPr lang="ru-RU" b="1" dirty="0">
                <a:solidFill>
                  <a:srgbClr val="FF0000"/>
                </a:solidFill>
                <a:effectLst>
                  <a:outerShdw blurRad="38100" dist="38100" dir="2700000" algn="tl">
                    <a:srgbClr val="000000">
                      <a:alpha val="43137"/>
                    </a:srgbClr>
                  </a:outerShdw>
                </a:effectLst>
              </a:rPr>
              <a:t>Вводный инструктаж</a:t>
            </a:r>
          </a:p>
          <a:p>
            <a:pPr marL="0" indent="0" algn="just">
              <a:buNone/>
            </a:pPr>
            <a:r>
              <a:rPr lang="ru-RU" dirty="0"/>
              <a:t>Вводный инструктаж по охране труда работникам подрядных (сторонних организаций) проводится только в том случае, если они участвую в производственной деятельности.</a:t>
            </a:r>
          </a:p>
          <a:p>
            <a:pPr marL="0" indent="0" algn="just">
              <a:buNone/>
            </a:pPr>
            <a:r>
              <a:rPr lang="ru-RU" dirty="0"/>
              <a:t>При этом нужно разобраться, что означает лица, участвующие в производственной деятельности.</a:t>
            </a:r>
          </a:p>
          <a:p>
            <a:pPr marL="0" indent="0" algn="just">
              <a:buNone/>
            </a:pPr>
            <a:r>
              <a:rPr lang="ru-RU" dirty="0"/>
              <a:t>Определение этого понятия в новой редакции ТК РФ изменений не претерпело и по-прежнему содержится в ст. </a:t>
            </a:r>
            <a:r>
              <a:rPr lang="ru-RU" dirty="0" smtClean="0"/>
              <a:t>209</a:t>
            </a:r>
            <a:endParaRPr lang="ru-RU" dirty="0"/>
          </a:p>
          <a:p>
            <a:pPr marL="0" indent="0">
              <a:buNone/>
            </a:pPr>
            <a:endParaRPr lang="ru-RU" dirty="0"/>
          </a:p>
        </p:txBody>
      </p:sp>
    </p:spTree>
    <p:extLst>
      <p:ext uri="{BB962C8B-B14F-4D97-AF65-F5344CB8AC3E}">
        <p14:creationId xmlns:p14="http://schemas.microsoft.com/office/powerpoint/2010/main" val="25914206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a:bodyPr>
          <a:lstStyle/>
          <a:p>
            <a:pPr marL="0" indent="0" algn="just">
              <a:buNone/>
            </a:pPr>
            <a:r>
              <a:rPr lang="ru-RU" b="1" dirty="0"/>
              <a:t>Производственная деятельность</a:t>
            </a:r>
            <a:r>
              <a:rPr lang="ru-RU" dirty="0"/>
              <a:t> – совокупность действий работников с применением средств труда, необходимых для превращения ресурсов в готовую продукцию, включающих в себя производство и переработку различных видов сырья, строительство, оказание различных видов услуг</a:t>
            </a:r>
            <a:r>
              <a:rPr lang="ru-RU" dirty="0" smtClean="0"/>
              <a:t>.</a:t>
            </a:r>
          </a:p>
          <a:p>
            <a:pPr marL="0" indent="0" algn="just">
              <a:buNone/>
            </a:pPr>
            <a:r>
              <a:rPr lang="ru-RU" i="1" u="sng" dirty="0">
                <a:solidFill>
                  <a:srgbClr val="FF0000"/>
                </a:solidFill>
              </a:rPr>
              <a:t>Следовательно, если в вашу организацию приехал инженер, который будет проводить пуско-наладочные работы на </a:t>
            </a:r>
            <a:r>
              <a:rPr lang="ru-RU" i="1" u="sng" dirty="0" err="1">
                <a:solidFill>
                  <a:srgbClr val="FF0000"/>
                </a:solidFill>
              </a:rPr>
              <a:t>котлоагрегате</a:t>
            </a:r>
            <a:r>
              <a:rPr lang="ru-RU" i="1" u="sng" dirty="0">
                <a:solidFill>
                  <a:srgbClr val="FF0000"/>
                </a:solidFill>
              </a:rPr>
              <a:t>, ему обязательно нужно провести вводный инструктаж. Если это </a:t>
            </a:r>
            <a:r>
              <a:rPr lang="ru-RU" i="1" u="sng" dirty="0" smtClean="0">
                <a:solidFill>
                  <a:srgbClr val="FF0000"/>
                </a:solidFill>
              </a:rPr>
              <a:t>водитель-курьер, </a:t>
            </a:r>
            <a:r>
              <a:rPr lang="ru-RU" i="1" u="sng" dirty="0">
                <a:solidFill>
                  <a:srgbClr val="FF0000"/>
                </a:solidFill>
              </a:rPr>
              <a:t>вводный инструктаж им проводить не нужно.</a:t>
            </a:r>
            <a:endParaRPr lang="ru-RU" i="1" u="sng" dirty="0">
              <a:solidFill>
                <a:srgbClr val="FF0000"/>
              </a:solidFill>
            </a:endParaRPr>
          </a:p>
        </p:txBody>
      </p:sp>
    </p:spTree>
    <p:extLst>
      <p:ext uri="{BB962C8B-B14F-4D97-AF65-F5344CB8AC3E}">
        <p14:creationId xmlns:p14="http://schemas.microsoft.com/office/powerpoint/2010/main" val="31748817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fontScale="92500" lnSpcReduction="20000"/>
          </a:bodyPr>
          <a:lstStyle/>
          <a:p>
            <a:pPr marL="0" indent="0" algn="just">
              <a:buNone/>
            </a:pPr>
            <a:r>
              <a:rPr lang="ru-RU" dirty="0" smtClean="0"/>
              <a:t>	Вводный </a:t>
            </a:r>
            <a:r>
              <a:rPr lang="ru-RU" dirty="0"/>
              <a:t>инструктаж с лицом, выполнявшим работу на территории другого работодателя, проводится работодателем (его представителем), по поручению которого выполняется работа. Это означает, что если подрядчик привлекает субподрядчика, сам и проводит с ним вводный инструктаж. Проводить с ним инструктаж организации-заказчику не нужно.</a:t>
            </a:r>
          </a:p>
          <a:p>
            <a:pPr marL="0" indent="0" algn="just">
              <a:buNone/>
            </a:pPr>
            <a:r>
              <a:rPr lang="ru-RU" dirty="0" smtClean="0"/>
              <a:t>	С </a:t>
            </a:r>
            <a:r>
              <a:rPr lang="ru-RU" dirty="0"/>
              <a:t>лицом, выполнявшим по поручению работодателя (его представителя) работу на выделенном в установленном порядке участке другого работодателя, инструктаж проводится работодателем, производящим эту работу. Проводить с ним инструктаж организации-заказчику не нужно.</a:t>
            </a:r>
          </a:p>
          <a:p>
            <a:pPr marL="0" indent="0" algn="just">
              <a:buNone/>
            </a:pPr>
            <a:r>
              <a:rPr lang="ru-RU" dirty="0" smtClean="0"/>
              <a:t>	Вводный </a:t>
            </a:r>
            <a:r>
              <a:rPr lang="ru-RU" dirty="0"/>
              <a:t>инструктаж проводится по утверждённой программе. Его проводит специалист по охране труда или другой назначенный приказом специалист, в том числе ИП по договору ГПХ.</a:t>
            </a:r>
          </a:p>
          <a:p>
            <a:pPr marL="0" indent="0">
              <a:buNone/>
            </a:pPr>
            <a:endParaRPr lang="ru-RU" dirty="0"/>
          </a:p>
        </p:txBody>
      </p:sp>
    </p:spTree>
    <p:extLst>
      <p:ext uri="{BB962C8B-B14F-4D97-AF65-F5344CB8AC3E}">
        <p14:creationId xmlns:p14="http://schemas.microsoft.com/office/powerpoint/2010/main" val="33861738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Важно</a:t>
            </a:r>
            <a:endParaRPr lang="ru-RU" dirty="0"/>
          </a:p>
        </p:txBody>
      </p:sp>
      <p:sp>
        <p:nvSpPr>
          <p:cNvPr id="3" name="Объект 2"/>
          <p:cNvSpPr>
            <a:spLocks noGrp="1"/>
          </p:cNvSpPr>
          <p:nvPr>
            <p:ph idx="1"/>
          </p:nvPr>
        </p:nvSpPr>
        <p:spPr/>
        <p:txBody>
          <a:bodyPr/>
          <a:lstStyle/>
          <a:p>
            <a:pPr marL="0" indent="0" algn="just">
              <a:buNone/>
            </a:pPr>
            <a:r>
              <a:rPr lang="ru-RU" dirty="0"/>
              <a:t>Форму проведения инструктажа можно выбрать любую (от устного пересказа до демонстрации </a:t>
            </a:r>
            <a:r>
              <a:rPr lang="ru-RU" dirty="0" err="1"/>
              <a:t>видероликов</a:t>
            </a:r>
            <a:r>
              <a:rPr lang="ru-RU" dirty="0" smtClean="0"/>
              <a:t>).</a:t>
            </a:r>
          </a:p>
          <a:p>
            <a:pPr marL="0" indent="0" algn="just">
              <a:buNone/>
            </a:pPr>
            <a:endParaRPr lang="ru-RU" dirty="0"/>
          </a:p>
          <a:p>
            <a:pPr marL="0" indent="0" algn="just">
              <a:buNone/>
            </a:pPr>
            <a:r>
              <a:rPr lang="ru-RU" b="1" dirty="0" smtClean="0">
                <a:solidFill>
                  <a:srgbClr val="FF0000"/>
                </a:solidFill>
                <a:effectLst>
                  <a:outerShdw blurRad="38100" dist="38100" dir="2700000" algn="tl">
                    <a:srgbClr val="000000">
                      <a:alpha val="43137"/>
                    </a:srgbClr>
                  </a:outerShdw>
                </a:effectLst>
              </a:rPr>
              <a:t>!!!!Программа </a:t>
            </a:r>
            <a:r>
              <a:rPr lang="ru-RU" b="1" dirty="0">
                <a:solidFill>
                  <a:srgbClr val="FF0000"/>
                </a:solidFill>
                <a:effectLst>
                  <a:outerShdw blurRad="38100" dist="38100" dir="2700000" algn="tl">
                    <a:srgbClr val="000000">
                      <a:alpha val="43137"/>
                    </a:srgbClr>
                  </a:outerShdw>
                </a:effectLst>
              </a:rPr>
              <a:t>инструктажа придётся существенно пересмотреть, придерживаясь тематики и последовательности изложения, указанных в приложении 1 в Правилам.</a:t>
            </a:r>
          </a:p>
          <a:p>
            <a:pPr marL="0" indent="0">
              <a:buNone/>
            </a:pPr>
            <a:endParaRPr lang="ru-RU" dirty="0"/>
          </a:p>
        </p:txBody>
      </p:sp>
    </p:spTree>
    <p:extLst>
      <p:ext uri="{BB962C8B-B14F-4D97-AF65-F5344CB8AC3E}">
        <p14:creationId xmlns:p14="http://schemas.microsoft.com/office/powerpoint/2010/main" val="12002287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Первичный инструктаж</a:t>
            </a:r>
          </a:p>
        </p:txBody>
      </p:sp>
      <p:sp>
        <p:nvSpPr>
          <p:cNvPr id="3" name="Объект 2"/>
          <p:cNvSpPr>
            <a:spLocks noGrp="1"/>
          </p:cNvSpPr>
          <p:nvPr>
            <p:ph idx="1"/>
          </p:nvPr>
        </p:nvSpPr>
        <p:spPr/>
        <p:txBody>
          <a:bodyPr>
            <a:normAutofit fontScale="92500"/>
          </a:bodyPr>
          <a:lstStyle/>
          <a:p>
            <a:pPr marL="0" indent="0" algn="just">
              <a:buNone/>
            </a:pPr>
            <a:r>
              <a:rPr lang="ru-RU" dirty="0"/>
              <a:t>Допускается освобождение отдельных категорий работников от прохождения первичного инструктажа по охране труда в случае, если их трудовая деятельность связана с опасностью, источниками которой являются персональные электронно- вычислительные машины (персональные компьютеры), аппараты копировально-множительной техники настольного типа, единичные стационарные копировально-множительные аппараты, используемые периодически для нужд самой организации, иная офисная организационная техника, а также бытовая техника, не используемая в технологическом процессе производства, и при этом другие источники опасности отсутствуют, а условия труда по результатам проведения СОУТ являются оптимальными или допустимыми (класс 1 или 2).</a:t>
            </a:r>
            <a:endParaRPr lang="ru-RU" dirty="0"/>
          </a:p>
        </p:txBody>
      </p:sp>
    </p:spTree>
    <p:extLst>
      <p:ext uri="{BB962C8B-B14F-4D97-AF65-F5344CB8AC3E}">
        <p14:creationId xmlns:p14="http://schemas.microsoft.com/office/powerpoint/2010/main" val="32346714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pPr marL="0" indent="0" algn="just">
              <a:buNone/>
            </a:pPr>
            <a:r>
              <a:rPr lang="ru-RU" dirty="0"/>
              <a:t>Информация о безопасных методах и приёмах выполнения работ для освобожденных от инструктажа при наличии такой опасности должна быть включена в программу вводного инструктажа по охране труда. Не забудьте, что перечень профессий и должностей работников, освобождённых от прохождения первичного инструктажа по охране труда, утверждается работодателем</a:t>
            </a:r>
            <a:r>
              <a:rPr lang="ru-RU" dirty="0" smtClean="0"/>
              <a:t>.</a:t>
            </a:r>
          </a:p>
          <a:p>
            <a:pPr marL="0" indent="0" algn="ctr">
              <a:buNone/>
            </a:pPr>
            <a:r>
              <a:rPr lang="ru-RU" b="1" dirty="0">
                <a:solidFill>
                  <a:srgbClr val="FF0000"/>
                </a:solidFill>
                <a:effectLst>
                  <a:outerShdw blurRad="38100" dist="38100" dir="2700000" algn="tl">
                    <a:srgbClr val="000000">
                      <a:alpha val="43137"/>
                    </a:srgbClr>
                  </a:outerShdw>
                </a:effectLst>
              </a:rPr>
              <a:t>Важно: не проводите первичный инструктаж с работниками подрядных организаций – у них есть для этого свой работодатель, он им и проведёт.</a:t>
            </a:r>
            <a:endParaRPr lang="ru-RU"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8625493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a:t>Внеплановый инструктаж</a:t>
            </a:r>
          </a:p>
        </p:txBody>
      </p:sp>
      <p:sp>
        <p:nvSpPr>
          <p:cNvPr id="3" name="Объект 2"/>
          <p:cNvSpPr>
            <a:spLocks noGrp="1"/>
          </p:cNvSpPr>
          <p:nvPr>
            <p:ph idx="1"/>
          </p:nvPr>
        </p:nvSpPr>
        <p:spPr/>
        <p:txBody>
          <a:bodyPr>
            <a:normAutofit fontScale="85000" lnSpcReduction="10000"/>
          </a:bodyPr>
          <a:lstStyle/>
          <a:p>
            <a:pPr marL="0" indent="0" algn="just">
              <a:buNone/>
            </a:pPr>
            <a:r>
              <a:rPr lang="ru-RU" dirty="0" smtClean="0"/>
              <a:t>	Здесь </a:t>
            </a:r>
            <a:r>
              <a:rPr lang="ru-RU" dirty="0"/>
              <a:t>произошли существенные изменения. Инструктаж можно проводить при перерыве в работе более 60 календарных дней. Ранее этот срок был в 2 раза короче. Теперь появилось ещё одно основание для проведение внепланового инструктажа: выявление дополнительных к имеющимся на рабочем месте производственных факторов и источников опасности в рамках проведения СУОТ и ОПР (</a:t>
            </a:r>
            <a:r>
              <a:rPr lang="ru-RU" u="sng" dirty="0">
                <a:hlinkClick r:id="rId2"/>
              </a:rPr>
              <a:t>оценка профессиональных рисков</a:t>
            </a:r>
            <a:r>
              <a:rPr lang="ru-RU" dirty="0"/>
              <a:t>), представляющих угрозу жизни и здоровью работников. Внеплановый инструктаж в этом случае нужно провести для информирования работников о мероприятиях, предусмотренных в локальных нормативных актах, разработанных с целью минимизации выявленных рисков.</a:t>
            </a:r>
          </a:p>
          <a:p>
            <a:pPr marL="0" indent="0" algn="just">
              <a:buNone/>
            </a:pPr>
            <a:r>
              <a:rPr lang="ru-RU" dirty="0" smtClean="0"/>
              <a:t>	Например</a:t>
            </a:r>
            <a:r>
              <a:rPr lang="ru-RU" dirty="0"/>
              <a:t>, если вы выявили опасность обрушения части здания, нужно не только оградить опасную зону и установить знаки безопасности, но довести информацию до работников о возникшей опасности и рисках, которые она в себе несёт.</a:t>
            </a:r>
          </a:p>
          <a:p>
            <a:pPr marL="0" indent="0" algn="just">
              <a:buNone/>
            </a:pPr>
            <a:endParaRPr lang="ru-RU" dirty="0"/>
          </a:p>
        </p:txBody>
      </p:sp>
    </p:spTree>
    <p:extLst>
      <p:ext uri="{BB962C8B-B14F-4D97-AF65-F5344CB8AC3E}">
        <p14:creationId xmlns:p14="http://schemas.microsoft.com/office/powerpoint/2010/main" val="11192797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Внеплановый инструктаж обязательно проводится ещё в двух случаях:</a:t>
            </a:r>
          </a:p>
        </p:txBody>
      </p:sp>
      <p:sp>
        <p:nvSpPr>
          <p:cNvPr id="3" name="Объект 2"/>
          <p:cNvSpPr>
            <a:spLocks noGrp="1"/>
          </p:cNvSpPr>
          <p:nvPr>
            <p:ph idx="1"/>
          </p:nvPr>
        </p:nvSpPr>
        <p:spPr/>
        <p:txBody>
          <a:bodyPr/>
          <a:lstStyle/>
          <a:p>
            <a:pPr algn="just"/>
            <a:r>
              <a:rPr lang="ru-RU" dirty="0"/>
              <a:t>в случае изменений в эксплуатации оборудования, технологических процессах, использовании сырья и материалов, влияющих на безопасность труда;</a:t>
            </a:r>
          </a:p>
          <a:p>
            <a:pPr algn="just"/>
            <a:r>
              <a:rPr lang="ru-RU" dirty="0"/>
              <a:t>в случае изменений в должностных (функциональных) обязанностей работников, непосредственно связанных с осуществлением производственной деятельности, влияющей на безопасность труда</a:t>
            </a:r>
            <a:r>
              <a:rPr lang="ru-RU" dirty="0" smtClean="0"/>
              <a:t>.</a:t>
            </a:r>
          </a:p>
          <a:p>
            <a:pPr marL="0" indent="0" algn="ctr">
              <a:buNone/>
            </a:pPr>
            <a:r>
              <a:rPr lang="ru-RU" b="1" dirty="0" smtClean="0">
                <a:solidFill>
                  <a:srgbClr val="FF0000"/>
                </a:solidFill>
                <a:effectLst>
                  <a:outerShdw blurRad="38100" dist="38100" dir="2700000" algn="tl">
                    <a:srgbClr val="000000">
                      <a:alpha val="43137"/>
                    </a:srgbClr>
                  </a:outerShdw>
                </a:effectLst>
              </a:rPr>
              <a:t>Указанные </a:t>
            </a:r>
            <a:r>
              <a:rPr lang="ru-RU" b="1" dirty="0">
                <a:solidFill>
                  <a:srgbClr val="FF0000"/>
                </a:solidFill>
                <a:effectLst>
                  <a:outerShdw blurRad="38100" dist="38100" dir="2700000" algn="tl">
                    <a:srgbClr val="000000">
                      <a:alpha val="43137"/>
                    </a:srgbClr>
                  </a:outerShdw>
                </a:effectLst>
              </a:rPr>
              <a:t>случаи являются основаниями для актуализации программ обучения требованиям охраны труда, оказанию первой помощи пострадавшим, использованию (применению) СИЗ</a:t>
            </a:r>
          </a:p>
          <a:p>
            <a:pPr marL="0" indent="0" algn="ctr">
              <a:buNone/>
            </a:pPr>
            <a:endParaRPr lang="ru-RU"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816186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ВНИМАНИЕ</a:t>
            </a:r>
            <a:endParaRPr lang="ru-RU" dirty="0"/>
          </a:p>
        </p:txBody>
      </p:sp>
      <p:sp>
        <p:nvSpPr>
          <p:cNvPr id="3" name="Объект 2"/>
          <p:cNvSpPr>
            <a:spLocks noGrp="1"/>
          </p:cNvSpPr>
          <p:nvPr>
            <p:ph idx="1"/>
          </p:nvPr>
        </p:nvSpPr>
        <p:spPr/>
        <p:txBody>
          <a:bodyPr>
            <a:normAutofit lnSpcReduction="10000"/>
          </a:bodyPr>
          <a:lstStyle/>
          <a:p>
            <a:pPr marL="0" indent="0" algn="just">
              <a:buNone/>
            </a:pPr>
            <a:r>
              <a:rPr lang="ru-RU" dirty="0"/>
              <a:t>Обратите внимание! В связи с изменениями НПА, содержащих государственные нормативные требования охраны труда, затрагивающими непосредственно трудовые функции работника, а также изменениями ЛНА организации, затрагивающими требования охраны труда в организации, необходимо проводить </a:t>
            </a:r>
            <a:r>
              <a:rPr lang="ru-RU" dirty="0" smtClean="0"/>
              <a:t>внеплановый </a:t>
            </a:r>
            <a:r>
              <a:rPr lang="ru-RU" dirty="0"/>
              <a:t>инструктаж</a:t>
            </a:r>
            <a:r>
              <a:rPr lang="ru-RU" dirty="0" smtClean="0"/>
              <a:t>.</a:t>
            </a:r>
          </a:p>
          <a:p>
            <a:pPr marL="0" indent="0" algn="just">
              <a:buNone/>
            </a:pPr>
            <a:r>
              <a:rPr lang="ru-RU" dirty="0" smtClean="0">
                <a:solidFill>
                  <a:srgbClr val="FF0000"/>
                </a:solidFill>
                <a:effectLst>
                  <a:outerShdw blurRad="38100" dist="38100" dir="2700000" algn="tl">
                    <a:srgbClr val="000000">
                      <a:alpha val="43137"/>
                    </a:srgbClr>
                  </a:outerShdw>
                </a:effectLst>
              </a:rPr>
              <a:t>!!!!</a:t>
            </a:r>
            <a:r>
              <a:rPr lang="ru-RU" dirty="0">
                <a:solidFill>
                  <a:srgbClr val="FF0000"/>
                </a:solidFill>
                <a:effectLst>
                  <a:outerShdw blurRad="38100" dist="38100" dir="2700000" algn="tl">
                    <a:srgbClr val="000000">
                      <a:alpha val="43137"/>
                    </a:srgbClr>
                  </a:outerShdw>
                </a:effectLst>
              </a:rPr>
              <a:t> То сеть, если изменения в нормативных актах непосредственно не касаются производственной деятельности работника, не влечёт за собой изменений в ЛНА, связанных с выполнением работником его обязанностей, то внеплановый инструктаж проводить не нужно!</a:t>
            </a:r>
            <a:endParaRPr lang="ru-RU"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98656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dirty="0"/>
              <a:t>Журналы регистрации инструктажей</a:t>
            </a:r>
          </a:p>
        </p:txBody>
      </p:sp>
      <p:sp>
        <p:nvSpPr>
          <p:cNvPr id="3" name="Объект 2"/>
          <p:cNvSpPr>
            <a:spLocks noGrp="1"/>
          </p:cNvSpPr>
          <p:nvPr>
            <p:ph idx="1"/>
          </p:nvPr>
        </p:nvSpPr>
        <p:spPr/>
        <p:txBody>
          <a:bodyPr/>
          <a:lstStyle/>
          <a:p>
            <a:pPr marL="0" indent="0" algn="ctr">
              <a:buNone/>
            </a:pPr>
            <a:endParaRPr lang="ru-RU" sz="4000" dirty="0" smtClean="0"/>
          </a:p>
          <a:p>
            <a:pPr marL="0" indent="0" algn="ctr">
              <a:buNone/>
            </a:pPr>
            <a:r>
              <a:rPr lang="ru-RU" sz="4000" dirty="0" smtClean="0"/>
              <a:t>Изменились </a:t>
            </a:r>
            <a:r>
              <a:rPr lang="ru-RU" sz="4000" dirty="0"/>
              <a:t>требования к журналам регистрации инструктажей, как вводного, так и на рабочем месте.</a:t>
            </a:r>
            <a:r>
              <a:rPr lang="ru-RU" dirty="0"/>
              <a:t> </a:t>
            </a:r>
            <a:endParaRPr lang="ru-RU" dirty="0"/>
          </a:p>
        </p:txBody>
      </p:sp>
    </p:spTree>
    <p:extLst>
      <p:ext uri="{BB962C8B-B14F-4D97-AF65-F5344CB8AC3E}">
        <p14:creationId xmlns:p14="http://schemas.microsoft.com/office/powerpoint/2010/main" val="10057623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dirty="0"/>
              <a:t>Пример оформления записей в журнале вводного инструктажа</a:t>
            </a:r>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519901"/>
            <a:ext cx="8229600" cy="3037398"/>
          </a:xfrm>
        </p:spPr>
      </p:pic>
    </p:spTree>
    <p:extLst>
      <p:ext uri="{BB962C8B-B14F-4D97-AF65-F5344CB8AC3E}">
        <p14:creationId xmlns:p14="http://schemas.microsoft.com/office/powerpoint/2010/main" val="29305429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2400" dirty="0"/>
              <a:t>Пример оформления записей в журнале инструктажа на рабочем месте (первичного, повторного, внепланового)</a:t>
            </a:r>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323608"/>
            <a:ext cx="8229600" cy="3429983"/>
          </a:xfrm>
        </p:spPr>
      </p:pic>
    </p:spTree>
    <p:extLst>
      <p:ext uri="{BB962C8B-B14F-4D97-AF65-F5344CB8AC3E}">
        <p14:creationId xmlns:p14="http://schemas.microsoft.com/office/powerpoint/2010/main" val="3794951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ВАЖНО</a:t>
            </a:r>
            <a:endParaRPr lang="ru-RU" dirty="0"/>
          </a:p>
        </p:txBody>
      </p:sp>
      <p:sp>
        <p:nvSpPr>
          <p:cNvPr id="3" name="Объект 2"/>
          <p:cNvSpPr>
            <a:spLocks noGrp="1"/>
          </p:cNvSpPr>
          <p:nvPr>
            <p:ph idx="1"/>
          </p:nvPr>
        </p:nvSpPr>
        <p:spPr/>
        <p:txBody>
          <a:bodyPr/>
          <a:lstStyle/>
          <a:p>
            <a:pPr marL="0" indent="0" algn="ctr">
              <a:buNone/>
            </a:pPr>
            <a:r>
              <a:rPr lang="ru-RU" sz="3200" dirty="0"/>
              <a:t>Чтобы привести в соответствие новым требованиям ваши локальные документы, регламентирующие организацию и фиксирующие проведение инструктажей, нужно либо внести в них изменения, либо разработать документы заново. </a:t>
            </a:r>
            <a:endParaRPr lang="ru-RU" sz="3200" dirty="0" smtClean="0"/>
          </a:p>
          <a:p>
            <a:pPr marL="0" indent="0" algn="ctr">
              <a:buNone/>
            </a:pPr>
            <a:r>
              <a:rPr lang="ru-RU" sz="3200" dirty="0" smtClean="0"/>
              <a:t>Мы </a:t>
            </a:r>
            <a:r>
              <a:rPr lang="ru-RU" sz="3200" dirty="0"/>
              <a:t>рекомендуем второй способ</a:t>
            </a:r>
            <a:r>
              <a:rPr lang="ru-RU" dirty="0"/>
              <a:t>.</a:t>
            </a:r>
            <a:endParaRPr lang="ru-RU" dirty="0"/>
          </a:p>
        </p:txBody>
      </p:sp>
    </p:spTree>
    <p:extLst>
      <p:ext uri="{BB962C8B-B14F-4D97-AF65-F5344CB8AC3E}">
        <p14:creationId xmlns:p14="http://schemas.microsoft.com/office/powerpoint/2010/main" val="7578598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r>
              <a:rPr lang="ru-RU" sz="2400" dirty="0"/>
              <a:t>Итак, что нужно сделать, чтобы перейти на новый порядок обучения по охране труда в части организации инструктажей</a:t>
            </a:r>
          </a:p>
        </p:txBody>
      </p:sp>
      <p:graphicFrame>
        <p:nvGraphicFramePr>
          <p:cNvPr id="4" name="Объект 3"/>
          <p:cNvGraphicFramePr>
            <a:graphicFrameLocks noGrp="1"/>
          </p:cNvGraphicFramePr>
          <p:nvPr>
            <p:ph idx="1"/>
            <p:extLst>
              <p:ext uri="{D42A27DB-BD31-4B8C-83A1-F6EECF244321}">
                <p14:modId xmlns:p14="http://schemas.microsoft.com/office/powerpoint/2010/main" val="2925225040"/>
              </p:ext>
            </p:extLst>
          </p:nvPr>
        </p:nvGraphicFramePr>
        <p:xfrm>
          <a:off x="457200" y="1600200"/>
          <a:ext cx="8229600" cy="3576320"/>
        </p:xfrm>
        <a:graphic>
          <a:graphicData uri="http://schemas.openxmlformats.org/drawingml/2006/table">
            <a:tbl>
              <a:tblPr firstRow="1" bandRow="1">
                <a:tableStyleId>{5C22544A-7EE6-4342-B048-85BDC9FD1C3A}</a:tableStyleId>
              </a:tblPr>
              <a:tblGrid>
                <a:gridCol w="4114800"/>
                <a:gridCol w="4114800"/>
              </a:tblGrid>
              <a:tr h="370840">
                <a:tc>
                  <a:txBody>
                    <a:bodyPr/>
                    <a:lstStyle/>
                    <a:p>
                      <a:pPr algn="ctr"/>
                      <a:r>
                        <a:rPr lang="ru-RU" b="1" dirty="0">
                          <a:effectLst/>
                        </a:rPr>
                        <a:t>Мероприятие</a:t>
                      </a:r>
                      <a:endParaRPr lang="ru-RU" dirty="0">
                        <a:effectLst/>
                      </a:endParaRPr>
                    </a:p>
                  </a:txBody>
                  <a:tcPr anchor="ctr"/>
                </a:tc>
                <a:tc>
                  <a:txBody>
                    <a:bodyPr/>
                    <a:lstStyle/>
                    <a:p>
                      <a:pPr algn="ctr"/>
                      <a:r>
                        <a:rPr lang="ru-RU" b="1" dirty="0">
                          <a:effectLst/>
                        </a:rPr>
                        <a:t>Срок проведения</a:t>
                      </a:r>
                      <a:endParaRPr lang="ru-RU" dirty="0">
                        <a:effectLst/>
                      </a:endParaRPr>
                    </a:p>
                  </a:txBody>
                  <a:tcPr anchor="ctr"/>
                </a:tc>
              </a:tr>
              <a:tr h="370840">
                <a:tc>
                  <a:txBody>
                    <a:bodyPr/>
                    <a:lstStyle/>
                    <a:p>
                      <a:pPr algn="just"/>
                      <a:r>
                        <a:rPr lang="ru-RU" sz="1200" b="0" i="0" kern="1200" dirty="0" smtClean="0">
                          <a:solidFill>
                            <a:schemeClr val="dk1"/>
                          </a:solidFill>
                          <a:effectLst/>
                          <a:latin typeface="+mn-lt"/>
                          <a:ea typeface="+mn-ea"/>
                          <a:cs typeface="+mn-cs"/>
                        </a:rPr>
                        <a:t>Разработать (актуализировать) программу вводного инструктажа по охране труда на основе примерного перечня тем согласно приложению № 1 Правил с учетом специфики деятельности организации, и утвердить её работодателем с учетом мнения профсоюзного или иного уполномоченного работниками органа (при наличии).</a:t>
                      </a:r>
                      <a:endParaRPr lang="ru-RU" sz="1200" dirty="0"/>
                    </a:p>
                  </a:txBody>
                  <a:tcPr/>
                </a:tc>
                <a:tc>
                  <a:txBody>
                    <a:bodyPr/>
                    <a:lstStyle/>
                    <a:p>
                      <a:pPr algn="ctr"/>
                      <a:r>
                        <a:rPr lang="ru-RU" sz="1400" b="0" i="0" smtClean="0">
                          <a:solidFill>
                            <a:srgbClr val="111111"/>
                          </a:solidFill>
                          <a:effectLst/>
                          <a:latin typeface="Montserrat"/>
                        </a:rPr>
                        <a:t>к 01.09.2022 г.</a:t>
                      </a:r>
                      <a:endParaRPr lang="ru-RU" sz="1400" dirty="0"/>
                    </a:p>
                  </a:txBody>
                  <a:tcPr/>
                </a:tc>
              </a:tr>
              <a:tr h="370840">
                <a:tc>
                  <a:txBody>
                    <a:bodyPr/>
                    <a:lstStyle/>
                    <a:p>
                      <a:pPr algn="just"/>
                      <a:r>
                        <a:rPr lang="ru-RU" sz="1200" dirty="0">
                          <a:effectLst/>
                        </a:rPr>
                        <a:t>Разработать (актуализировать) и утвердить перечень профессий и должностей работников, освобожденных от прохождения первичного инструктажа по охране труда, утвердите его у работодателя.</a:t>
                      </a:r>
                    </a:p>
                  </a:txBody>
                  <a:tcPr anchor="ctr"/>
                </a:tc>
                <a:tc>
                  <a:txBody>
                    <a:bodyPr/>
                    <a:lstStyle/>
                    <a:p>
                      <a:pPr algn="ctr"/>
                      <a:r>
                        <a:rPr lang="ru-RU" sz="1400" b="0" i="0" smtClean="0">
                          <a:solidFill>
                            <a:srgbClr val="111111"/>
                          </a:solidFill>
                          <a:effectLst/>
                          <a:latin typeface="Montserrat"/>
                        </a:rPr>
                        <a:t>к 01.09.2022 г.</a:t>
                      </a:r>
                      <a:endParaRPr lang="ru-RU" sz="1400" dirty="0"/>
                    </a:p>
                  </a:txBody>
                  <a:tcPr/>
                </a:tc>
              </a:tr>
              <a:tr h="370840">
                <a:tc>
                  <a:txBody>
                    <a:bodyPr/>
                    <a:lstStyle/>
                    <a:p>
                      <a:pPr algn="just"/>
                      <a:r>
                        <a:rPr lang="ru-RU" sz="1200" dirty="0">
                          <a:effectLst/>
                        </a:rPr>
                        <a:t>Подготовьте журналы *</a:t>
                      </a:r>
                    </a:p>
                  </a:txBody>
                  <a:tcPr anchor="ctr"/>
                </a:tc>
                <a:tc>
                  <a:txBody>
                    <a:bodyPr/>
                    <a:lstStyle/>
                    <a:p>
                      <a:pPr algn="ctr"/>
                      <a:r>
                        <a:rPr lang="ru-RU" sz="1400" b="0" i="0" smtClean="0">
                          <a:solidFill>
                            <a:srgbClr val="111111"/>
                          </a:solidFill>
                          <a:effectLst/>
                          <a:latin typeface="Montserrat"/>
                        </a:rPr>
                        <a:t>к 01.09.2022 г.</a:t>
                      </a:r>
                      <a:endParaRPr lang="ru-RU" sz="1400" dirty="0"/>
                    </a:p>
                  </a:txBody>
                  <a:tcPr/>
                </a:tc>
              </a:tr>
              <a:tr h="370840">
                <a:tc>
                  <a:txBody>
                    <a:bodyPr/>
                    <a:lstStyle/>
                    <a:p>
                      <a:pPr algn="just"/>
                      <a:r>
                        <a:rPr lang="ru-RU" sz="1200" dirty="0">
                          <a:effectLst/>
                        </a:rPr>
                        <a:t>Определите порядок организации целевого инструктажа на рабочем месте, утвердите его в Положении о СУОТ.</a:t>
                      </a:r>
                    </a:p>
                  </a:txBody>
                  <a:tcPr anchor="ctr"/>
                </a:tc>
                <a:tc>
                  <a:txBody>
                    <a:bodyPr/>
                    <a:lstStyle/>
                    <a:p>
                      <a:pPr algn="ctr"/>
                      <a:r>
                        <a:rPr lang="ru-RU" sz="1400" b="0" i="0" dirty="0" smtClean="0">
                          <a:solidFill>
                            <a:srgbClr val="111111"/>
                          </a:solidFill>
                          <a:effectLst/>
                          <a:latin typeface="Montserrat"/>
                        </a:rPr>
                        <a:t>к 01.09.2022 г.</a:t>
                      </a:r>
                      <a:endParaRPr lang="ru-RU" sz="1400" dirty="0"/>
                    </a:p>
                  </a:txBody>
                  <a:tcPr/>
                </a:tc>
              </a:tr>
            </a:tbl>
          </a:graphicData>
        </a:graphic>
      </p:graphicFrame>
    </p:spTree>
    <p:extLst>
      <p:ext uri="{BB962C8B-B14F-4D97-AF65-F5344CB8AC3E}">
        <p14:creationId xmlns:p14="http://schemas.microsoft.com/office/powerpoint/2010/main" val="39167183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p:nvPr>
        </p:nvSpPr>
        <p:spPr/>
        <p:txBody>
          <a:bodyPr/>
          <a:lstStyle/>
          <a:p>
            <a:pPr algn="ctr"/>
            <a:r>
              <a:rPr lang="ru-RU" sz="3200" dirty="0"/>
              <a:t>Обучение по оказанию первой помощи в структуре обучения охране по охране труда</a:t>
            </a:r>
          </a:p>
        </p:txBody>
      </p:sp>
      <p:sp>
        <p:nvSpPr>
          <p:cNvPr id="5" name="Подзаголовок 4"/>
          <p:cNvSpPr>
            <a:spLocks noGrp="1"/>
          </p:cNvSpPr>
          <p:nvPr>
            <p:ph type="subTitle" idx="1"/>
          </p:nvPr>
        </p:nvSpPr>
        <p:spPr/>
        <p:txBody>
          <a:bodyPr/>
          <a:lstStyle/>
          <a:p>
            <a:endParaRPr lang="ru-RU"/>
          </a:p>
        </p:txBody>
      </p:sp>
    </p:spTree>
    <p:extLst>
      <p:ext uri="{BB962C8B-B14F-4D97-AF65-F5344CB8AC3E}">
        <p14:creationId xmlns:p14="http://schemas.microsoft.com/office/powerpoint/2010/main" val="29882480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Что изменилось</a:t>
            </a:r>
            <a:endParaRPr lang="ru-RU" dirty="0"/>
          </a:p>
        </p:txBody>
      </p:sp>
      <p:sp>
        <p:nvSpPr>
          <p:cNvPr id="3" name="Объект 2"/>
          <p:cNvSpPr>
            <a:spLocks noGrp="1"/>
          </p:cNvSpPr>
          <p:nvPr>
            <p:ph idx="1"/>
          </p:nvPr>
        </p:nvSpPr>
        <p:spPr/>
        <p:txBody>
          <a:bodyPr/>
          <a:lstStyle/>
          <a:p>
            <a:pPr marL="0" indent="0" algn="just">
              <a:buNone/>
            </a:pPr>
            <a:r>
              <a:rPr lang="ru-RU" dirty="0" smtClean="0"/>
              <a:t>	Обучение </a:t>
            </a:r>
            <a:r>
              <a:rPr lang="ru-RU" dirty="0"/>
              <a:t>по оказанию первой помощи </a:t>
            </a:r>
            <a:r>
              <a:rPr lang="ru-RU" dirty="0" smtClean="0"/>
              <a:t>само </a:t>
            </a:r>
            <a:r>
              <a:rPr lang="ru-RU" dirty="0"/>
              <a:t>по себе не является новшеством. Оно и раньше организовывалось, как самостоятельный вид обучения или включалось в программу обучения по охране труда. Эта логика сохранится и после 1 сентября 2022 г., но порядок его организации и проведения изменится и нужно будет всё привести в соответствие новым требованиям, что потребует не только внести изменения в локальные нормативные акты, но и подготовить преподавателей, а также материально обеспечит процесс всеми необходимыми учебными пособиями для отработки практических навыков оказания первой помощи.</a:t>
            </a:r>
            <a:endParaRPr lang="ru-RU" dirty="0"/>
          </a:p>
        </p:txBody>
      </p:sp>
    </p:spTree>
    <p:extLst>
      <p:ext uri="{BB962C8B-B14F-4D97-AF65-F5344CB8AC3E}">
        <p14:creationId xmlns:p14="http://schemas.microsoft.com/office/powerpoint/2010/main" val="542212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Что </a:t>
            </a:r>
            <a:r>
              <a:rPr lang="ru-RU" dirty="0" err="1" smtClean="0"/>
              <a:t>такон</a:t>
            </a:r>
            <a:r>
              <a:rPr lang="ru-RU" dirty="0" smtClean="0"/>
              <a:t> ОПП?</a:t>
            </a:r>
            <a:endParaRPr lang="ru-RU" dirty="0"/>
          </a:p>
        </p:txBody>
      </p:sp>
      <p:sp>
        <p:nvSpPr>
          <p:cNvPr id="3" name="Объект 2"/>
          <p:cNvSpPr>
            <a:spLocks noGrp="1"/>
          </p:cNvSpPr>
          <p:nvPr>
            <p:ph idx="1"/>
          </p:nvPr>
        </p:nvSpPr>
        <p:spPr/>
        <p:txBody>
          <a:bodyPr/>
          <a:lstStyle/>
          <a:p>
            <a:pPr marL="0" indent="0" algn="just">
              <a:buNone/>
            </a:pPr>
            <a:r>
              <a:rPr lang="ru-RU" b="1" dirty="0"/>
              <a:t>Обучение первой помощи</a:t>
            </a:r>
            <a:r>
              <a:rPr lang="ru-RU" dirty="0"/>
              <a:t> – процесс получения работниками знаний, умений и навыков, позволяющих оказывать первую помощь до оказания медицинской помощи работникам при несчастных случаях на производстве, травмах, отравлениях и других состояниях и заболеваниях, угрожающих их жизни и здоровью (п. 32 Правил).</a:t>
            </a:r>
            <a:endParaRPr lang="ru-RU" dirty="0"/>
          </a:p>
        </p:txBody>
      </p:sp>
    </p:spTree>
    <p:extLst>
      <p:ext uri="{BB962C8B-B14F-4D97-AF65-F5344CB8AC3E}">
        <p14:creationId xmlns:p14="http://schemas.microsoft.com/office/powerpoint/2010/main" val="25960867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dirty="0"/>
              <a:t>Продолжительность обучения </a:t>
            </a:r>
            <a:r>
              <a:rPr lang="ru-RU" dirty="0" smtClean="0"/>
              <a:t/>
            </a:r>
            <a:br>
              <a:rPr lang="ru-RU" dirty="0" smtClean="0"/>
            </a:br>
            <a:r>
              <a:rPr lang="ru-RU" dirty="0" smtClean="0"/>
              <a:t>первой </a:t>
            </a:r>
            <a:r>
              <a:rPr lang="ru-RU" dirty="0"/>
              <a:t>помощи</a:t>
            </a:r>
          </a:p>
        </p:txBody>
      </p:sp>
      <p:sp>
        <p:nvSpPr>
          <p:cNvPr id="3" name="Объект 2"/>
          <p:cNvSpPr>
            <a:spLocks noGrp="1"/>
          </p:cNvSpPr>
          <p:nvPr>
            <p:ph idx="1"/>
          </p:nvPr>
        </p:nvSpPr>
        <p:spPr/>
        <p:txBody>
          <a:bodyPr/>
          <a:lstStyle/>
          <a:p>
            <a:pPr marL="0" indent="0" algn="just">
              <a:buNone/>
            </a:pPr>
            <a:r>
              <a:rPr lang="ru-RU" dirty="0"/>
              <a:t>Уже из определения понятно, что процесс обучения должен сочетать в себе теорию и практику. Время на них должно делиться поровну. При минимально установленной продолжительности обучения первой помощи 8 часов, по 4 часа нужно отводить для теоретического изучения тем и 4 часа проводить практическую отработку приёмов оказания первой помощи.</a:t>
            </a:r>
            <a:endParaRPr lang="ru-RU" dirty="0"/>
          </a:p>
        </p:txBody>
      </p:sp>
    </p:spTree>
    <p:extLst>
      <p:ext uri="{BB962C8B-B14F-4D97-AF65-F5344CB8AC3E}">
        <p14:creationId xmlns:p14="http://schemas.microsoft.com/office/powerpoint/2010/main" val="35439440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dirty="0"/>
              <a:t>Периодичность обучения </a:t>
            </a:r>
            <a:r>
              <a:rPr lang="ru-RU" dirty="0" smtClean="0"/>
              <a:t/>
            </a:r>
            <a:br>
              <a:rPr lang="ru-RU" dirty="0" smtClean="0"/>
            </a:br>
            <a:r>
              <a:rPr lang="ru-RU" dirty="0" smtClean="0"/>
              <a:t>первой </a:t>
            </a:r>
            <a:r>
              <a:rPr lang="ru-RU" dirty="0"/>
              <a:t>помощи</a:t>
            </a:r>
          </a:p>
        </p:txBody>
      </p:sp>
      <p:pic>
        <p:nvPicPr>
          <p:cNvPr id="5" name="Объект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1800" y="2662609"/>
            <a:ext cx="5715000" cy="1837583"/>
          </a:xfrm>
        </p:spPr>
      </p:pic>
      <p:sp>
        <p:nvSpPr>
          <p:cNvPr id="4" name="Текст 3"/>
          <p:cNvSpPr>
            <a:spLocks noGrp="1"/>
          </p:cNvSpPr>
          <p:nvPr>
            <p:ph type="body" sz="half" idx="2"/>
          </p:nvPr>
        </p:nvSpPr>
        <p:spPr/>
        <p:txBody>
          <a:bodyPr/>
          <a:lstStyle/>
          <a:p>
            <a:pPr algn="just"/>
            <a:r>
              <a:rPr lang="ru-RU" dirty="0"/>
              <a:t>Обучение первой помощи проводится:</a:t>
            </a:r>
          </a:p>
          <a:p>
            <a:pPr marL="285750" indent="-285750" algn="just">
              <a:buFont typeface="Wingdings" panose="05000000000000000000" pitchFamily="2" charset="2"/>
              <a:buChar char="Ø"/>
            </a:pPr>
            <a:r>
              <a:rPr lang="ru-RU" dirty="0"/>
              <a:t>впервые – всем принимаемым на работу лицам, а также работникам, переводимым на другую работу – в срок не позднее 60 календарных дней;</a:t>
            </a:r>
          </a:p>
          <a:p>
            <a:pPr marL="285750" indent="-285750" algn="just">
              <a:buFont typeface="Wingdings" panose="05000000000000000000" pitchFamily="2" charset="2"/>
              <a:buChar char="Ø"/>
            </a:pPr>
            <a:r>
              <a:rPr lang="ru-RU" dirty="0"/>
              <a:t>периодически – не реже 1 раза в 3 года (п.36 Правил).</a:t>
            </a:r>
          </a:p>
          <a:p>
            <a:pPr algn="just"/>
            <a:r>
              <a:rPr lang="ru-RU" u="sng" dirty="0">
                <a:hlinkClick r:id="rId3"/>
              </a:rPr>
              <a:t/>
            </a:r>
            <a:br>
              <a:rPr lang="ru-RU" u="sng" dirty="0">
                <a:hlinkClick r:id="rId3"/>
              </a:rPr>
            </a:br>
            <a:endParaRPr lang="ru-RU" dirty="0"/>
          </a:p>
          <a:p>
            <a:endParaRPr lang="ru-RU" dirty="0"/>
          </a:p>
        </p:txBody>
      </p:sp>
    </p:spTree>
    <p:extLst>
      <p:ext uri="{BB962C8B-B14F-4D97-AF65-F5344CB8AC3E}">
        <p14:creationId xmlns:p14="http://schemas.microsoft.com/office/powerpoint/2010/main" val="9961652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p:cNvSpPr>
            <a:spLocks noGrp="1"/>
          </p:cNvSpPr>
          <p:nvPr>
            <p:ph type="title"/>
          </p:nvPr>
        </p:nvSpPr>
        <p:spPr/>
        <p:txBody>
          <a:bodyPr>
            <a:normAutofit fontScale="90000"/>
          </a:bodyPr>
          <a:lstStyle/>
          <a:p>
            <a:pPr algn="ctr"/>
            <a:r>
              <a:rPr lang="ru-RU" dirty="0"/>
              <a:t>Категории обучаемых первой помощи</a:t>
            </a:r>
          </a:p>
        </p:txBody>
      </p:sp>
      <p:sp>
        <p:nvSpPr>
          <p:cNvPr id="8" name="Текст 7"/>
          <p:cNvSpPr>
            <a:spLocks noGrp="1"/>
          </p:cNvSpPr>
          <p:nvPr>
            <p:ph type="body" idx="1"/>
          </p:nvPr>
        </p:nvSpPr>
        <p:spPr/>
        <p:txBody>
          <a:bodyPr>
            <a:normAutofit fontScale="92500"/>
          </a:bodyPr>
          <a:lstStyle/>
          <a:p>
            <a:r>
              <a:rPr lang="ru-RU" dirty="0" smtClean="0"/>
              <a:t>СПЕЦИАЛЬНЫЙ КОНТИНГЕНТ</a:t>
            </a:r>
            <a:endParaRPr lang="ru-RU" dirty="0"/>
          </a:p>
        </p:txBody>
      </p:sp>
      <p:sp>
        <p:nvSpPr>
          <p:cNvPr id="9" name="Объект 8"/>
          <p:cNvSpPr>
            <a:spLocks noGrp="1"/>
          </p:cNvSpPr>
          <p:nvPr>
            <p:ph sz="half" idx="2"/>
          </p:nvPr>
        </p:nvSpPr>
        <p:spPr/>
        <p:txBody>
          <a:bodyPr>
            <a:normAutofit/>
          </a:bodyPr>
          <a:lstStyle/>
          <a:p>
            <a:pPr>
              <a:buFont typeface="Wingdings" panose="05000000000000000000" pitchFamily="2" charset="2"/>
              <a:buChar char="Ø"/>
            </a:pPr>
            <a:r>
              <a:rPr lang="ru-RU" sz="2000" dirty="0" smtClean="0"/>
              <a:t>Весь </a:t>
            </a:r>
            <a:r>
              <a:rPr lang="ru-RU" sz="2000" dirty="0"/>
              <a:t>состав комиссии по проверке знаний по вопросам оказания первой </a:t>
            </a:r>
            <a:r>
              <a:rPr lang="ru-RU" sz="2000" dirty="0" smtClean="0"/>
              <a:t>помощи</a:t>
            </a:r>
          </a:p>
          <a:p>
            <a:pPr>
              <a:buFont typeface="Wingdings" panose="05000000000000000000" pitchFamily="2" charset="2"/>
              <a:buChar char="Ø"/>
            </a:pPr>
            <a:r>
              <a:rPr lang="ru-RU" sz="2000" dirty="0" smtClean="0"/>
              <a:t>Лица</a:t>
            </a:r>
            <a:r>
              <a:rPr lang="ru-RU" sz="2000" dirty="0"/>
              <a:t>, проводящие обучение по оказанию первой </a:t>
            </a:r>
            <a:r>
              <a:rPr lang="ru-RU" sz="2000" dirty="0" smtClean="0"/>
              <a:t>помощи</a:t>
            </a:r>
          </a:p>
          <a:p>
            <a:pPr>
              <a:buFont typeface="Wingdings" panose="05000000000000000000" pitchFamily="2" charset="2"/>
              <a:buChar char="Ø"/>
            </a:pPr>
            <a:r>
              <a:rPr lang="ru-RU" sz="2000" dirty="0" smtClean="0"/>
              <a:t>Специалисты </a:t>
            </a:r>
            <a:r>
              <a:rPr lang="ru-RU" sz="2000" dirty="0"/>
              <a:t>по охране </a:t>
            </a:r>
            <a:r>
              <a:rPr lang="ru-RU" sz="2000" dirty="0" smtClean="0"/>
              <a:t>труда</a:t>
            </a:r>
          </a:p>
          <a:p>
            <a:pPr>
              <a:buFont typeface="Wingdings" panose="05000000000000000000" pitchFamily="2" charset="2"/>
              <a:buChar char="Ø"/>
            </a:pPr>
            <a:r>
              <a:rPr lang="ru-RU" sz="2000" dirty="0" smtClean="0"/>
              <a:t>Работники</a:t>
            </a:r>
            <a:r>
              <a:rPr lang="ru-RU" sz="2000" dirty="0"/>
              <a:t>, в чьей компетенции умение оказывать первую помощь</a:t>
            </a:r>
            <a:endParaRPr lang="ru-RU" sz="2000" dirty="0"/>
          </a:p>
        </p:txBody>
      </p:sp>
      <p:sp>
        <p:nvSpPr>
          <p:cNvPr id="10" name="Текст 9"/>
          <p:cNvSpPr>
            <a:spLocks noGrp="1"/>
          </p:cNvSpPr>
          <p:nvPr>
            <p:ph type="body" sz="quarter" idx="3"/>
          </p:nvPr>
        </p:nvSpPr>
        <p:spPr/>
        <p:txBody>
          <a:bodyPr/>
          <a:lstStyle/>
          <a:p>
            <a:r>
              <a:rPr lang="ru-RU" dirty="0" smtClean="0"/>
              <a:t>РАБОТНИКИ</a:t>
            </a:r>
            <a:endParaRPr lang="ru-RU" dirty="0"/>
          </a:p>
        </p:txBody>
      </p:sp>
      <p:sp>
        <p:nvSpPr>
          <p:cNvPr id="11" name="Объект 10"/>
          <p:cNvSpPr>
            <a:spLocks noGrp="1"/>
          </p:cNvSpPr>
          <p:nvPr>
            <p:ph sz="quarter" idx="4"/>
          </p:nvPr>
        </p:nvSpPr>
        <p:spPr/>
        <p:txBody>
          <a:bodyPr>
            <a:normAutofit fontScale="85000" lnSpcReduction="20000"/>
          </a:bodyPr>
          <a:lstStyle/>
          <a:p>
            <a:pPr>
              <a:buFont typeface="Wingdings" panose="05000000000000000000" pitchFamily="2" charset="2"/>
              <a:buChar char="Ø"/>
            </a:pPr>
            <a:r>
              <a:rPr lang="ru-RU" dirty="0" smtClean="0"/>
              <a:t>Работники</a:t>
            </a:r>
            <a:r>
              <a:rPr lang="ru-RU" dirty="0"/>
              <a:t>, на которых возложены обязанности проведения инструктажа по охране </a:t>
            </a:r>
            <a:r>
              <a:rPr lang="ru-RU" dirty="0" smtClean="0"/>
              <a:t>труда</a:t>
            </a:r>
          </a:p>
          <a:p>
            <a:pPr>
              <a:buFont typeface="Wingdings" panose="05000000000000000000" pitchFamily="2" charset="2"/>
              <a:buChar char="Ø"/>
            </a:pPr>
            <a:r>
              <a:rPr lang="ru-RU" dirty="0" smtClean="0"/>
              <a:t> </a:t>
            </a:r>
            <a:r>
              <a:rPr lang="ru-RU" dirty="0"/>
              <a:t>Работники рабочих </a:t>
            </a:r>
            <a:r>
              <a:rPr lang="ru-RU" dirty="0" smtClean="0"/>
              <a:t>профессий</a:t>
            </a:r>
          </a:p>
          <a:p>
            <a:pPr>
              <a:buFont typeface="Wingdings" panose="05000000000000000000" pitchFamily="2" charset="2"/>
              <a:buChar char="Ø"/>
            </a:pPr>
            <a:r>
              <a:rPr lang="ru-RU" dirty="0" smtClean="0"/>
              <a:t>Работники</a:t>
            </a:r>
            <a:r>
              <a:rPr lang="ru-RU" dirty="0"/>
              <a:t>, к трудовым функциям которых отнесено управление транспортным </a:t>
            </a:r>
            <a:r>
              <a:rPr lang="ru-RU" dirty="0" smtClean="0"/>
              <a:t>средством</a:t>
            </a:r>
          </a:p>
          <a:p>
            <a:pPr>
              <a:buFont typeface="Wingdings" panose="05000000000000000000" pitchFamily="2" charset="2"/>
              <a:buChar char="Ø"/>
            </a:pPr>
            <a:r>
              <a:rPr lang="ru-RU" dirty="0" smtClean="0"/>
              <a:t>Члены </a:t>
            </a:r>
            <a:r>
              <a:rPr lang="ru-RU" dirty="0"/>
              <a:t>комитетов (комиссий) по охране труда</a:t>
            </a:r>
            <a:r>
              <a:rPr lang="ru-RU" dirty="0"/>
              <a:t/>
            </a:r>
            <a:br>
              <a:rPr lang="ru-RU" dirty="0"/>
            </a:br>
            <a:r>
              <a:rPr lang="ru-RU" dirty="0" smtClean="0"/>
              <a:t>Иные </a:t>
            </a:r>
            <a:r>
              <a:rPr lang="ru-RU" dirty="0"/>
              <a:t>работники по решению работодателя</a:t>
            </a:r>
            <a:endParaRPr lang="ru-RU" dirty="0"/>
          </a:p>
        </p:txBody>
      </p:sp>
    </p:spTree>
    <p:extLst>
      <p:ext uri="{BB962C8B-B14F-4D97-AF65-F5344CB8AC3E}">
        <p14:creationId xmlns:p14="http://schemas.microsoft.com/office/powerpoint/2010/main" val="4104203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p:cNvSpPr>
            <a:spLocks noGrp="1"/>
          </p:cNvSpPr>
          <p:nvPr>
            <p:ph type="title"/>
          </p:nvPr>
        </p:nvSpPr>
        <p:spPr/>
        <p:txBody>
          <a:bodyPr>
            <a:normAutofit fontScale="90000"/>
          </a:bodyPr>
          <a:lstStyle/>
          <a:p>
            <a:r>
              <a:rPr lang="ru-RU" dirty="0"/>
              <a:t>Содержание обучения первой помощи</a:t>
            </a:r>
          </a:p>
        </p:txBody>
      </p:sp>
      <p:sp>
        <p:nvSpPr>
          <p:cNvPr id="8" name="Объект 7"/>
          <p:cNvSpPr>
            <a:spLocks noGrp="1"/>
          </p:cNvSpPr>
          <p:nvPr>
            <p:ph idx="1"/>
          </p:nvPr>
        </p:nvSpPr>
        <p:spPr/>
        <p:txBody>
          <a:bodyPr/>
          <a:lstStyle/>
          <a:p>
            <a:pPr marL="0" indent="0" algn="ctr">
              <a:buNone/>
            </a:pPr>
            <a:endParaRPr lang="ru-RU" dirty="0" smtClean="0"/>
          </a:p>
          <a:p>
            <a:pPr marL="0" indent="0" algn="ctr">
              <a:buNone/>
            </a:pPr>
            <a:r>
              <a:rPr lang="ru-RU" dirty="0" smtClean="0"/>
              <a:t>Обучение </a:t>
            </a:r>
            <a:r>
              <a:rPr lang="ru-RU" dirty="0"/>
              <a:t>первой помощи осуществляется по Программе, в которую включается обязательный минимум из примерного перечням тем, предусмотренных приложением 2 к Правилам. </a:t>
            </a:r>
            <a:endParaRPr lang="ru-RU" dirty="0"/>
          </a:p>
        </p:txBody>
      </p:sp>
    </p:spTree>
    <p:extLst>
      <p:ext uri="{BB962C8B-B14F-4D97-AF65-F5344CB8AC3E}">
        <p14:creationId xmlns:p14="http://schemas.microsoft.com/office/powerpoint/2010/main" val="16723752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ВНИМАНИЕ</a:t>
            </a:r>
            <a:endParaRPr lang="ru-RU" dirty="0"/>
          </a:p>
        </p:txBody>
      </p:sp>
      <p:sp>
        <p:nvSpPr>
          <p:cNvPr id="3" name="Объект 2"/>
          <p:cNvSpPr>
            <a:spLocks noGrp="1"/>
          </p:cNvSpPr>
          <p:nvPr>
            <p:ph idx="1"/>
          </p:nvPr>
        </p:nvSpPr>
        <p:spPr/>
        <p:txBody>
          <a:bodyPr>
            <a:normAutofit fontScale="77500" lnSpcReduction="20000"/>
          </a:bodyPr>
          <a:lstStyle/>
          <a:p>
            <a:pPr marL="0" indent="0" algn="just">
              <a:buNone/>
            </a:pPr>
            <a:r>
              <a:rPr lang="ru-RU" b="1" dirty="0" smtClean="0"/>
              <a:t>	Внимание</a:t>
            </a:r>
            <a:r>
              <a:rPr lang="ru-RU" b="1" dirty="0"/>
              <a:t>!</a:t>
            </a:r>
            <a:r>
              <a:rPr lang="ru-RU" dirty="0"/>
              <a:t> “ГОСТ 12.0.004-2015. Межгосударственный стандарт. Система стандартов безопасности труда. Организация обучения безопасности труда. Общие положения”, утверждённый Приказом </a:t>
            </a:r>
            <a:r>
              <a:rPr lang="ru-RU" dirty="0" err="1"/>
              <a:t>Росстандарта</a:t>
            </a:r>
            <a:r>
              <a:rPr lang="ru-RU" dirty="0"/>
              <a:t> от 09.06.2016 № 600-ст содержит раздел 12 “Обучение безопасности труда в виде специального обучения приёмам оказания первой помощи пострадавшим” и приложение “Б” “Программа Б.3 – Примерная программа обучения приёмам оказания первой помощи пострадавшим”.</a:t>
            </a:r>
            <a:r>
              <a:rPr lang="ru-RU" dirty="0"/>
              <a:t/>
            </a:r>
            <a:br>
              <a:rPr lang="ru-RU" dirty="0"/>
            </a:br>
            <a:r>
              <a:rPr lang="ru-RU" dirty="0" smtClean="0"/>
              <a:t>	Минздрав </a:t>
            </a:r>
            <a:r>
              <a:rPr lang="ru-RU" dirty="0"/>
              <a:t>разъяснил (Письмо Минздрава России от 05.10.2018 № 14-3/2095930), что эти разделы были разработаны и утверждены без участия Минздрава России, </a:t>
            </a:r>
            <a:r>
              <a:rPr lang="ru-RU" dirty="0" err="1"/>
              <a:t>Минобрнауки</a:t>
            </a:r>
            <a:r>
              <a:rPr lang="ru-RU" dirty="0"/>
              <a:t> России и Минтруда России и по большому числу пунктов не соответствуют действующему российскому законодательству в области первой помощи, а также современным требованиям по оказанию первой помощи. В связи с этим “ГОСТ 12.0.004-2015. Межгосударственный стандарт. Система стандартов безопасности труда. Организация обучения безопасности труда. Общие положения” не может применяться работодателем для разработки локальных правовых актов, регламентирующих обучение правилам оказания первой помощи в организации.</a:t>
            </a:r>
            <a:endParaRPr lang="ru-RU" dirty="0"/>
          </a:p>
        </p:txBody>
      </p:sp>
    </p:spTree>
    <p:extLst>
      <p:ext uri="{BB962C8B-B14F-4D97-AF65-F5344CB8AC3E}">
        <p14:creationId xmlns:p14="http://schemas.microsoft.com/office/powerpoint/2010/main" val="20656844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Оформление результатов проверки знаний</a:t>
            </a:r>
          </a:p>
        </p:txBody>
      </p:sp>
      <p:sp>
        <p:nvSpPr>
          <p:cNvPr id="3" name="Объект 2"/>
          <p:cNvSpPr>
            <a:spLocks noGrp="1"/>
          </p:cNvSpPr>
          <p:nvPr>
            <p:ph idx="1"/>
          </p:nvPr>
        </p:nvSpPr>
        <p:spPr/>
        <p:txBody>
          <a:bodyPr/>
          <a:lstStyle/>
          <a:p>
            <a:pPr marL="0" indent="0" algn="just">
              <a:buNone/>
            </a:pPr>
            <a:r>
              <a:rPr lang="ru-RU" dirty="0"/>
              <a:t>В случае если темы обучения по оказанию первой помощи пострадавшим включены в программы обучения требованиям охраны труда, проверка знаний по этим направлениям также могут быть совмещены и оформлены одним протоколом. Таким образом можно совместить с обучением по охране труда и обучение использованию СИЗ.</a:t>
            </a:r>
            <a:endParaRPr lang="ru-RU" dirty="0"/>
          </a:p>
        </p:txBody>
      </p:sp>
    </p:spTree>
    <p:extLst>
      <p:ext uri="{BB962C8B-B14F-4D97-AF65-F5344CB8AC3E}">
        <p14:creationId xmlns:p14="http://schemas.microsoft.com/office/powerpoint/2010/main" val="31651715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Схема обучения</a:t>
            </a:r>
            <a:endParaRPr lang="ru-RU" dirty="0"/>
          </a:p>
        </p:txBody>
      </p:sp>
      <p:pic>
        <p:nvPicPr>
          <p:cNvPr id="4" name="Объект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67544" y="2204864"/>
            <a:ext cx="8229600" cy="1872342"/>
          </a:xfrm>
        </p:spPr>
      </p:pic>
    </p:spTree>
    <p:extLst>
      <p:ext uri="{BB962C8B-B14F-4D97-AF65-F5344CB8AC3E}">
        <p14:creationId xmlns:p14="http://schemas.microsoft.com/office/powerpoint/2010/main" val="29843300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ru-RU" dirty="0"/>
              <a:t>Сроки хранения документов об обучении первой помощи</a:t>
            </a:r>
          </a:p>
        </p:txBody>
      </p:sp>
      <p:sp>
        <p:nvSpPr>
          <p:cNvPr id="3" name="Объект 2"/>
          <p:cNvSpPr>
            <a:spLocks noGrp="1"/>
          </p:cNvSpPr>
          <p:nvPr>
            <p:ph idx="1"/>
          </p:nvPr>
        </p:nvSpPr>
        <p:spPr/>
        <p:txBody>
          <a:bodyPr>
            <a:normAutofit fontScale="70000" lnSpcReduction="20000"/>
          </a:bodyPr>
          <a:lstStyle/>
          <a:p>
            <a:pPr marL="0" indent="0" algn="just">
              <a:buNone/>
            </a:pPr>
            <a:r>
              <a:rPr lang="ru-RU" dirty="0" smtClean="0"/>
              <a:t>	Одной </a:t>
            </a:r>
            <a:r>
              <a:rPr lang="ru-RU" dirty="0"/>
              <a:t>из функций Службы охраны труда является организация своевременного обучения по охране труда, в том числе первой помощи, работников организации, в том числе её руководителя (Рекомендации по структуре службы охраны труда в организации и по численности работников службы охраны труда, утверждённые приказом Минтруда России от 31.01.2022 № 37).</a:t>
            </a:r>
          </a:p>
          <a:p>
            <a:pPr marL="0" indent="0" algn="just">
              <a:buNone/>
            </a:pPr>
            <a:r>
              <a:rPr lang="ru-RU" dirty="0" smtClean="0"/>
              <a:t>	При </a:t>
            </a:r>
            <a:r>
              <a:rPr lang="ru-RU" dirty="0"/>
              <a:t>этом, требование о том, что в Службе охраны труда должны храниться протоколы проверки знаний нормативно не установлено. Также нормативно не установлено требование о том, что протоколы проверки знаний должны храниться у начальников участков.</a:t>
            </a:r>
          </a:p>
          <a:p>
            <a:pPr marL="0" indent="0" algn="just">
              <a:buNone/>
            </a:pPr>
            <a:r>
              <a:rPr lang="ru-RU" dirty="0" smtClean="0"/>
              <a:t>	Место </a:t>
            </a:r>
            <a:r>
              <a:rPr lang="ru-RU" dirty="0"/>
              <a:t>хранения протоколов проверки знаний нормативно не установлено.</a:t>
            </a:r>
          </a:p>
          <a:p>
            <a:pPr marL="0" indent="0" algn="just">
              <a:buNone/>
            </a:pPr>
            <a:r>
              <a:rPr lang="ru-RU" dirty="0" smtClean="0"/>
              <a:t>	Протоколы </a:t>
            </a:r>
            <a:r>
              <a:rPr lang="ru-RU" dirty="0"/>
              <a:t>результатов обучения по охране труда подлежат хранению в течение 5 лет (п.422 Перечня типовых управленческих архивных документов, образующихся в процессе деятельности государственных органов, органов местного самоуправления и организаций, с указанием сроков их хранения, утв. приказом </a:t>
            </a:r>
            <a:r>
              <a:rPr lang="ru-RU" dirty="0" err="1"/>
              <a:t>Росархива</a:t>
            </a:r>
            <a:r>
              <a:rPr lang="ru-RU" dirty="0"/>
              <a:t> от 20.12.2019 № 236).</a:t>
            </a:r>
          </a:p>
          <a:p>
            <a:pPr marL="0" indent="0" algn="just">
              <a:buNone/>
            </a:pPr>
            <a:r>
              <a:rPr lang="ru-RU" dirty="0" smtClean="0"/>
              <a:t>	Таким </a:t>
            </a:r>
            <a:r>
              <a:rPr lang="ru-RU" dirty="0"/>
              <a:t>образом, все протоколы проверки знаний подлежат хранению в течение 5 лет. Место их хранения работодателю необходимо определить самостоятельно. Его можно прописать в положении о СУОТ, о документообороте или установить приказом.</a:t>
            </a:r>
          </a:p>
          <a:p>
            <a:pPr marL="0" indent="0" algn="just">
              <a:buNone/>
            </a:pPr>
            <a:endParaRPr lang="ru-RU" dirty="0"/>
          </a:p>
        </p:txBody>
      </p:sp>
    </p:spTree>
    <p:extLst>
      <p:ext uri="{BB962C8B-B14F-4D97-AF65-F5344CB8AC3E}">
        <p14:creationId xmlns:p14="http://schemas.microsoft.com/office/powerpoint/2010/main" val="30884880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a:bodyPr>
          <a:lstStyle/>
          <a:p>
            <a:pPr marL="0" indent="0" algn="ctr">
              <a:buNone/>
            </a:pPr>
            <a:r>
              <a:rPr lang="ru-RU" sz="7200" smtClean="0"/>
              <a:t>ПРОДОЛЖЕНИЕ </a:t>
            </a:r>
            <a:r>
              <a:rPr lang="ru-RU" sz="7200" dirty="0" smtClean="0"/>
              <a:t>СЛЕДУЕТ!!!</a:t>
            </a:r>
            <a:endParaRPr lang="ru-RU" sz="7200" dirty="0"/>
          </a:p>
        </p:txBody>
      </p:sp>
    </p:spTree>
    <p:extLst>
      <p:ext uri="{BB962C8B-B14F-4D97-AF65-F5344CB8AC3E}">
        <p14:creationId xmlns:p14="http://schemas.microsoft.com/office/powerpoint/2010/main" val="28252943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Ясность">
  <a:themeElements>
    <a:clrScheme name="Ясность">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Классическая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Ясность">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130</TotalTime>
  <Words>3569</Words>
  <Application>Microsoft Office PowerPoint</Application>
  <PresentationFormat>Экран (4:3)</PresentationFormat>
  <Paragraphs>282</Paragraphs>
  <Slides>72</Slides>
  <Notes>1</Notes>
  <HiddenSlides>0</HiddenSlides>
  <MMClips>0</MMClips>
  <ScaleCrop>false</ScaleCrop>
  <HeadingPairs>
    <vt:vector size="4" baseType="variant">
      <vt:variant>
        <vt:lpstr>Тема</vt:lpstr>
      </vt:variant>
      <vt:variant>
        <vt:i4>1</vt:i4>
      </vt:variant>
      <vt:variant>
        <vt:lpstr>Заголовки слайдов</vt:lpstr>
      </vt:variant>
      <vt:variant>
        <vt:i4>72</vt:i4>
      </vt:variant>
    </vt:vector>
  </HeadingPairs>
  <TitlesOfParts>
    <vt:vector size="73" baseType="lpstr">
      <vt:lpstr>Ясность</vt:lpstr>
      <vt:lpstr>Охрана труда.  На что обратить внимание!!!</vt:lpstr>
      <vt:lpstr>Реестр (перечень) нормативных правовых актов по охране труда на 2023 год</vt:lpstr>
      <vt:lpstr>Вне зависимости от выбранного способа ведения, логика действий работодателя будет  примерно такой</vt:lpstr>
      <vt:lpstr>В локальном акте организации укажите</vt:lpstr>
      <vt:lpstr>Формулировка приказа может быть такой:</vt:lpstr>
      <vt:lpstr>ВАЖНО!!!</vt:lpstr>
      <vt:lpstr>ПРЕДОСТАВИТЬ ДОСТУП</vt:lpstr>
      <vt:lpstr>Приложение – Реестр (перечень) нормативных правовых актов, содержащих требования охраны труда, действующих в ООО «Победа»</vt:lpstr>
      <vt:lpstr>Реестр НПА по охране труда на 2023 год</vt:lpstr>
      <vt:lpstr>Презентация PowerPoint</vt:lpstr>
      <vt:lpstr>Презентация PowerPoint</vt:lpstr>
      <vt:lpstr>Презентация PowerPoint</vt:lpstr>
      <vt:lpstr>Презентация PowerPoint</vt:lpstr>
      <vt:lpstr>Презентация PowerPoint</vt:lpstr>
      <vt:lpstr>Электронный документооборот: требования к документам по охране труда в 2023 году</vt:lpstr>
      <vt:lpstr>Требования к документам по охране труда в 2023 году</vt:lpstr>
      <vt:lpstr>Не дублируя на бумаге</vt:lpstr>
      <vt:lpstr>Кроме документов по охране труда под ЭДО попадают следующие виды документов (кадровых мероприятий) по разделам</vt:lpstr>
      <vt:lpstr>ВНИМАНИЕ!!!</vt:lpstr>
      <vt:lpstr>Программа стажировки. Важный элемент в работе по охране труда</vt:lpstr>
      <vt:lpstr>Универсальная “болванка” для создания программы стажировки</vt:lpstr>
      <vt:lpstr>Презентация PowerPoint</vt:lpstr>
      <vt:lpstr>Присвоение 1-ой группы по электробезопасности неэлектротехническому персоналу</vt:lpstr>
      <vt:lpstr>Что говорит закон!!!</vt:lpstr>
      <vt:lpstr>В ПТЭЭП есть ссылки на  2 нормативных документа.</vt:lpstr>
      <vt:lpstr>ВАЖНО</vt:lpstr>
      <vt:lpstr>Кому присваивается 1 группа по электробезопасности?</vt:lpstr>
      <vt:lpstr>Кто присваивает 1 группу по электробезопасности?</vt:lpstr>
      <vt:lpstr>Как присваивается 1 группа по электробезопасности?</vt:lpstr>
      <vt:lpstr>Чем завершается присвоение 1 группы по электробезопасности?</vt:lpstr>
      <vt:lpstr>Правительство изменило Правила обучения по охране труда</vt:lpstr>
      <vt:lpstr>Уточнения внесены в порядок определения количества работников, подлежащих обучению в образовательных организациях и в основания для проведения внепланового обучения.</vt:lpstr>
      <vt:lpstr>Изменений два</vt:lpstr>
      <vt:lpstr>Новый порядок обучения по охране труда</vt:lpstr>
      <vt:lpstr>ТК РФ о порядке обучения  по охране труда</vt:lpstr>
      <vt:lpstr>Нормы статьи 219 новой редакции ТК РФ и ранее действовавшей статьи 225 старой редакции ТК РФ имеют три существенных отличия</vt:lpstr>
      <vt:lpstr>Презентация PowerPoint</vt:lpstr>
      <vt:lpstr>Презентация PowerPoint</vt:lpstr>
      <vt:lpstr>Презентация PowerPoint</vt:lpstr>
      <vt:lpstr>Правила обучения вступят в силу в два приёма</vt:lpstr>
      <vt:lpstr>ВАЖНО</vt:lpstr>
      <vt:lpstr>Кто попадает под обучение  по охране труда</vt:lpstr>
      <vt:lpstr>Презентация PowerPoint</vt:lpstr>
      <vt:lpstr>ВАЖНО!!!!</vt:lpstr>
      <vt:lpstr>Требования к обучающим организациям стали жёстче</vt:lpstr>
      <vt:lpstr>Организация и проведение инструктажей по охране труда</vt:lpstr>
      <vt:lpstr>Виды инструктажей по охране труда и их регистрация</vt:lpstr>
      <vt:lpstr>Презентация PowerPoint</vt:lpstr>
      <vt:lpstr>Презентация PowerPoint</vt:lpstr>
      <vt:lpstr>Важно</vt:lpstr>
      <vt:lpstr>Первичный инструктаж</vt:lpstr>
      <vt:lpstr>Презентация PowerPoint</vt:lpstr>
      <vt:lpstr>Внеплановый инструктаж</vt:lpstr>
      <vt:lpstr>Внеплановый инструктаж обязательно проводится ещё в двух случаях:</vt:lpstr>
      <vt:lpstr>ВНИМАНИЕ</vt:lpstr>
      <vt:lpstr>Журналы регистрации инструктажей</vt:lpstr>
      <vt:lpstr>Пример оформления записей в журнале вводного инструктажа</vt:lpstr>
      <vt:lpstr>Пример оформления записей в журнале инструктажа на рабочем месте (первичного, повторного, внепланового)</vt:lpstr>
      <vt:lpstr>ВАЖНО</vt:lpstr>
      <vt:lpstr>Итак, что нужно сделать, чтобы перейти на новый порядок обучения по охране труда в части организации инструктажей</vt:lpstr>
      <vt:lpstr>Обучение по оказанию первой помощи в структуре обучения охране по охране труда</vt:lpstr>
      <vt:lpstr>Что изменилось</vt:lpstr>
      <vt:lpstr>Что такон ОПП?</vt:lpstr>
      <vt:lpstr>Продолжительность обучения  первой помощи</vt:lpstr>
      <vt:lpstr>Периодичность обучения  первой помощи</vt:lpstr>
      <vt:lpstr>Категории обучаемых первой помощи</vt:lpstr>
      <vt:lpstr>Содержание обучения первой помощи</vt:lpstr>
      <vt:lpstr>ВНИМАНИЕ</vt:lpstr>
      <vt:lpstr>Оформление результатов проверки знаний</vt:lpstr>
      <vt:lpstr>Схема обучения</vt:lpstr>
      <vt:lpstr>Сроки хранения документов об обучении первой помощи</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Охрана труда.  На что обратить внимание!!!</dc:title>
  <dc:creator>Admin</dc:creator>
  <cp:lastModifiedBy>Admin</cp:lastModifiedBy>
  <cp:revision>71</cp:revision>
  <dcterms:created xsi:type="dcterms:W3CDTF">2023-02-20T18:22:09Z</dcterms:created>
  <dcterms:modified xsi:type="dcterms:W3CDTF">2023-02-20T20:35:49Z</dcterms:modified>
</cp:coreProperties>
</file>