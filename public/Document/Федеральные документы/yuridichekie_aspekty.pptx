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1A8D50-EEB3-4783-8DAD-6C907DCE5B34}" type="datetimeFigureOut">
              <a:rPr lang="ru-RU" smtClean="0"/>
              <a:t>09.09.2022</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B320EE-EE95-4E55-A886-A585FC34CEC3}" type="slidenum">
              <a:rPr lang="ru-RU" smtClean="0"/>
              <a:t>‹#›</a:t>
            </a:fld>
            <a:endParaRPr lang="ru-RU"/>
          </a:p>
        </p:txBody>
      </p:sp>
    </p:spTree>
    <p:extLst>
      <p:ext uri="{BB962C8B-B14F-4D97-AF65-F5344CB8AC3E}">
        <p14:creationId xmlns:p14="http://schemas.microsoft.com/office/powerpoint/2010/main" val="3824123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3B320EE-EE95-4E55-A886-A585FC34CEC3}" type="slidenum">
              <a:rPr lang="ru-RU" smtClean="0"/>
              <a:t>1</a:t>
            </a:fld>
            <a:endParaRPr lang="ru-RU"/>
          </a:p>
        </p:txBody>
      </p:sp>
    </p:spTree>
    <p:extLst>
      <p:ext uri="{BB962C8B-B14F-4D97-AF65-F5344CB8AC3E}">
        <p14:creationId xmlns:p14="http://schemas.microsoft.com/office/powerpoint/2010/main" val="5169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ru-RU" smtClean="0"/>
              <a:t>Образец заголовка</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09.09.2022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09.09.2022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09.09.2022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4C71EC6-210F-42DE-9C53-41977AD35B3D}" type="datetimeFigureOut">
              <a:rPr lang="ru-RU" smtClean="0"/>
              <a:t>09.09.2022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09.09.2022</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09.09.2022</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t>09.09.2022</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09.09.2022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09.09.2022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09.09.2022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09.09.2022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B4C71EC6-210F-42DE-9C53-41977AD35B3D}" type="datetimeFigureOut">
              <a:rPr lang="ru-RU" smtClean="0"/>
              <a:t>09.09.2022</a:t>
            </a:fld>
            <a:endParaRPr lang="ru-RU"/>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ru-RU"/>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19B0651-EE4F-4900-A07F-96A6BFA9D0F0}"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internet.garant.ru/document/redirect/77322149/901" TargetMode="External"/><Relationship Id="rId2" Type="http://schemas.openxmlformats.org/officeDocument/2006/relationships/hyperlink" Target="http://internet.garant.ru/document/redirect/77322149/6015"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internet.garant.ru/document/redirect/77322149/603" TargetMode="External"/><Relationship Id="rId2" Type="http://schemas.openxmlformats.org/officeDocument/2006/relationships/hyperlink" Target="http://internet.garant.ru/document/redirect/77322149/181" TargetMode="External"/><Relationship Id="rId1" Type="http://schemas.openxmlformats.org/officeDocument/2006/relationships/slideLayout" Target="../slideLayouts/slideLayout2.xml"/><Relationship Id="rId5" Type="http://schemas.openxmlformats.org/officeDocument/2006/relationships/hyperlink" Target="http://internet.garant.ru/document/redirect/10164072/422" TargetMode="External"/><Relationship Id="rId4" Type="http://schemas.openxmlformats.org/officeDocument/2006/relationships/hyperlink" Target="http://internet.garant.ru/document/redirect/77322149/606"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internet.garant.ru/document/redirect/77322149/901"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internet.garant.ru/document/redirect/77322149/1812" TargetMode="External"/><Relationship Id="rId2" Type="http://schemas.openxmlformats.org/officeDocument/2006/relationships/hyperlink" Target="http://internet.garant.ru/document/redirect/77322149/1811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internet.garant.ru/document/redirect/12148567/22" TargetMode="External"/><Relationship Id="rId3" Type="http://schemas.openxmlformats.org/officeDocument/2006/relationships/hyperlink" Target="http://internet.garant.ru/document/redirect/77322149/2231" TargetMode="External"/><Relationship Id="rId7" Type="http://schemas.openxmlformats.org/officeDocument/2006/relationships/hyperlink" Target="http://internet.garant.ru/document/redirect/56930097/0" TargetMode="External"/><Relationship Id="rId2" Type="http://schemas.openxmlformats.org/officeDocument/2006/relationships/hyperlink" Target="http://internet.garant.ru/document/redirect/77322149/223102" TargetMode="External"/><Relationship Id="rId1" Type="http://schemas.openxmlformats.org/officeDocument/2006/relationships/slideLayout" Target="../slideLayouts/slideLayout2.xml"/><Relationship Id="rId6" Type="http://schemas.openxmlformats.org/officeDocument/2006/relationships/hyperlink" Target="http://internet.garant.ru/document/redirect/71752212/0" TargetMode="External"/><Relationship Id="rId5" Type="http://schemas.openxmlformats.org/officeDocument/2006/relationships/hyperlink" Target="http://internet.garant.ru/document/redirect/71752212/1000" TargetMode="External"/><Relationship Id="rId4" Type="http://schemas.openxmlformats.org/officeDocument/2006/relationships/hyperlink" Target="http://internet.garant.ru/document/redirect/77322149/2208" TargetMode="External"/><Relationship Id="rId9" Type="http://schemas.openxmlformats.org/officeDocument/2006/relationships/hyperlink" Target="http://internet.garant.ru/document/redirect/405179693/0"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internet.garant.ru/document/redirect/77322149/1103"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internet.garant.ru/document/redirect/77322149/14791" TargetMode="External"/><Relationship Id="rId2" Type="http://schemas.openxmlformats.org/officeDocument/2006/relationships/hyperlink" Target="http://internet.garant.ru/document/redirect/77322149/181" TargetMode="External"/><Relationship Id="rId1" Type="http://schemas.openxmlformats.org/officeDocument/2006/relationships/slideLayout" Target="../slideLayouts/slideLayout2.xml"/><Relationship Id="rId4" Type="http://schemas.openxmlformats.org/officeDocument/2006/relationships/hyperlink" Target="http://internet.garant.ru/document/redirect/77322149/1403"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internet.garant.ru/document/redirect/77322149/18321" TargetMode="External"/><Relationship Id="rId2" Type="http://schemas.openxmlformats.org/officeDocument/2006/relationships/hyperlink" Target="http://internet.garant.ru/document/redirect/77322149/180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internet.garant.ru/document/redirect/77322149/215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internet.garant.ru/document/redirect/77322149/2202"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internet.garant.ru/document/redirect/77322149/2004"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internet.garant.ru/document/redirect/77322149/2131"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internet.garant.ru/document/redirect/10106035/1602" TargetMode="External"/><Relationship Id="rId2" Type="http://schemas.openxmlformats.org/officeDocument/2006/relationships/hyperlink" Target="http://internet.garant.ru/document/redirect/10106035/0" TargetMode="External"/><Relationship Id="rId1" Type="http://schemas.openxmlformats.org/officeDocument/2006/relationships/slideLayout" Target="../slideLayouts/slideLayout2.xml"/><Relationship Id="rId5" Type="http://schemas.openxmlformats.org/officeDocument/2006/relationships/hyperlink" Target="http://internet.garant.ru/document/redirect/10106035/160215" TargetMode="External"/><Relationship Id="rId4" Type="http://schemas.openxmlformats.org/officeDocument/2006/relationships/hyperlink" Target="http://internet.garant.ru/document/redirect/10106035/161"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internet.garant.ru/document/redirect/404561956/22"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internet.garant.ru/document/redirect/10106035/16" TargetMode="External"/><Relationship Id="rId2" Type="http://schemas.openxmlformats.org/officeDocument/2006/relationships/hyperlink" Target="http://internet.garant.ru/document/redirect/12125267/14802"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internet.garant.ru/document/redirect/10106035/160206" TargetMode="External"/><Relationship Id="rId7" Type="http://schemas.openxmlformats.org/officeDocument/2006/relationships/hyperlink" Target="http://internet.garant.ru/document/redirect/10106035/1603" TargetMode="External"/><Relationship Id="rId2" Type="http://schemas.openxmlformats.org/officeDocument/2006/relationships/hyperlink" Target="http://internet.garant.ru/document/redirect/10106035/160205" TargetMode="External"/><Relationship Id="rId1" Type="http://schemas.openxmlformats.org/officeDocument/2006/relationships/slideLayout" Target="../slideLayouts/slideLayout5.xml"/><Relationship Id="rId6" Type="http://schemas.openxmlformats.org/officeDocument/2006/relationships/hyperlink" Target="http://internet.garant.ru/document/redirect/58203684/8" TargetMode="External"/><Relationship Id="rId5" Type="http://schemas.openxmlformats.org/officeDocument/2006/relationships/hyperlink" Target="http://internet.garant.ru/document/redirect/70544866/7010" TargetMode="External"/><Relationship Id="rId4" Type="http://schemas.openxmlformats.org/officeDocument/2006/relationships/hyperlink" Target="http://internet.garant.ru/document/redirect/70544866/7022"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internet.garant.ru/document/redirect/10106035/160209" TargetMode="External"/><Relationship Id="rId2" Type="http://schemas.openxmlformats.org/officeDocument/2006/relationships/hyperlink" Target="http://internet.garant.ru/document/redirect/10106035/160204" TargetMode="External"/><Relationship Id="rId1" Type="http://schemas.openxmlformats.org/officeDocument/2006/relationships/slideLayout" Target="../slideLayouts/slideLayout5.xml"/><Relationship Id="rId6" Type="http://schemas.openxmlformats.org/officeDocument/2006/relationships/hyperlink" Target="http://internet.garant.ru/document/redirect/10106035/1304" TargetMode="External"/><Relationship Id="rId5" Type="http://schemas.openxmlformats.org/officeDocument/2006/relationships/hyperlink" Target="http://internet.garant.ru/document/redirect/10164072/40002" TargetMode="External"/><Relationship Id="rId4" Type="http://schemas.openxmlformats.org/officeDocument/2006/relationships/hyperlink" Target="http://internet.garant.ru/document/redirect/10164072/3322"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internet.garant.ru/document/redirect/405217415/0" TargetMode="External"/><Relationship Id="rId3" Type="http://schemas.openxmlformats.org/officeDocument/2006/relationships/hyperlink" Target="http://internet.garant.ru/document/redirect/10106035/160210" TargetMode="External"/><Relationship Id="rId7" Type="http://schemas.openxmlformats.org/officeDocument/2006/relationships/hyperlink" Target="http://internet.garant.ru/document/redirect/403722040/0" TargetMode="External"/><Relationship Id="rId2" Type="http://schemas.openxmlformats.org/officeDocument/2006/relationships/hyperlink" Target="http://internet.garant.ru/document/redirect/10106035/160213" TargetMode="External"/><Relationship Id="rId1" Type="http://schemas.openxmlformats.org/officeDocument/2006/relationships/slideLayout" Target="../slideLayouts/slideLayout5.xml"/><Relationship Id="rId6" Type="http://schemas.openxmlformats.org/officeDocument/2006/relationships/hyperlink" Target="http://internet.garant.ru/document/redirect/10106035/2901" TargetMode="External"/><Relationship Id="rId5" Type="http://schemas.openxmlformats.org/officeDocument/2006/relationships/hyperlink" Target="http://internet.garant.ru/document/redirect/10106035/181" TargetMode="External"/><Relationship Id="rId4" Type="http://schemas.openxmlformats.org/officeDocument/2006/relationships/hyperlink" Target="http://internet.garant.ru/document/redirect/10106035/160214"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internet.garant.ru/document/redirect/10106035/1601" TargetMode="External"/><Relationship Id="rId2" Type="http://schemas.openxmlformats.org/officeDocument/2006/relationships/hyperlink" Target="http://internet.garant.ru/document/redirect/10106035/160207"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hyperlink" Target="http://internet.garant.ru/document/redirect/72139356/21" TargetMode="External"/><Relationship Id="rId3" Type="http://schemas.openxmlformats.org/officeDocument/2006/relationships/hyperlink" Target="http://internet.garant.ru/document/redirect/10106035/160208" TargetMode="External"/><Relationship Id="rId7" Type="http://schemas.openxmlformats.org/officeDocument/2006/relationships/hyperlink" Target="http://internet.garant.ru/document/redirect/10164072/426" TargetMode="External"/><Relationship Id="rId2" Type="http://schemas.openxmlformats.org/officeDocument/2006/relationships/hyperlink" Target="http://internet.garant.ru/document/redirect/10106035/160201" TargetMode="External"/><Relationship Id="rId1" Type="http://schemas.openxmlformats.org/officeDocument/2006/relationships/slideLayout" Target="../slideLayouts/slideLayout5.xml"/><Relationship Id="rId6" Type="http://schemas.openxmlformats.org/officeDocument/2006/relationships/hyperlink" Target="http://internet.garant.ru/document/redirect/10105800/294" TargetMode="External"/><Relationship Id="rId5" Type="http://schemas.openxmlformats.org/officeDocument/2006/relationships/hyperlink" Target="http://internet.garant.ru/document/redirect/10105800/293" TargetMode="External"/><Relationship Id="rId4" Type="http://schemas.openxmlformats.org/officeDocument/2006/relationships/hyperlink" Target="http://internet.garant.ru/document/redirect/10164072/31002"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internet.garant.ru/document/redirect/10106035/32" TargetMode="External"/><Relationship Id="rId2" Type="http://schemas.openxmlformats.org/officeDocument/2006/relationships/hyperlink" Target="http://internet.garant.ru/document/redirect/10106035/160203" TargetMode="External"/><Relationship Id="rId1" Type="http://schemas.openxmlformats.org/officeDocument/2006/relationships/slideLayout" Target="../slideLayouts/slideLayout5.xml"/><Relationship Id="rId4" Type="http://schemas.openxmlformats.org/officeDocument/2006/relationships/hyperlink" Target="http://internet.garant.ru/document/redirect/71571246/206"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internet.garant.ru/document/redirect/12128809/2222" TargetMode="External"/><Relationship Id="rId3" Type="http://schemas.openxmlformats.org/officeDocument/2006/relationships/hyperlink" Target="http://internet.garant.ru/document/redirect/10106035/160202" TargetMode="External"/><Relationship Id="rId7" Type="http://schemas.openxmlformats.org/officeDocument/2006/relationships/hyperlink" Target="http://internet.garant.ru/document/redirect/12128809/13511" TargetMode="External"/><Relationship Id="rId12" Type="http://schemas.openxmlformats.org/officeDocument/2006/relationships/hyperlink" Target="http://internet.garant.ru/document/redirect/70194860/28" TargetMode="External"/><Relationship Id="rId2" Type="http://schemas.openxmlformats.org/officeDocument/2006/relationships/hyperlink" Target="http://internet.garant.ru/document/redirect/10106035/160211" TargetMode="External"/><Relationship Id="rId1" Type="http://schemas.openxmlformats.org/officeDocument/2006/relationships/slideLayout" Target="../slideLayouts/slideLayout5.xml"/><Relationship Id="rId6" Type="http://schemas.openxmlformats.org/officeDocument/2006/relationships/hyperlink" Target="http://internet.garant.ru/document/redirect/12128809/3004" TargetMode="External"/><Relationship Id="rId11" Type="http://schemas.openxmlformats.org/officeDocument/2006/relationships/hyperlink" Target="http://internet.garant.ru/document/redirect/70194860/26" TargetMode="External"/><Relationship Id="rId5" Type="http://schemas.openxmlformats.org/officeDocument/2006/relationships/hyperlink" Target="http://internet.garant.ru/document/redirect/10106035/160212" TargetMode="External"/><Relationship Id="rId10" Type="http://schemas.openxmlformats.org/officeDocument/2006/relationships/hyperlink" Target="http://internet.garant.ru/document/redirect/400937489/33" TargetMode="External"/><Relationship Id="rId4" Type="http://schemas.openxmlformats.org/officeDocument/2006/relationships/hyperlink" Target="http://internet.garant.ru/document/redirect/10106035/172" TargetMode="External"/><Relationship Id="rId9" Type="http://schemas.openxmlformats.org/officeDocument/2006/relationships/hyperlink" Target="http://internet.garant.ru/document/redirect/71958414/0" TargetMode="External"/></Relationships>
</file>

<file path=ppt/slides/_rels/slide26.xml.rels><?xml version="1.0" encoding="UTF-8" standalone="yes"?>
<Relationships xmlns="http://schemas.openxmlformats.org/package/2006/relationships"><Relationship Id="rId2" Type="http://schemas.openxmlformats.org/officeDocument/2006/relationships/hyperlink" Target="http://internet.garant.ru/document/redirect/10106035/1604"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internet.garant.ru/document/redirect/12145525/181" TargetMode="External"/><Relationship Id="rId2" Type="http://schemas.openxmlformats.org/officeDocument/2006/relationships/hyperlink" Target="http://internet.garant.ru/document/redirect/401422392/13"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internet.garant.ru/document/redirect/12145525/307" TargetMode="External"/><Relationship Id="rId2" Type="http://schemas.openxmlformats.org/officeDocument/2006/relationships/hyperlink" Target="http://internet.garant.ru/document/redirect/12145525/305" TargetMode="External"/><Relationship Id="rId1" Type="http://schemas.openxmlformats.org/officeDocument/2006/relationships/slideLayout" Target="../slideLayouts/slideLayout2.xml"/><Relationship Id="rId6" Type="http://schemas.openxmlformats.org/officeDocument/2006/relationships/hyperlink" Target="http://internet.garant.ru/document/redirect/12145525/181" TargetMode="External"/><Relationship Id="rId5" Type="http://schemas.openxmlformats.org/officeDocument/2006/relationships/hyperlink" Target="http://internet.garant.ru/document/redirect/195117/1001" TargetMode="External"/><Relationship Id="rId4" Type="http://schemas.openxmlformats.org/officeDocument/2006/relationships/hyperlink" Target="http://internet.garant.ru/document/redirect/12145525/314" TargetMode="External"/></Relationships>
</file>

<file path=ppt/slides/_rels/slide30.xml.rels><?xml version="1.0" encoding="UTF-8" standalone="yes"?>
<Relationships xmlns="http://schemas.openxmlformats.org/package/2006/relationships"><Relationship Id="rId2" Type="http://schemas.openxmlformats.org/officeDocument/2006/relationships/hyperlink" Target="http://internet.garant.ru/document/redirect/401422392/18105"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internet.garant.ru/document/redirect/404756791/1000"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internet.garant.ru/document/redirect/403324424/0"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internet.garant.ru/document/redirect/185522/1000" TargetMode="External"/><Relationship Id="rId2" Type="http://schemas.openxmlformats.org/officeDocument/2006/relationships/hyperlink" Target="http://internet.garant.ru/document/redirect/403196512/0" TargetMode="Externa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hyperlink" Target="http://internet.garant.ru/document/redirect/404778833/0" TargetMode="Externa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hyperlink" Target="http://internet.garant.ru/document/redirect/404766305/0" TargetMode="Externa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r"/>
            <a:r>
              <a:rPr lang="ru-RU" sz="3600" dirty="0" smtClean="0"/>
              <a:t>Правовое управление процессами в организации</a:t>
            </a:r>
            <a:endParaRPr lang="ru-RU" sz="3600" dirty="0"/>
          </a:p>
        </p:txBody>
      </p:sp>
      <p:sp>
        <p:nvSpPr>
          <p:cNvPr id="3" name="Подзаголовок 2"/>
          <p:cNvSpPr>
            <a:spLocks noGrp="1"/>
          </p:cNvSpPr>
          <p:nvPr>
            <p:ph type="subTitle" idx="1"/>
          </p:nvPr>
        </p:nvSpPr>
        <p:spPr/>
        <p:txBody>
          <a:bodyPr>
            <a:normAutofit/>
          </a:bodyPr>
          <a:lstStyle/>
          <a:p>
            <a:pPr algn="r"/>
            <a:r>
              <a:rPr lang="ru-RU" sz="2000" dirty="0" err="1" smtClean="0"/>
              <a:t>Саморуков</a:t>
            </a:r>
            <a:r>
              <a:rPr lang="ru-RU" sz="2000" dirty="0" smtClean="0"/>
              <a:t> Артем Викторович – руководитель службы юридического сопровождения ФРДЛ</a:t>
            </a:r>
            <a:endParaRPr lang="ru-RU" sz="2000" dirty="0"/>
          </a:p>
        </p:txBody>
      </p:sp>
    </p:spTree>
    <p:extLst>
      <p:ext uri="{BB962C8B-B14F-4D97-AF65-F5344CB8AC3E}">
        <p14:creationId xmlns:p14="http://schemas.microsoft.com/office/powerpoint/2010/main" val="550128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Изменение законодательства РФ</a:t>
            </a:r>
            <a:endParaRPr lang="ru-RU" dirty="0"/>
          </a:p>
        </p:txBody>
      </p:sp>
      <p:sp>
        <p:nvSpPr>
          <p:cNvPr id="3" name="Объект 2"/>
          <p:cNvSpPr>
            <a:spLocks noGrp="1"/>
          </p:cNvSpPr>
          <p:nvPr>
            <p:ph idx="1"/>
          </p:nvPr>
        </p:nvSpPr>
        <p:spPr/>
        <p:txBody>
          <a:bodyPr/>
          <a:lstStyle/>
          <a:p>
            <a:pPr>
              <a:buFont typeface="Wingdings" panose="05000000000000000000" pitchFamily="2" charset="2"/>
              <a:buChar char="ü"/>
            </a:pPr>
            <a:r>
              <a:rPr lang="ru-RU" dirty="0" smtClean="0"/>
              <a:t> </a:t>
            </a:r>
            <a:r>
              <a:rPr lang="ru-RU" sz="3200" dirty="0" smtClean="0"/>
              <a:t>В Законе о персональных данных</a:t>
            </a:r>
          </a:p>
          <a:p>
            <a:pPr>
              <a:buFont typeface="Wingdings" panose="05000000000000000000" pitchFamily="2" charset="2"/>
              <a:buChar char="ü"/>
            </a:pPr>
            <a:r>
              <a:rPr lang="ru-RU" sz="3200" dirty="0" smtClean="0"/>
              <a:t>В законе о защите прав потребителей</a:t>
            </a:r>
          </a:p>
          <a:p>
            <a:pPr>
              <a:buFont typeface="Wingdings" panose="05000000000000000000" pitchFamily="2" charset="2"/>
              <a:buChar char="ü"/>
            </a:pPr>
            <a:r>
              <a:rPr lang="ru-RU" sz="3200" dirty="0" smtClean="0"/>
              <a:t>В законе о рекламе</a:t>
            </a:r>
          </a:p>
          <a:p>
            <a:pPr marL="0" indent="0" algn="ctr">
              <a:buNone/>
            </a:pPr>
            <a:r>
              <a:rPr lang="ru-RU" sz="4000" b="1" dirty="0" smtClean="0">
                <a:solidFill>
                  <a:srgbClr val="FF0000"/>
                </a:solidFill>
                <a:effectLst>
                  <a:outerShdw blurRad="38100" dist="38100" dir="2700000" algn="tl">
                    <a:srgbClr val="000000">
                      <a:alpha val="43137"/>
                    </a:srgbClr>
                  </a:outerShdw>
                </a:effectLst>
              </a:rPr>
              <a:t>МНОЖЕСТВО ИЗМЕНЕНИЙ В ОХРАНЕ ТРУДА</a:t>
            </a:r>
            <a:endParaRPr lang="ru-RU" sz="4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2791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1. Изменения в содержании применяемых вами документов</a:t>
            </a:r>
            <a:endParaRPr lang="ru-RU" dirty="0"/>
          </a:p>
        </p:txBody>
      </p:sp>
      <p:sp>
        <p:nvSpPr>
          <p:cNvPr id="3" name="Объект 2"/>
          <p:cNvSpPr>
            <a:spLocks noGrp="1"/>
          </p:cNvSpPr>
          <p:nvPr>
            <p:ph idx="1"/>
          </p:nvPr>
        </p:nvSpPr>
        <p:spPr/>
        <p:txBody>
          <a:bodyPr>
            <a:normAutofit fontScale="85000" lnSpcReduction="20000"/>
          </a:bodyPr>
          <a:lstStyle/>
          <a:p>
            <a:pPr marL="0" indent="0" algn="just">
              <a:buNone/>
            </a:pPr>
            <a:r>
              <a:rPr lang="ru-RU" b="1" u="sng" dirty="0"/>
              <a:t>а) договор, стороной которого является субъект ПД:</a:t>
            </a:r>
            <a:endParaRPr lang="ru-RU" dirty="0"/>
          </a:p>
          <a:p>
            <a:pPr marL="0" indent="0" algn="just">
              <a:buNone/>
            </a:pPr>
            <a:r>
              <a:rPr lang="ru-RU" dirty="0"/>
              <a:t>До 1 сентября обрабатывать ПД этого субъекта для целей заключения или исполнения договора можно было без согласия субъекта. Теперь же для сохранения возможности обработки ПД без согласия субъекта ПД необходимо проверить, чтобы договор, заключаемый с субъектом ПД, не ограничивал права и свободы субъекта ПД, не допускал обработку ПД несовершеннолетних (иное может быть предусмотрено законодательством РФ), а также не предусматривал бездействие субъекта ПД в качестве условия заключения договора (</a:t>
            </a:r>
            <a:r>
              <a:rPr lang="ru-RU" dirty="0">
                <a:hlinkClick r:id="rId2"/>
              </a:rPr>
              <a:t>п. 5 ч. 1 ст. 6</a:t>
            </a:r>
            <a:r>
              <a:rPr lang="ru-RU" dirty="0"/>
              <a:t> Закона о ПД в новой ред.).</a:t>
            </a:r>
          </a:p>
          <a:p>
            <a:pPr marL="0" indent="0" algn="just">
              <a:buNone/>
            </a:pPr>
            <a:r>
              <a:rPr lang="ru-RU" dirty="0"/>
              <a:t>Если подобные условия все же необходимо сохранить в договоре, для обработки ПД субъекта потребуется его согласие, несмотря на то, что обработка будет необходима для заключения / исполнения договора, стороной которого является субъект ПД (</a:t>
            </a:r>
            <a:r>
              <a:rPr lang="ru-RU" dirty="0">
                <a:hlinkClick r:id="rId2"/>
              </a:rPr>
              <a:t>п. 5 ч. 1 ст. 6</a:t>
            </a:r>
            <a:r>
              <a:rPr lang="ru-RU" dirty="0"/>
              <a:t> Закона о ПД). Напомним, что согласие на обработку обычных ПД (не относящихся к биометрическим или специальным ПД) может быть дано субъектом ПД (его представителем) в любой позволяющей подтвердить факт его получения форме (</a:t>
            </a:r>
            <a:r>
              <a:rPr lang="ru-RU" dirty="0">
                <a:hlinkClick r:id="rId3"/>
              </a:rPr>
              <a:t>ч. 1 ст. 9</a:t>
            </a:r>
            <a:r>
              <a:rPr lang="ru-RU" dirty="0"/>
              <a:t> Закона о ПД).</a:t>
            </a:r>
          </a:p>
          <a:p>
            <a:pPr algn="just"/>
            <a:endParaRPr lang="ru-RU" dirty="0"/>
          </a:p>
          <a:p>
            <a:pPr marL="0" indent="0">
              <a:buNone/>
            </a:pPr>
            <a:endParaRPr lang="ru-RU" dirty="0"/>
          </a:p>
        </p:txBody>
      </p:sp>
    </p:spTree>
    <p:extLst>
      <p:ext uri="{BB962C8B-B14F-4D97-AF65-F5344CB8AC3E}">
        <p14:creationId xmlns:p14="http://schemas.microsoft.com/office/powerpoint/2010/main" val="1908391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70000" lnSpcReduction="20000"/>
          </a:bodyPr>
          <a:lstStyle/>
          <a:p>
            <a:pPr marL="0" indent="0">
              <a:buNone/>
            </a:pPr>
            <a:r>
              <a:rPr lang="ru-RU" b="1" u="sng" dirty="0"/>
              <a:t>б) договор с лицом, осуществляющим обработку ПД по поручению оператора (обработчиком):</a:t>
            </a:r>
            <a:endParaRPr lang="ru-RU" dirty="0"/>
          </a:p>
          <a:p>
            <a:pPr marL="0" indent="0" algn="just">
              <a:buNone/>
            </a:pPr>
            <a:r>
              <a:rPr lang="ru-RU" dirty="0"/>
              <a:t>С 1 сентября в круг обязанностей обработчика, которые должны быть предусмотрены его договором с оператором, добавлены требования:</a:t>
            </a:r>
          </a:p>
          <a:p>
            <a:pPr marL="0" indent="0" algn="just">
              <a:buNone/>
            </a:pPr>
            <a:r>
              <a:rPr lang="ru-RU" dirty="0"/>
              <a:t>- при сборе ПД по общему правилу использовать базы данных, находящиеся на территории РФ,</a:t>
            </a:r>
          </a:p>
          <a:p>
            <a:pPr marL="0" indent="0" algn="just">
              <a:buNone/>
            </a:pPr>
            <a:r>
              <a:rPr lang="ru-RU" dirty="0"/>
              <a:t>- соблюдать предписания </a:t>
            </a:r>
            <a:r>
              <a:rPr lang="ru-RU" dirty="0">
                <a:hlinkClick r:id="rId2"/>
              </a:rPr>
              <a:t>ст. 18.1</a:t>
            </a:r>
            <a:r>
              <a:rPr lang="ru-RU" dirty="0"/>
              <a:t> Закона о ПД,</a:t>
            </a:r>
          </a:p>
          <a:p>
            <a:pPr marL="0" indent="0" algn="just">
              <a:buNone/>
            </a:pPr>
            <a:r>
              <a:rPr lang="ru-RU" dirty="0"/>
              <a:t>- предоставлять по запросу оператора ПД (в течение срока действия поручения) документы и иную информацию, подтверждающие принятие мер и соблюдение требований закона,</a:t>
            </a:r>
          </a:p>
          <a:p>
            <a:pPr marL="0" indent="0" algn="just">
              <a:buNone/>
            </a:pPr>
            <a:r>
              <a:rPr lang="ru-RU" dirty="0"/>
              <a:t>- уведомлять оператора о фактах неправомерной или случайной передачи (предоставления, распространения, доступа) ПД, повлекшей нарушение прав субъектов ПД (</a:t>
            </a:r>
            <a:r>
              <a:rPr lang="ru-RU" dirty="0">
                <a:hlinkClick r:id="rId3"/>
              </a:rPr>
              <a:t>ч. 3 ст. 6</a:t>
            </a:r>
            <a:r>
              <a:rPr lang="ru-RU" dirty="0"/>
              <a:t> Закона о ПД в новой ред.), субъектом ПД наряду с оператором (</a:t>
            </a:r>
            <a:r>
              <a:rPr lang="ru-RU" dirty="0">
                <a:hlinkClick r:id="rId4"/>
              </a:rPr>
              <a:t>ч. 6 ст. 6</a:t>
            </a:r>
            <a:r>
              <a:rPr lang="ru-RU" dirty="0"/>
              <a:t> Закона о ПД в новой ред.).</a:t>
            </a:r>
          </a:p>
          <a:p>
            <a:pPr marL="0" indent="0" algn="just">
              <a:buNone/>
            </a:pPr>
            <a:r>
              <a:rPr lang="ru-RU" dirty="0"/>
              <a:t>Данные обязанности следует включать в те договоры, которые будут заключаться начиная с 1 сентября. Ранее заключенные договоры в принудительном порядке не меняются, поскольку переходные положения не устанавливают, что действие изменений распространяется на отношения, возникшие из ранее заключенных договоров (</a:t>
            </a:r>
            <a:r>
              <a:rPr lang="ru-RU" dirty="0">
                <a:hlinkClick r:id="rId5"/>
              </a:rPr>
              <a:t>ст. 422</a:t>
            </a:r>
            <a:r>
              <a:rPr lang="ru-RU" dirty="0"/>
              <a:t> ГК РФ). Изменение содержания таких договоров возможно только по соглашению сторон.</a:t>
            </a:r>
          </a:p>
          <a:p>
            <a:pPr marL="0" indent="0" algn="just">
              <a:buNone/>
            </a:pPr>
            <a:endParaRPr lang="ru-RU" dirty="0"/>
          </a:p>
        </p:txBody>
      </p:sp>
    </p:spTree>
    <p:extLst>
      <p:ext uri="{BB962C8B-B14F-4D97-AF65-F5344CB8AC3E}">
        <p14:creationId xmlns:p14="http://schemas.microsoft.com/office/powerpoint/2010/main" val="13973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85000" lnSpcReduction="20000"/>
          </a:bodyPr>
          <a:lstStyle/>
          <a:p>
            <a:pPr marL="0" indent="0" algn="just">
              <a:buNone/>
            </a:pPr>
            <a:r>
              <a:rPr lang="ru-RU" b="1" u="sng" dirty="0"/>
              <a:t>в) согласие на обработку ПД:</a:t>
            </a:r>
            <a:endParaRPr lang="ru-RU" dirty="0"/>
          </a:p>
          <a:p>
            <a:pPr marL="0" indent="0" algn="just">
              <a:buNone/>
            </a:pPr>
            <a:r>
              <a:rPr lang="ru-RU" dirty="0"/>
              <a:t>Ранее от согласия на обработку ПД требовалось быть конкретным, информированным и сознательным. Теперь оно должно быть еще и предметным, а также однозначным (</a:t>
            </a:r>
            <a:r>
              <a:rPr lang="ru-RU" dirty="0">
                <a:hlinkClick r:id="rId2"/>
              </a:rPr>
              <a:t>ч. 1 ст. 9</a:t>
            </a:r>
            <a:r>
              <a:rPr lang="ru-RU" dirty="0"/>
              <a:t> Закона о ПД в новой ред.).</a:t>
            </a:r>
          </a:p>
          <a:p>
            <a:pPr marL="0" indent="0" algn="just">
              <a:buNone/>
            </a:pPr>
            <a:r>
              <a:rPr lang="ru-RU" dirty="0"/>
              <a:t>Пока не сложится практика применения данной нормы, сложно сказать, в чем существенное отличие нового регулирования. Пояснительная записка к законопроекту не освещает это изменение. На наш взгляд, понятие конкретности согласия настолько тесно связано с его предметностью и однозначностью, что и до этого согласие субъекта ПД предполагалось дающимся в отношении определенных видов ПД и определенных видов их обработки (предметность) и не допускающим различного толкования (однозначность).</a:t>
            </a:r>
          </a:p>
          <a:p>
            <a:pPr marL="0" indent="0" algn="just">
              <a:buNone/>
            </a:pPr>
            <a:r>
              <a:rPr lang="ru-RU" dirty="0"/>
              <a:t>Пока практической рекомендацией, видимо, должна быть проверка разработанного оператором шаблона согласия на пресловутые предметность и однозначность.</a:t>
            </a:r>
          </a:p>
          <a:p>
            <a:pPr marL="0" indent="0">
              <a:buNone/>
            </a:pPr>
            <a:endParaRPr lang="ru-RU" dirty="0"/>
          </a:p>
          <a:p>
            <a:pPr marL="0" indent="0">
              <a:buNone/>
            </a:pPr>
            <a:endParaRPr lang="ru-RU" dirty="0"/>
          </a:p>
        </p:txBody>
      </p:sp>
    </p:spTree>
    <p:extLst>
      <p:ext uri="{BB962C8B-B14F-4D97-AF65-F5344CB8AC3E}">
        <p14:creationId xmlns:p14="http://schemas.microsoft.com/office/powerpoint/2010/main" val="711289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70000" lnSpcReduction="20000"/>
          </a:bodyPr>
          <a:lstStyle/>
          <a:p>
            <a:pPr marL="0" indent="0">
              <a:buNone/>
            </a:pPr>
            <a:r>
              <a:rPr lang="ru-RU" b="1" u="sng" dirty="0"/>
              <a:t>г) локальные акты по вопросам обработки ПД:</a:t>
            </a:r>
            <a:endParaRPr lang="ru-RU" dirty="0"/>
          </a:p>
          <a:p>
            <a:pPr marL="0" indent="0" algn="just">
              <a:buNone/>
            </a:pPr>
            <a:r>
              <a:rPr lang="ru-RU" dirty="0"/>
              <a:t>С 1 сентября уточняются требования к содержанию документов, определяющих политику оператора в отношении обработки ПД, локальных актов по вопросам обработки ПД:</a:t>
            </a:r>
          </a:p>
          <a:p>
            <a:pPr marL="0" indent="0" algn="just">
              <a:buNone/>
            </a:pPr>
            <a:r>
              <a:rPr lang="ru-RU" dirty="0"/>
              <a:t>- в них должны определяться для каждой цели обработки ПД категории и перечень обрабатываемых ПД, категории субъектов, ПД которых обрабатываются, способы, сроки их обработки и хранения, порядок уничтожения ПД при достижении целей их обработки или при наступлении иных законных оснований,</a:t>
            </a:r>
          </a:p>
          <a:p>
            <a:pPr marL="0" indent="0" algn="just">
              <a:buNone/>
            </a:pPr>
            <a:r>
              <a:rPr lang="ru-RU" dirty="0"/>
              <a:t>- запрещено включать в них положения, ограничивающие права субъектов ПД, а также возлагающие на операторов не предусмотренные законодательством РФ полномочия и обязанности (</a:t>
            </a:r>
            <a:r>
              <a:rPr lang="ru-RU" dirty="0">
                <a:hlinkClick r:id="rId2"/>
              </a:rPr>
              <a:t>п. 2 ч. 1 ст. 18.1</a:t>
            </a:r>
            <a:r>
              <a:rPr lang="ru-RU" dirty="0"/>
              <a:t> Закона о ПД в новой ред.).</a:t>
            </a:r>
          </a:p>
          <a:p>
            <a:pPr marL="0" indent="0" algn="just">
              <a:buNone/>
            </a:pPr>
            <a:r>
              <a:rPr lang="ru-RU" dirty="0"/>
              <a:t>Также отметим, что с 1 сентября конкретизировано, где именно в соответствующей информационно-телекоммуникационной сети оператор, осуществляющий сбор ПД с использованием таких сетей, обязан опубликовать документ, определяющий его политику в отношении обработки ПД, и сведения о реализуемых требованиях к защите ПД - а именно, на страницах принадлежащего оператору сайта в интернете, с использованием которых осуществляется сбор ПД (</a:t>
            </a:r>
            <a:r>
              <a:rPr lang="ru-RU" dirty="0">
                <a:hlinkClick r:id="rId3"/>
              </a:rPr>
              <a:t>ч. 2 ст. 18.1</a:t>
            </a:r>
            <a:r>
              <a:rPr lang="ru-RU" dirty="0"/>
              <a:t> Закона о ПД в новой ред.). Однако формулировка "в том числе" указывает, что это не исключительный способ опубликования сведений.</a:t>
            </a:r>
          </a:p>
          <a:p>
            <a:pPr marL="0" indent="0">
              <a:buNone/>
            </a:pPr>
            <a:endParaRPr lang="ru-RU" dirty="0"/>
          </a:p>
        </p:txBody>
      </p:sp>
    </p:spTree>
    <p:extLst>
      <p:ext uri="{BB962C8B-B14F-4D97-AF65-F5344CB8AC3E}">
        <p14:creationId xmlns:p14="http://schemas.microsoft.com/office/powerpoint/2010/main" val="236043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62500" lnSpcReduction="20000"/>
          </a:bodyPr>
          <a:lstStyle/>
          <a:p>
            <a:pPr marL="0" indent="0" algn="just">
              <a:buNone/>
            </a:pPr>
            <a:r>
              <a:rPr lang="ru-RU" b="1" u="sng" dirty="0"/>
              <a:t>д) уведомление </a:t>
            </a:r>
            <a:r>
              <a:rPr lang="ru-RU" b="1" u="sng" dirty="0" err="1"/>
              <a:t>Роскомнадзора</a:t>
            </a:r>
            <a:r>
              <a:rPr lang="ru-RU" b="1" u="sng" dirty="0"/>
              <a:t> о начале обработки ПД</a:t>
            </a:r>
            <a:endParaRPr lang="ru-RU" dirty="0"/>
          </a:p>
          <a:p>
            <a:pPr marL="0" indent="0" algn="just">
              <a:buNone/>
            </a:pPr>
            <a:r>
              <a:rPr lang="ru-RU" dirty="0"/>
              <a:t>В нем дополнительно следует указать ФИО физического лица или наименование юридического лица, имеющих доступ и (или) осуществляющих на основании договора обработку ПД, содержащихся в государственных и муниципальных информационных системах (</a:t>
            </a:r>
            <a:r>
              <a:rPr lang="ru-RU" dirty="0">
                <a:hlinkClick r:id="rId2"/>
              </a:rPr>
              <a:t>п. 10.2 ч. 3 ст. 22</a:t>
            </a:r>
            <a:r>
              <a:rPr lang="ru-RU" dirty="0"/>
              <a:t> Закона о ПД в новой ред.).</a:t>
            </a:r>
          </a:p>
          <a:p>
            <a:pPr marL="0" indent="0" algn="just">
              <a:buNone/>
            </a:pPr>
            <a:r>
              <a:rPr lang="ru-RU" dirty="0"/>
              <a:t>А категории ПД, категории субъектов, ПД которых обрабатываются, правовое основание обработки ПД, перечень действий с ПД, способы обработки ПД отныне следует указывать для каждой цели обработки ПД отдельно (</a:t>
            </a:r>
            <a:r>
              <a:rPr lang="ru-RU" dirty="0">
                <a:hlinkClick r:id="rId3"/>
              </a:rPr>
              <a:t>ч. 3.1 ст. 22</a:t>
            </a:r>
            <a:r>
              <a:rPr lang="ru-RU" dirty="0"/>
              <a:t> Закона о ПД в новой ред.).</a:t>
            </a:r>
          </a:p>
          <a:p>
            <a:pPr marL="0" indent="0" algn="just">
              <a:buNone/>
            </a:pPr>
            <a:r>
              <a:rPr lang="ru-RU" dirty="0"/>
              <a:t>Обращаем внимание: изменениями закреплена обязательность форм уведомлений о начале и прекращении обработки ПД, а также об изменении ранее представленных сведений, которые устанавливаются </a:t>
            </a:r>
            <a:r>
              <a:rPr lang="ru-RU" dirty="0" err="1"/>
              <a:t>Роскомнадзором</a:t>
            </a:r>
            <a:r>
              <a:rPr lang="ru-RU" dirty="0"/>
              <a:t> (</a:t>
            </a:r>
            <a:r>
              <a:rPr lang="ru-RU" dirty="0">
                <a:hlinkClick r:id="rId4"/>
              </a:rPr>
              <a:t>ч. 8 ст. 22</a:t>
            </a:r>
            <a:r>
              <a:rPr lang="ru-RU" dirty="0"/>
              <a:t> Закона о ПД в новой ред.). Таким образом, соответствующие формы, приведенные в приложении к </a:t>
            </a:r>
            <a:r>
              <a:rPr lang="ru-RU" dirty="0">
                <a:hlinkClick r:id="rId5"/>
              </a:rPr>
              <a:t>методическим рекомендациям</a:t>
            </a:r>
            <a:r>
              <a:rPr lang="ru-RU" dirty="0"/>
              <a:t>, утв. </a:t>
            </a:r>
            <a:r>
              <a:rPr lang="ru-RU" dirty="0">
                <a:hlinkClick r:id="rId6"/>
              </a:rPr>
              <a:t>приказом</a:t>
            </a:r>
            <a:r>
              <a:rPr lang="ru-RU" dirty="0"/>
              <a:t> </a:t>
            </a:r>
            <a:r>
              <a:rPr lang="ru-RU" dirty="0" err="1"/>
              <a:t>Роскомнадзора</a:t>
            </a:r>
            <a:r>
              <a:rPr lang="ru-RU" dirty="0"/>
              <a:t> от 30 мая 2017 г. N 94, переходят из статуса рекомендуемых в статус обязательных, если ведомством не будут разработаны новые формы.</a:t>
            </a:r>
          </a:p>
          <a:p>
            <a:pPr marL="0" indent="0" algn="just">
              <a:buNone/>
            </a:pPr>
            <a:r>
              <a:rPr lang="ru-RU" dirty="0"/>
              <a:t>Работа по утверждению новых форм уже </a:t>
            </a:r>
            <a:r>
              <a:rPr lang="ru-RU" dirty="0">
                <a:hlinkClick r:id="rId7"/>
              </a:rPr>
              <a:t>ведется</a:t>
            </a:r>
            <a:r>
              <a:rPr lang="ru-RU" dirty="0"/>
              <a:t>. Если эти формы не будут приняты к 1 сентября, необходимо подать уведомления о намерении осуществлять обработку ПД (если ранее не уведомляли </a:t>
            </a:r>
            <a:r>
              <a:rPr lang="ru-RU" dirty="0" err="1"/>
              <a:t>Роскомнадзор</a:t>
            </a:r>
            <a:r>
              <a:rPr lang="ru-RU" dirty="0"/>
              <a:t> об обработке) или о внесении изменений в ранее представленные сведения (если уведомляли, но по старой редакции </a:t>
            </a:r>
            <a:r>
              <a:rPr lang="ru-RU" dirty="0">
                <a:hlinkClick r:id="rId8"/>
              </a:rPr>
              <a:t>ст. 22</a:t>
            </a:r>
            <a:r>
              <a:rPr lang="ru-RU" dirty="0"/>
              <a:t> Закона о ПД) по старым формам, а при появлении новых подать недостающие сведения через форму уведомления о внесении изменений в ранее представленные сведения. Такие разъяснения </a:t>
            </a:r>
            <a:r>
              <a:rPr lang="ru-RU" dirty="0">
                <a:hlinkClick r:id="rId9"/>
              </a:rPr>
              <a:t>дает</a:t>
            </a:r>
            <a:r>
              <a:rPr lang="ru-RU" dirty="0"/>
              <a:t> и </a:t>
            </a:r>
            <a:r>
              <a:rPr lang="ru-RU" dirty="0" err="1"/>
              <a:t>Роскомнадзор</a:t>
            </a:r>
            <a:r>
              <a:rPr lang="ru-RU" dirty="0"/>
              <a:t>.</a:t>
            </a:r>
          </a:p>
          <a:p>
            <a:pPr marL="0" indent="0" algn="just">
              <a:buNone/>
            </a:pPr>
            <a:endParaRPr lang="ru-RU" dirty="0"/>
          </a:p>
        </p:txBody>
      </p:sp>
    </p:spTree>
    <p:extLst>
      <p:ext uri="{BB962C8B-B14F-4D97-AF65-F5344CB8AC3E}">
        <p14:creationId xmlns:p14="http://schemas.microsoft.com/office/powerpoint/2010/main" val="3955093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sz="3100" b="1" dirty="0" smtClean="0"/>
              <a:t/>
            </a:r>
            <a:br>
              <a:rPr lang="ru-RU" sz="3100" b="1" dirty="0" smtClean="0"/>
            </a:br>
            <a:r>
              <a:rPr lang="ru-RU" sz="3100" b="1" dirty="0" smtClean="0"/>
              <a:t>2. Изменения в вашем взаимодействии с субъектами ПД</a:t>
            </a:r>
            <a:r>
              <a:rPr lang="ru-RU" b="1" dirty="0"/>
              <a:t/>
            </a:r>
            <a:br>
              <a:rPr lang="ru-RU" b="1" dirty="0"/>
            </a:br>
            <a:endParaRPr lang="ru-RU" dirty="0"/>
          </a:p>
        </p:txBody>
      </p:sp>
      <p:sp>
        <p:nvSpPr>
          <p:cNvPr id="3" name="Объект 2"/>
          <p:cNvSpPr>
            <a:spLocks noGrp="1"/>
          </p:cNvSpPr>
          <p:nvPr>
            <p:ph idx="1"/>
          </p:nvPr>
        </p:nvSpPr>
        <p:spPr/>
        <p:txBody>
          <a:bodyPr/>
          <a:lstStyle/>
          <a:p>
            <a:pPr marL="0" indent="0">
              <a:buNone/>
            </a:pPr>
            <a:r>
              <a:rPr lang="ru-RU" b="1" u="sng" dirty="0"/>
              <a:t>а) в части биометрических ПД:</a:t>
            </a:r>
            <a:endParaRPr lang="ru-RU" dirty="0"/>
          </a:p>
          <a:p>
            <a:pPr marL="0" indent="0" algn="just">
              <a:buNone/>
            </a:pPr>
            <a:r>
              <a:rPr lang="ru-RU" dirty="0"/>
              <a:t>С 1 сентября предоставление биометрических ПД не может быть обязательным, за исключением случаев, когда обработка биометрических ПД может осуществляться без согласия субъекта. Оператор также не вправе отказывать в обслуживании в случае отказа субъекта ПД предоставить биометрические ПД и (или) дать согласие на их обработку, если в соответствии с федеральным законом получение оператором согласия на обработку ПД не является обязательным (</a:t>
            </a:r>
            <a:r>
              <a:rPr lang="ru-RU" dirty="0">
                <a:hlinkClick r:id="rId2"/>
              </a:rPr>
              <a:t>ч. 3 ст. 11</a:t>
            </a:r>
            <a:r>
              <a:rPr lang="ru-RU" dirty="0"/>
              <a:t> Закона о ПД в новой ред.).</a:t>
            </a:r>
          </a:p>
          <a:p>
            <a:pPr marL="0" indent="0" algn="just">
              <a:buNone/>
            </a:pPr>
            <a:endParaRPr lang="ru-RU" dirty="0"/>
          </a:p>
        </p:txBody>
      </p:sp>
    </p:spTree>
    <p:extLst>
      <p:ext uri="{BB962C8B-B14F-4D97-AF65-F5344CB8AC3E}">
        <p14:creationId xmlns:p14="http://schemas.microsoft.com/office/powerpoint/2010/main" val="2998775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85000" lnSpcReduction="20000"/>
          </a:bodyPr>
          <a:lstStyle/>
          <a:p>
            <a:pPr marL="0" indent="0">
              <a:buNone/>
            </a:pPr>
            <a:r>
              <a:rPr lang="ru-RU" b="1" u="sng" dirty="0"/>
              <a:t>б) при запросе субъектом ПД информации, касающейся обработки его ПД:</a:t>
            </a:r>
            <a:endParaRPr lang="ru-RU" dirty="0"/>
          </a:p>
          <a:p>
            <a:pPr marL="0" indent="0" algn="just">
              <a:buNone/>
            </a:pPr>
            <a:r>
              <a:rPr lang="ru-RU" dirty="0"/>
              <a:t>В перечень сведений, которые субъект ПД может запросить у оператора, включена информация о способах исполнения оператором обязанностей, установленных </a:t>
            </a:r>
            <a:r>
              <a:rPr lang="ru-RU" dirty="0">
                <a:hlinkClick r:id="rId2"/>
              </a:rPr>
              <a:t>ст. 18.1</a:t>
            </a:r>
            <a:r>
              <a:rPr lang="ru-RU" dirty="0"/>
              <a:t> Закона о ПД (</a:t>
            </a:r>
            <a:r>
              <a:rPr lang="ru-RU" dirty="0">
                <a:hlinkClick r:id="rId3"/>
              </a:rPr>
              <a:t>п. 9.1 ч. 7 ст. 14</a:t>
            </a:r>
            <a:r>
              <a:rPr lang="ru-RU" dirty="0"/>
              <a:t> Закона о ПД в новой ред.).</a:t>
            </a:r>
          </a:p>
          <a:p>
            <a:pPr marL="0" indent="0" algn="just">
              <a:buNone/>
            </a:pPr>
            <a:r>
              <a:rPr lang="ru-RU" dirty="0"/>
              <a:t>Также с 1 сентября будет определен срок и порядок ответа оператора на запрос субъекта ПД: сведения должны быть предоставлены субъекту ПД (его представителю) в течение десяти рабочих дней с момента обращения (получения оператором соответствующего запроса). Указанный срок может быть продлен не более чем на пять рабочих дней по мотивированному уведомлению, которое оператор должен направить в адрес субъекта ПД. Сведения предоставляются в той форме, в которой направлено соответствующее обращение (запрос), если в нем не указано иное (</a:t>
            </a:r>
            <a:r>
              <a:rPr lang="ru-RU" dirty="0">
                <a:hlinkClick r:id="rId4"/>
              </a:rPr>
              <a:t>ч. 3 ст. 14</a:t>
            </a:r>
            <a:r>
              <a:rPr lang="ru-RU" dirty="0"/>
              <a:t> Закона о ПД в новой ред.).</a:t>
            </a:r>
          </a:p>
          <a:p>
            <a:pPr algn="just"/>
            <a:r>
              <a:rPr lang="ru-RU" dirty="0"/>
              <a:t> </a:t>
            </a:r>
          </a:p>
          <a:p>
            <a:pPr marL="0" indent="0">
              <a:buNone/>
            </a:pPr>
            <a:endParaRPr lang="ru-RU" dirty="0"/>
          </a:p>
        </p:txBody>
      </p:sp>
    </p:spTree>
    <p:extLst>
      <p:ext uri="{BB962C8B-B14F-4D97-AF65-F5344CB8AC3E}">
        <p14:creationId xmlns:p14="http://schemas.microsoft.com/office/powerpoint/2010/main" val="579679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lnSpcReduction="10000"/>
          </a:bodyPr>
          <a:lstStyle/>
          <a:p>
            <a:pPr marL="0" indent="0">
              <a:buNone/>
            </a:pPr>
            <a:r>
              <a:rPr lang="ru-RU" b="1" u="sng" dirty="0"/>
              <a:t>3) при сборе ПД:</a:t>
            </a:r>
            <a:endParaRPr lang="ru-RU" dirty="0"/>
          </a:p>
          <a:p>
            <a:pPr marL="0" indent="0" algn="just">
              <a:buNone/>
            </a:pPr>
            <a:r>
              <a:rPr lang="ru-RU" dirty="0"/>
              <a:t>Оператор обязан разъяснить субъекту ПД юридические последствия не только отказа предоставить его ПД (ныне действующая норма), но и отказа дать согласие на их обработку, если в соответствии с федеральным законом получение оператором согласия на обработку ПД является обязательным (</a:t>
            </a:r>
            <a:r>
              <a:rPr lang="ru-RU" dirty="0">
                <a:hlinkClick r:id="rId2"/>
              </a:rPr>
              <a:t>ч. 2 ст. 18</a:t>
            </a:r>
            <a:r>
              <a:rPr lang="ru-RU" dirty="0"/>
              <a:t> Закона о ПД в новой ред.).</a:t>
            </a:r>
          </a:p>
          <a:p>
            <a:pPr marL="0" indent="0" algn="just">
              <a:buNone/>
            </a:pPr>
            <a:r>
              <a:rPr lang="ru-RU" dirty="0"/>
              <a:t>В круг сведений, которые оператор обязан предоставить субъекту ПД до начала обработки, если ПД получены от третьих лиц, включен сам перечень полученных ПД (</a:t>
            </a:r>
            <a:r>
              <a:rPr lang="ru-RU" dirty="0">
                <a:hlinkClick r:id="rId3"/>
              </a:rPr>
              <a:t>п. 2.1 ч. 3 ст. 18</a:t>
            </a:r>
            <a:r>
              <a:rPr lang="ru-RU" dirty="0"/>
              <a:t> Закона о ПД в новой ред.).</a:t>
            </a:r>
          </a:p>
          <a:p>
            <a:endParaRPr lang="ru-RU" dirty="0"/>
          </a:p>
          <a:p>
            <a:pPr marL="0" indent="0">
              <a:buNone/>
            </a:pPr>
            <a:endParaRPr lang="ru-RU" dirty="0"/>
          </a:p>
        </p:txBody>
      </p:sp>
    </p:spTree>
    <p:extLst>
      <p:ext uri="{BB962C8B-B14F-4D97-AF65-F5344CB8AC3E}">
        <p14:creationId xmlns:p14="http://schemas.microsoft.com/office/powerpoint/2010/main" val="2474828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lnSpcReduction="10000"/>
          </a:bodyPr>
          <a:lstStyle/>
          <a:p>
            <a:pPr marL="0" indent="0" algn="just">
              <a:buNone/>
            </a:pPr>
            <a:r>
              <a:rPr lang="ru-RU" b="1" u="sng" dirty="0"/>
              <a:t>4) по поводу устранения нарушений законодательства, допущенных при обработке ПД:</a:t>
            </a:r>
            <a:endParaRPr lang="ru-RU" dirty="0"/>
          </a:p>
          <a:p>
            <a:pPr marL="0" indent="0" algn="just">
              <a:buNone/>
            </a:pPr>
            <a:r>
              <a:rPr lang="ru-RU" dirty="0"/>
              <a:t>В случае обращения субъекта ПД к оператору с требованием о прекращении обработки ПД оператор обязан по общему правилу прекратить их обработку или обеспечить прекращение такой обработки (если за оператора действует обработчик) за исключением случаев, когда обработка возможна без согласия субъекта ПД, в течение десяти рабочих дней с даты получения требования. Указанный срок может быть продлен не более чем на пять рабочих дней по мотивированному уведомлению, которое оператор должен направить в адрес субъекта ПД (</a:t>
            </a:r>
            <a:r>
              <a:rPr lang="ru-RU" dirty="0">
                <a:hlinkClick r:id="rId2"/>
              </a:rPr>
              <a:t>ч. 5.1 ст. 21</a:t>
            </a:r>
            <a:r>
              <a:rPr lang="ru-RU" dirty="0"/>
              <a:t> Закона о ПД в новой ред.).</a:t>
            </a:r>
          </a:p>
          <a:p>
            <a:endParaRPr lang="ru-RU" dirty="0"/>
          </a:p>
          <a:p>
            <a:pPr marL="0" indent="0">
              <a:buNone/>
            </a:pPr>
            <a:endParaRPr lang="ru-RU" dirty="0"/>
          </a:p>
        </p:txBody>
      </p:sp>
    </p:spTree>
    <p:extLst>
      <p:ext uri="{BB962C8B-B14F-4D97-AF65-F5344CB8AC3E}">
        <p14:creationId xmlns:p14="http://schemas.microsoft.com/office/powerpoint/2010/main" val="1449723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b="1" dirty="0" smtClean="0"/>
              <a:t/>
            </a:r>
            <a:br>
              <a:rPr lang="ru-RU" b="1" dirty="0" smtClean="0"/>
            </a:br>
            <a:r>
              <a:rPr lang="ru-RU" b="1" dirty="0"/>
              <a:t/>
            </a:r>
            <a:br>
              <a:rPr lang="ru-RU" b="1" dirty="0"/>
            </a:br>
            <a:r>
              <a:rPr lang="ru-RU" b="1" dirty="0" smtClean="0"/>
              <a:t>3</a:t>
            </a:r>
            <a:r>
              <a:rPr lang="ru-RU" b="1" dirty="0"/>
              <a:t>. Изменения в вашем взаимодействии с </a:t>
            </a:r>
            <a:r>
              <a:rPr lang="ru-RU" b="1" dirty="0" err="1"/>
              <a:t>Роскомнадзором</a:t>
            </a:r>
            <a:r>
              <a:rPr lang="ru-RU" b="1" dirty="0"/>
              <a:t/>
            </a:r>
            <a:br>
              <a:rPr lang="ru-RU" b="1" dirty="0"/>
            </a:br>
            <a:r>
              <a:rPr lang="ru-RU" dirty="0"/>
              <a:t> </a:t>
            </a:r>
            <a:br>
              <a:rPr lang="ru-RU" dirty="0"/>
            </a:br>
            <a:endParaRPr lang="ru-RU" dirty="0"/>
          </a:p>
        </p:txBody>
      </p:sp>
      <p:sp>
        <p:nvSpPr>
          <p:cNvPr id="3" name="Объект 2"/>
          <p:cNvSpPr>
            <a:spLocks noGrp="1"/>
          </p:cNvSpPr>
          <p:nvPr>
            <p:ph idx="1"/>
          </p:nvPr>
        </p:nvSpPr>
        <p:spPr/>
        <p:txBody>
          <a:bodyPr>
            <a:normAutofit fontScale="62500" lnSpcReduction="20000"/>
          </a:bodyPr>
          <a:lstStyle/>
          <a:p>
            <a:pPr marL="0" indent="0" algn="just">
              <a:buNone/>
            </a:pPr>
            <a:r>
              <a:rPr lang="ru-RU" b="1" u="sng" dirty="0"/>
              <a:t>а) по уведомлению о начале обработки ПД:</a:t>
            </a:r>
            <a:endParaRPr lang="ru-RU" dirty="0"/>
          </a:p>
          <a:p>
            <a:pPr marL="0" indent="0" algn="just">
              <a:buNone/>
            </a:pPr>
            <a:r>
              <a:rPr lang="ru-RU" dirty="0"/>
              <a:t>Перечень случаев, когда обработка ПД возможна без уведомления </a:t>
            </a:r>
            <a:r>
              <a:rPr lang="ru-RU" dirty="0" err="1"/>
              <a:t>Роскомнадзора</a:t>
            </a:r>
            <a:r>
              <a:rPr lang="ru-RU" dirty="0"/>
              <a:t>, с 1 сентября урезан до обработки ПД:</a:t>
            </a:r>
          </a:p>
          <a:p>
            <a:pPr marL="0" indent="0" algn="just">
              <a:buNone/>
            </a:pPr>
            <a:r>
              <a:rPr lang="ru-RU" dirty="0"/>
              <a:t>- включенных в государственные информационные системы ПД, созданные в целях защиты безопасности государства и общественного порядка;</a:t>
            </a:r>
          </a:p>
          <a:p>
            <a:pPr marL="0" indent="0" algn="just">
              <a:buNone/>
            </a:pPr>
            <a:r>
              <a:rPr lang="ru-RU" dirty="0"/>
              <a:t>- обрабатываемых в случаях, предусмотренных законодательством РФ о транспортной безопасности, в целях обеспечения устойчивого и безопасного функционирования транспортного комплекса, защиты интересов личности, общества и государства в сфере транспортного комплекса от актов незаконного вмешательства,</a:t>
            </a:r>
          </a:p>
          <a:p>
            <a:pPr marL="0" indent="0" algn="just">
              <a:buNone/>
            </a:pPr>
            <a:r>
              <a:rPr lang="ru-RU" dirty="0"/>
              <a:t>- в случае, если оператор осуществляет деятельность по обработке ПД исключительно без использования средств автоматизации (</a:t>
            </a:r>
            <a:r>
              <a:rPr lang="ru-RU" dirty="0">
                <a:hlinkClick r:id="rId2"/>
              </a:rPr>
              <a:t>ч. 2 ст. 22</a:t>
            </a:r>
            <a:r>
              <a:rPr lang="ru-RU" dirty="0"/>
              <a:t> Закона о ПД в новой ред.).</a:t>
            </a:r>
          </a:p>
          <a:p>
            <a:pPr marL="0" indent="0" algn="just">
              <a:buNone/>
            </a:pPr>
            <a:r>
              <a:rPr lang="ru-RU" dirty="0"/>
              <a:t>Отметим, что в последнем случае речь идет о возможности обработки ПД без уведомления </a:t>
            </a:r>
            <a:r>
              <a:rPr lang="ru-RU" dirty="0" err="1"/>
              <a:t>Роскомнадзора</a:t>
            </a:r>
            <a:r>
              <a:rPr lang="ru-RU" dirty="0"/>
              <a:t> только тогда, когда оператор вообще осуществляет деятельность по обработке ПД исключительно без использования средств автоматизации, т.е. абсолютно все ПД им обрабатываются таким способом.</a:t>
            </a:r>
          </a:p>
          <a:p>
            <a:pPr marL="0" indent="0" algn="just">
              <a:buNone/>
            </a:pPr>
            <a:r>
              <a:rPr lang="ru-RU" dirty="0"/>
              <a:t>Несмотря на то, что законодатель значительно увеличил число случаев, в которых уведомление </a:t>
            </a:r>
            <a:r>
              <a:rPr lang="ru-RU" dirty="0" err="1"/>
              <a:t>Роскомнадзора</a:t>
            </a:r>
            <a:r>
              <a:rPr lang="ru-RU" dirty="0"/>
              <a:t> необходимо, он не предусмотрел никаких переходных положений по срокам направления уведомления для тех операторов, которые ранее не обязаны были направлять такое уведомление. Официальных разъяснений на этот счет тоже пока нет. Мы полагаем наименее рискованным направление уведомления в первый день действия новой редакции Закона о ПД - </a:t>
            </a:r>
            <a:r>
              <a:rPr lang="ru-RU" b="1" dirty="0"/>
              <a:t>1 сентября</a:t>
            </a:r>
            <a:r>
              <a:rPr lang="ru-RU" dirty="0"/>
              <a:t>.</a:t>
            </a:r>
          </a:p>
          <a:p>
            <a:pPr marL="0" indent="0" algn="just">
              <a:buNone/>
            </a:pPr>
            <a:r>
              <a:rPr lang="ru-RU" dirty="0"/>
              <a:t> </a:t>
            </a:r>
          </a:p>
          <a:p>
            <a:pPr marL="0" indent="0" algn="just">
              <a:buNone/>
            </a:pPr>
            <a:endParaRPr lang="ru-RU" dirty="0"/>
          </a:p>
        </p:txBody>
      </p:sp>
    </p:spTree>
    <p:extLst>
      <p:ext uri="{BB962C8B-B14F-4D97-AF65-F5344CB8AC3E}">
        <p14:creationId xmlns:p14="http://schemas.microsoft.com/office/powerpoint/2010/main" val="1737110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b="1" u="sng" dirty="0"/>
              <a:t>б) при запросе информации </a:t>
            </a:r>
            <a:r>
              <a:rPr lang="ru-RU" b="1" u="sng" dirty="0" err="1"/>
              <a:t>Роскомнадзором</a:t>
            </a:r>
            <a:r>
              <a:rPr lang="ru-RU" b="1" u="sng" dirty="0"/>
              <a:t>:</a:t>
            </a:r>
            <a:endParaRPr lang="ru-RU" dirty="0"/>
          </a:p>
          <a:p>
            <a:pPr marL="0" indent="0" algn="just">
              <a:buNone/>
            </a:pPr>
            <a:r>
              <a:rPr lang="ru-RU" dirty="0"/>
              <a:t>Срок ответа оператора при получении запроса </a:t>
            </a:r>
            <a:r>
              <a:rPr lang="ru-RU" dirty="0" err="1"/>
              <a:t>Роскомнадзора</a:t>
            </a:r>
            <a:r>
              <a:rPr lang="ru-RU" dirty="0"/>
              <a:t> сокращен с тридцати календарных дней до десяти рабочих дней со дня обращения (получения запроса). Но этот срок может быть продлен не более чем на пять рабочих дней по мотивированному уведомлению, которое оператор обязан направить в </a:t>
            </a:r>
            <a:r>
              <a:rPr lang="ru-RU" dirty="0" err="1"/>
              <a:t>Роскомнадзор</a:t>
            </a:r>
            <a:r>
              <a:rPr lang="ru-RU" dirty="0"/>
              <a:t> (</a:t>
            </a:r>
            <a:r>
              <a:rPr lang="ru-RU" dirty="0">
                <a:hlinkClick r:id="rId2"/>
              </a:rPr>
              <a:t>ч. 4 ст. 20</a:t>
            </a:r>
            <a:r>
              <a:rPr lang="ru-RU" dirty="0"/>
              <a:t> Закона о ПД в новой ред.).</a:t>
            </a:r>
          </a:p>
          <a:p>
            <a:pPr marL="0" indent="0" algn="just">
              <a:buNone/>
            </a:pPr>
            <a:endParaRPr lang="ru-RU" dirty="0"/>
          </a:p>
        </p:txBody>
      </p:sp>
    </p:spTree>
    <p:extLst>
      <p:ext uri="{BB962C8B-B14F-4D97-AF65-F5344CB8AC3E}">
        <p14:creationId xmlns:p14="http://schemas.microsoft.com/office/powerpoint/2010/main" val="4086960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92500" lnSpcReduction="20000"/>
          </a:bodyPr>
          <a:lstStyle/>
          <a:p>
            <a:pPr marL="0" indent="0" algn="just">
              <a:buNone/>
            </a:pPr>
            <a:r>
              <a:rPr lang="ru-RU" b="1" u="sng" dirty="0"/>
              <a:t>в) по поводу устранения нарушений законодательства, допущенных при обработке ПД:</a:t>
            </a:r>
            <a:endParaRPr lang="ru-RU" dirty="0"/>
          </a:p>
          <a:p>
            <a:pPr marL="0" indent="0" algn="just">
              <a:buNone/>
            </a:pPr>
            <a:r>
              <a:rPr lang="ru-RU" dirty="0"/>
              <a:t>В случае установления факта неправомерной или случайной передачи (предоставления, распространения, доступа) ПД, повлекшей нарушение прав субъектов ПД, оператор обязан уведомить </a:t>
            </a:r>
            <a:r>
              <a:rPr lang="ru-RU" dirty="0" err="1"/>
              <a:t>Роскомнадзор</a:t>
            </a:r>
            <a:r>
              <a:rPr lang="ru-RU" dirty="0"/>
              <a:t> о произошедшем инциденте, о предполагаемых причинах, повлекших нарушение прав субъектов ПД, и предполагаемом вреде, нанесенном правам субъектов ПД, о принятых мерах по устранению последствий соответствующего инцидента, а также предоставить сведения о контактном лице - в течение </a:t>
            </a:r>
            <a:r>
              <a:rPr lang="ru-RU" b="1" dirty="0"/>
              <a:t>суток</a:t>
            </a:r>
            <a:r>
              <a:rPr lang="ru-RU" dirty="0"/>
              <a:t> с момента выявления такого инцидента оператором, самим </a:t>
            </a:r>
            <a:r>
              <a:rPr lang="ru-RU" dirty="0" err="1"/>
              <a:t>Роскомнадзором</a:t>
            </a:r>
            <a:r>
              <a:rPr lang="ru-RU" dirty="0"/>
              <a:t> или иным заинтересованным лицом, а о результатах внутреннего расследования выявленного инцидента и о лицах, действия которых стали причиной выявленного инцидента (при наличии) - в течение </a:t>
            </a:r>
            <a:r>
              <a:rPr lang="ru-RU" b="1" dirty="0"/>
              <a:t>трех суток</a:t>
            </a:r>
            <a:r>
              <a:rPr lang="ru-RU" dirty="0"/>
              <a:t> (</a:t>
            </a:r>
            <a:r>
              <a:rPr lang="ru-RU" dirty="0">
                <a:hlinkClick r:id="rId2"/>
              </a:rPr>
              <a:t>ч. 3.1 ст. 21</a:t>
            </a:r>
            <a:r>
              <a:rPr lang="ru-RU" dirty="0"/>
              <a:t> Закона о ПД в новой ред.).</a:t>
            </a:r>
          </a:p>
          <a:p>
            <a:pPr marL="0" indent="0" algn="just">
              <a:buNone/>
            </a:pPr>
            <a:endParaRPr lang="ru-RU" dirty="0"/>
          </a:p>
        </p:txBody>
      </p:sp>
    </p:spTree>
    <p:extLst>
      <p:ext uri="{BB962C8B-B14F-4D97-AF65-F5344CB8AC3E}">
        <p14:creationId xmlns:p14="http://schemas.microsoft.com/office/powerpoint/2010/main" val="386545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smtClean="0"/>
              <a:t/>
            </a:r>
            <a:br>
              <a:rPr lang="ru-RU" dirty="0" smtClean="0"/>
            </a:br>
            <a:r>
              <a:rPr lang="ru-RU" dirty="0" smtClean="0"/>
              <a:t>КЛЮЧИВЫЕ ИЗМЕНЕНИЯ </a:t>
            </a:r>
            <a:r>
              <a:rPr lang="ru-RU" dirty="0"/>
              <a:t>В ЗАКОНЕ О ЗАЩИТЫ ПРАВ ПОТРЕБИТЕЛЯ</a:t>
            </a:r>
            <a:br>
              <a:rPr lang="ru-RU" dirty="0"/>
            </a:b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7704" y="620688"/>
            <a:ext cx="5068267" cy="6760991"/>
          </a:xfrm>
        </p:spPr>
      </p:pic>
    </p:spTree>
    <p:extLst>
      <p:ext uri="{BB962C8B-B14F-4D97-AF65-F5344CB8AC3E}">
        <p14:creationId xmlns:p14="http://schemas.microsoft.com/office/powerpoint/2010/main" val="1204505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sz="3100" b="1" dirty="0" smtClean="0"/>
              <a:t/>
            </a:r>
            <a:br>
              <a:rPr lang="ru-RU" sz="3100" b="1" dirty="0" smtClean="0"/>
            </a:br>
            <a:r>
              <a:rPr lang="ru-RU" sz="3100" b="1" dirty="0" smtClean="0"/>
              <a:t>Какие </a:t>
            </a:r>
            <a:r>
              <a:rPr lang="ru-RU" sz="3100" b="1" dirty="0"/>
              <a:t>условия недопустимо включать в договоры с потребителями</a:t>
            </a:r>
            <a:r>
              <a:rPr lang="ru-RU" b="1" dirty="0"/>
              <a:t/>
            </a:r>
            <a:br>
              <a:rPr lang="ru-RU" b="1" dirty="0"/>
            </a:br>
            <a:endParaRPr lang="ru-RU" dirty="0"/>
          </a:p>
        </p:txBody>
      </p:sp>
      <p:sp>
        <p:nvSpPr>
          <p:cNvPr id="3" name="Объект 2"/>
          <p:cNvSpPr>
            <a:spLocks noGrp="1"/>
          </p:cNvSpPr>
          <p:nvPr>
            <p:ph idx="1"/>
          </p:nvPr>
        </p:nvSpPr>
        <p:spPr/>
        <p:txBody>
          <a:bodyPr/>
          <a:lstStyle/>
          <a:p>
            <a:pPr marL="0" indent="0" algn="just">
              <a:buNone/>
            </a:pPr>
            <a:r>
              <a:rPr lang="ru-RU" dirty="0"/>
              <a:t>С 1 сентября 2022 года в </a:t>
            </a:r>
            <a:r>
              <a:rPr lang="ru-RU" dirty="0">
                <a:hlinkClick r:id="rId2"/>
              </a:rPr>
              <a:t>Законе</a:t>
            </a:r>
            <a:r>
              <a:rPr lang="ru-RU" dirty="0"/>
              <a:t> о защите прав потребителей сформулирован </a:t>
            </a:r>
            <a:r>
              <a:rPr lang="ru-RU" dirty="0">
                <a:hlinkClick r:id="rId3"/>
              </a:rPr>
              <a:t>конкретный перечень</a:t>
            </a:r>
            <a:r>
              <a:rPr lang="ru-RU" dirty="0"/>
              <a:t> условий, которые признаются ущемляющими права потребителей и не могут включаться в договоры с гражданами (являются </a:t>
            </a:r>
            <a:r>
              <a:rPr lang="ru-RU" dirty="0">
                <a:hlinkClick r:id="rId4"/>
              </a:rPr>
              <a:t>ничтожными</a:t>
            </a:r>
            <a:r>
              <a:rPr lang="ru-RU" dirty="0"/>
              <a:t>). Часть из этих запретов вытекает из общих положений гражданского законодательства, а некоторые были выработаны правоприменительной практикой. Перечень является открытым - недопустимыми могут быть признаны и </a:t>
            </a:r>
            <a:r>
              <a:rPr lang="ru-RU" dirty="0">
                <a:hlinkClick r:id="rId5"/>
              </a:rPr>
              <a:t>другие</a:t>
            </a:r>
            <a:r>
              <a:rPr lang="ru-RU" dirty="0"/>
              <a:t> условия, нарушающие обязательные правила в области защиты прав потребителей.</a:t>
            </a:r>
          </a:p>
          <a:p>
            <a:pPr marL="0" indent="0" algn="just">
              <a:buNone/>
            </a:pPr>
            <a:endParaRPr lang="ru-RU" dirty="0"/>
          </a:p>
        </p:txBody>
      </p:sp>
    </p:spTree>
    <p:extLst>
      <p:ext uri="{BB962C8B-B14F-4D97-AF65-F5344CB8AC3E}">
        <p14:creationId xmlns:p14="http://schemas.microsoft.com/office/powerpoint/2010/main" val="2968761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ВНИМАНИЕ!!!</a:t>
            </a:r>
            <a:endParaRPr lang="ru-RU" dirty="0"/>
          </a:p>
        </p:txBody>
      </p:sp>
      <p:pic>
        <p:nvPicPr>
          <p:cNvPr id="6" name="Объект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0" y="954541"/>
            <a:ext cx="4425433" cy="5903459"/>
          </a:xfrm>
        </p:spPr>
      </p:pic>
      <p:sp>
        <p:nvSpPr>
          <p:cNvPr id="5" name="Объект 4"/>
          <p:cNvSpPr>
            <a:spLocks noGrp="1"/>
          </p:cNvSpPr>
          <p:nvPr>
            <p:ph sz="half" idx="2"/>
          </p:nvPr>
        </p:nvSpPr>
        <p:spPr>
          <a:xfrm>
            <a:off x="4283968" y="1628800"/>
            <a:ext cx="4402832" cy="4762856"/>
          </a:xfrm>
        </p:spPr>
        <p:txBody>
          <a:bodyPr>
            <a:normAutofit/>
          </a:bodyPr>
          <a:lstStyle/>
          <a:p>
            <a:pPr marL="0" indent="0">
              <a:buNone/>
            </a:pPr>
            <a:endParaRPr lang="ru-RU" sz="2000" dirty="0" smtClean="0"/>
          </a:p>
          <a:p>
            <a:pPr marL="0" indent="0">
              <a:buNone/>
            </a:pPr>
            <a:endParaRPr lang="ru-RU" sz="2000" dirty="0"/>
          </a:p>
          <a:p>
            <a:pPr marL="0" indent="0" algn="ctr">
              <a:buNone/>
            </a:pPr>
            <a:r>
              <a:rPr lang="ru-RU" sz="2000" dirty="0" smtClean="0"/>
              <a:t>Положения</a:t>
            </a:r>
            <a:r>
              <a:rPr lang="ru-RU" sz="2000" dirty="0"/>
              <a:t>, устанавливающие перечень недопустимых условий договора, ущемляющих права потребителя, </a:t>
            </a:r>
            <a:r>
              <a:rPr lang="ru-RU" sz="2000" dirty="0">
                <a:hlinkClick r:id="rId3"/>
              </a:rPr>
              <a:t>распространяются</a:t>
            </a:r>
            <a:r>
              <a:rPr lang="ru-RU" sz="2000" dirty="0"/>
              <a:t> в том числе на отношения, возникшие из договоров, заключенных до 1 сентября 2022 г</a:t>
            </a:r>
            <a:endParaRPr lang="ru-RU" sz="2000" dirty="0"/>
          </a:p>
        </p:txBody>
      </p:sp>
    </p:spTree>
    <p:extLst>
      <p:ext uri="{BB962C8B-B14F-4D97-AF65-F5344CB8AC3E}">
        <p14:creationId xmlns:p14="http://schemas.microsoft.com/office/powerpoint/2010/main" val="3865214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endParaRPr lang="ru-RU"/>
          </a:p>
        </p:txBody>
      </p:sp>
      <p:sp>
        <p:nvSpPr>
          <p:cNvPr id="6" name="Объект 5"/>
          <p:cNvSpPr>
            <a:spLocks noGrp="1"/>
          </p:cNvSpPr>
          <p:nvPr>
            <p:ph idx="1"/>
          </p:nvPr>
        </p:nvSpPr>
        <p:spPr/>
        <p:txBody>
          <a:bodyPr>
            <a:normAutofit/>
          </a:bodyPr>
          <a:lstStyle/>
          <a:p>
            <a:pPr marL="0" indent="0" algn="ctr">
              <a:buNone/>
            </a:pPr>
            <a:r>
              <a:rPr lang="ru-RU" sz="3200" dirty="0"/>
              <a:t>Нарушение запрета на включение в договор условий, ущемляющих права потребителя, влечет административную ответственность (</a:t>
            </a:r>
            <a:r>
              <a:rPr lang="ru-RU" sz="3200" dirty="0">
                <a:hlinkClick r:id="rId2"/>
              </a:rPr>
              <a:t>ч. 2 ст. 14.8</a:t>
            </a:r>
            <a:r>
              <a:rPr lang="ru-RU" sz="3200" dirty="0"/>
              <a:t> КоАП РФ).</a:t>
            </a:r>
          </a:p>
          <a:p>
            <a:pPr marL="0" indent="0" algn="ctr">
              <a:buNone/>
            </a:pPr>
            <a:endParaRPr lang="ru-RU" sz="3200" dirty="0" smtClean="0">
              <a:hlinkClick r:id="rId3"/>
            </a:endParaRPr>
          </a:p>
          <a:p>
            <a:pPr marL="0" indent="0" algn="ctr">
              <a:buNone/>
            </a:pPr>
            <a:r>
              <a:rPr lang="ru-RU" sz="2800" b="1" dirty="0" smtClean="0">
                <a:solidFill>
                  <a:srgbClr val="FF0000"/>
                </a:solidFill>
                <a:effectLst>
                  <a:outerShdw blurRad="38100" dist="38100" dir="2700000" algn="tl">
                    <a:srgbClr val="000000">
                      <a:alpha val="43137"/>
                    </a:srgbClr>
                  </a:outerShdw>
                </a:effectLst>
                <a:hlinkClick r:id="rId3"/>
              </a:rPr>
              <a:t>ВНИМАНИЕ!!! Статья </a:t>
            </a:r>
            <a:r>
              <a:rPr lang="ru-RU" sz="2800" b="1" dirty="0">
                <a:solidFill>
                  <a:srgbClr val="FF0000"/>
                </a:solidFill>
                <a:effectLst>
                  <a:outerShdw blurRad="38100" dist="38100" dir="2700000" algn="tl">
                    <a:srgbClr val="000000">
                      <a:alpha val="43137"/>
                    </a:srgbClr>
                  </a:outerShdw>
                </a:effectLst>
                <a:hlinkClick r:id="rId3"/>
              </a:rPr>
              <a:t>16</a:t>
            </a:r>
            <a:r>
              <a:rPr lang="ru-RU" sz="2800" b="1" dirty="0">
                <a:solidFill>
                  <a:srgbClr val="FF0000"/>
                </a:solidFill>
                <a:effectLst>
                  <a:outerShdw blurRad="38100" dist="38100" dir="2700000" algn="tl">
                    <a:srgbClr val="000000">
                      <a:alpha val="43137"/>
                    </a:srgbClr>
                  </a:outerShdw>
                </a:effectLst>
              </a:rPr>
              <a:t> Закона о защите прав потребителей относит к числу недопустимых следующие условия.</a:t>
            </a:r>
          </a:p>
          <a:p>
            <a:pPr marL="0" indent="0" algn="ctr">
              <a:buNone/>
            </a:pPr>
            <a:endParaRPr lang="ru-RU" sz="3200" dirty="0"/>
          </a:p>
        </p:txBody>
      </p:sp>
    </p:spTree>
    <p:extLst>
      <p:ext uri="{BB962C8B-B14F-4D97-AF65-F5344CB8AC3E}">
        <p14:creationId xmlns:p14="http://schemas.microsoft.com/office/powerpoint/2010/main" val="2261740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pPr algn="ctr"/>
            <a:r>
              <a:rPr lang="ru-RU" dirty="0" smtClean="0"/>
              <a:t>ЧТО НОВОГО!!!</a:t>
            </a:r>
            <a:endParaRPr lang="ru-RU" dirty="0"/>
          </a:p>
        </p:txBody>
      </p:sp>
      <p:sp>
        <p:nvSpPr>
          <p:cNvPr id="5" name="Текст 4"/>
          <p:cNvSpPr>
            <a:spLocks noGrp="1"/>
          </p:cNvSpPr>
          <p:nvPr>
            <p:ph type="body" idx="1"/>
          </p:nvPr>
        </p:nvSpPr>
        <p:spPr/>
        <p:txBody>
          <a:bodyPr/>
          <a:lstStyle/>
          <a:p>
            <a:r>
              <a:rPr lang="ru-RU" dirty="0"/>
              <a:t>Что запрещено</a:t>
            </a:r>
            <a:endParaRPr lang="ru-RU" dirty="0"/>
          </a:p>
        </p:txBody>
      </p:sp>
      <p:sp>
        <p:nvSpPr>
          <p:cNvPr id="6" name="Объект 5"/>
          <p:cNvSpPr>
            <a:spLocks noGrp="1"/>
          </p:cNvSpPr>
          <p:nvPr>
            <p:ph sz="half" idx="2"/>
          </p:nvPr>
        </p:nvSpPr>
        <p:spPr/>
        <p:txBody>
          <a:bodyPr>
            <a:normAutofit fontScale="85000" lnSpcReduction="20000"/>
          </a:bodyPr>
          <a:lstStyle/>
          <a:p>
            <a:pPr marL="0" indent="0" algn="just">
              <a:buNone/>
            </a:pPr>
            <a:r>
              <a:rPr lang="ru-RU" dirty="0"/>
              <a:t>Нарушать право потребителя на свободный выбор товаров (работ, услуг):</a:t>
            </a:r>
          </a:p>
          <a:p>
            <a:pPr marL="0" indent="0" algn="just">
              <a:buNone/>
            </a:pPr>
            <a:r>
              <a:rPr lang="ru-RU" dirty="0"/>
              <a:t>- </a:t>
            </a:r>
            <a:r>
              <a:rPr lang="ru-RU" dirty="0">
                <a:hlinkClick r:id="rId2"/>
              </a:rPr>
              <a:t>обусловливать</a:t>
            </a:r>
            <a:r>
              <a:rPr lang="ru-RU" dirty="0"/>
              <a:t> приобретение одних товаров (работ, услуг) обязательным приобретением других, если такая возможность не предусмотрена законом;</a:t>
            </a:r>
          </a:p>
          <a:p>
            <a:pPr marL="0" indent="0" algn="just">
              <a:buNone/>
            </a:pPr>
            <a:r>
              <a:rPr lang="ru-RU" dirty="0"/>
              <a:t>- </a:t>
            </a:r>
            <a:r>
              <a:rPr lang="ru-RU" dirty="0">
                <a:hlinkClick r:id="rId3"/>
              </a:rPr>
              <a:t>выполнять</a:t>
            </a:r>
            <a:r>
              <a:rPr lang="ru-RU" dirty="0"/>
              <a:t> дополнительные работы (оказывать дополнительные услуги) за плату без согласия потребителя</a:t>
            </a:r>
            <a:endParaRPr lang="ru-RU" dirty="0"/>
          </a:p>
        </p:txBody>
      </p:sp>
      <p:sp>
        <p:nvSpPr>
          <p:cNvPr id="7" name="Текст 6"/>
          <p:cNvSpPr>
            <a:spLocks noGrp="1"/>
          </p:cNvSpPr>
          <p:nvPr>
            <p:ph type="body" sz="quarter" idx="3"/>
          </p:nvPr>
        </p:nvSpPr>
        <p:spPr/>
        <p:txBody>
          <a:bodyPr/>
          <a:lstStyle/>
          <a:p>
            <a:r>
              <a:rPr lang="ru-RU" dirty="0"/>
              <a:t>Примечание</a:t>
            </a:r>
          </a:p>
        </p:txBody>
      </p:sp>
      <p:sp>
        <p:nvSpPr>
          <p:cNvPr id="8" name="Объект 7"/>
          <p:cNvSpPr>
            <a:spLocks noGrp="1"/>
          </p:cNvSpPr>
          <p:nvPr>
            <p:ph sz="quarter" idx="4"/>
          </p:nvPr>
        </p:nvSpPr>
        <p:spPr/>
        <p:txBody>
          <a:bodyPr>
            <a:normAutofit fontScale="70000" lnSpcReduction="20000"/>
          </a:bodyPr>
          <a:lstStyle/>
          <a:p>
            <a:pPr marL="0" indent="0" algn="just">
              <a:buNone/>
            </a:pPr>
            <a:r>
              <a:rPr lang="ru-RU" dirty="0"/>
              <a:t>Возможность дифференциации условий договора в зависимости от приобретения потребителем дополнительных услуг предусмотрена, например, Федеральным законом от 21.12.2013 N 353-ФЗ "О потребительском кредите (займе)" (см. </a:t>
            </a:r>
            <a:r>
              <a:rPr lang="ru-RU" dirty="0">
                <a:hlinkClick r:id="rId4"/>
              </a:rPr>
              <a:t>ч. 2.2</a:t>
            </a:r>
            <a:r>
              <a:rPr lang="ru-RU" dirty="0"/>
              <a:t> и </a:t>
            </a:r>
            <a:r>
              <a:rPr lang="ru-RU" dirty="0">
                <a:hlinkClick r:id="rId5"/>
              </a:rPr>
              <a:t>10 ст. 7</a:t>
            </a:r>
            <a:r>
              <a:rPr lang="ru-RU" dirty="0"/>
              <a:t> этого закона, </a:t>
            </a:r>
            <a:r>
              <a:rPr lang="ru-RU" dirty="0">
                <a:hlinkClick r:id="rId6"/>
              </a:rPr>
              <a:t>п. 8</a:t>
            </a:r>
            <a:r>
              <a:rPr lang="ru-RU" dirty="0"/>
              <a:t> информационного письма Президиума ВАС РФ от 13.09.2011 N 146).</a:t>
            </a:r>
          </a:p>
          <a:p>
            <a:pPr marL="0" indent="0" algn="just">
              <a:buNone/>
            </a:pPr>
            <a:r>
              <a:rPr lang="ru-RU" b="1" u="sng" dirty="0">
                <a:solidFill>
                  <a:srgbClr val="FF0000"/>
                </a:solidFill>
                <a:effectLst>
                  <a:outerShdw blurRad="38100" dist="38100" dir="2700000" algn="tl">
                    <a:srgbClr val="000000">
                      <a:alpha val="43137"/>
                    </a:srgbClr>
                  </a:outerShdw>
                </a:effectLst>
              </a:rPr>
              <a:t>Потребитель </a:t>
            </a:r>
            <a:r>
              <a:rPr lang="ru-RU" b="1" u="sng" dirty="0">
                <a:solidFill>
                  <a:srgbClr val="FF0000"/>
                </a:solidFill>
                <a:effectLst>
                  <a:outerShdw blurRad="38100" dist="38100" dir="2700000" algn="tl">
                    <a:srgbClr val="000000">
                      <a:alpha val="43137"/>
                    </a:srgbClr>
                  </a:outerShdw>
                </a:effectLst>
                <a:hlinkClick r:id="rId7"/>
              </a:rPr>
              <a:t>вправе</a:t>
            </a:r>
            <a:r>
              <a:rPr lang="ru-RU" b="1" u="sng" dirty="0">
                <a:solidFill>
                  <a:srgbClr val="FF0000"/>
                </a:solidFill>
                <a:effectLst>
                  <a:outerShdw blurRad="38100" dist="38100" dir="2700000" algn="tl">
                    <a:srgbClr val="000000">
                      <a:alpha val="43137"/>
                    </a:srgbClr>
                  </a:outerShdw>
                </a:effectLst>
              </a:rPr>
              <a:t> отказаться от оплаты дополнительных работ (услуг), выполненных (оказанных) без его согласия, а если они оплачены - требовать возврата уплаченной суммы</a:t>
            </a:r>
            <a:endParaRPr lang="ru-RU" b="1" u="sng"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90855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ЧТО НОВОГО!!!</a:t>
            </a:r>
            <a:endParaRPr lang="ru-RU" dirty="0"/>
          </a:p>
        </p:txBody>
      </p:sp>
      <p:sp>
        <p:nvSpPr>
          <p:cNvPr id="3" name="Текст 2"/>
          <p:cNvSpPr>
            <a:spLocks noGrp="1"/>
          </p:cNvSpPr>
          <p:nvPr>
            <p:ph type="body" idx="1"/>
          </p:nvPr>
        </p:nvSpPr>
        <p:spPr/>
        <p:txBody>
          <a:bodyPr/>
          <a:lstStyle/>
          <a:p>
            <a:r>
              <a:rPr lang="ru-RU" dirty="0"/>
              <a:t>Что запрещено</a:t>
            </a:r>
            <a:endParaRPr lang="ru-RU" dirty="0"/>
          </a:p>
        </p:txBody>
      </p:sp>
      <p:sp>
        <p:nvSpPr>
          <p:cNvPr id="4" name="Объект 3"/>
          <p:cNvSpPr>
            <a:spLocks noGrp="1"/>
          </p:cNvSpPr>
          <p:nvPr>
            <p:ph sz="half" idx="2"/>
          </p:nvPr>
        </p:nvSpPr>
        <p:spPr/>
        <p:txBody>
          <a:bodyPr>
            <a:normAutofit fontScale="85000" lnSpcReduction="10000"/>
          </a:bodyPr>
          <a:lstStyle/>
          <a:p>
            <a:pPr marL="0" indent="0" algn="just">
              <a:buNone/>
            </a:pPr>
            <a:r>
              <a:rPr lang="ru-RU" dirty="0">
                <a:hlinkClick r:id="rId2"/>
              </a:rPr>
              <a:t>Исключать</a:t>
            </a:r>
            <a:r>
              <a:rPr lang="ru-RU" dirty="0"/>
              <a:t> или ограничивать ответственность продавца (изготовителя, исполнителя, уполномоченной организации (индивидуального предпринимателя), импортера, владельца </a:t>
            </a:r>
            <a:r>
              <a:rPr lang="ru-RU" dirty="0" err="1"/>
              <a:t>агрегатора</a:t>
            </a:r>
            <a:r>
              <a:rPr lang="ru-RU" dirty="0"/>
              <a:t>) за неисполнение или ненадлежащее исполнение обязательств по основаниям, не предусмотренным законом.</a:t>
            </a:r>
          </a:p>
          <a:p>
            <a:pPr marL="0" indent="0" algn="just">
              <a:buNone/>
            </a:pPr>
            <a:r>
              <a:rPr lang="ru-RU" dirty="0">
                <a:hlinkClick r:id="rId3"/>
              </a:rPr>
              <a:t>Уменьшать</a:t>
            </a:r>
            <a:r>
              <a:rPr lang="ru-RU" dirty="0"/>
              <a:t> размер законной неустойки</a:t>
            </a:r>
            <a:endParaRPr lang="ru-RU" dirty="0"/>
          </a:p>
        </p:txBody>
      </p:sp>
      <p:sp>
        <p:nvSpPr>
          <p:cNvPr id="5" name="Текст 4"/>
          <p:cNvSpPr>
            <a:spLocks noGrp="1"/>
          </p:cNvSpPr>
          <p:nvPr>
            <p:ph type="body" sz="quarter" idx="3"/>
          </p:nvPr>
        </p:nvSpPr>
        <p:spPr/>
        <p:txBody>
          <a:bodyPr/>
          <a:lstStyle/>
          <a:p>
            <a:r>
              <a:rPr lang="ru-RU" dirty="0" smtClean="0"/>
              <a:t>Примечание</a:t>
            </a:r>
            <a:endParaRPr lang="ru-RU" dirty="0"/>
          </a:p>
        </p:txBody>
      </p:sp>
      <p:sp>
        <p:nvSpPr>
          <p:cNvPr id="6" name="Объект 5"/>
          <p:cNvSpPr>
            <a:spLocks noGrp="1"/>
          </p:cNvSpPr>
          <p:nvPr>
            <p:ph sz="quarter" idx="4"/>
          </p:nvPr>
        </p:nvSpPr>
        <p:spPr/>
        <p:txBody>
          <a:bodyPr>
            <a:normAutofit/>
          </a:bodyPr>
          <a:lstStyle/>
          <a:p>
            <a:pPr marL="0" indent="0" algn="ctr">
              <a:buNone/>
            </a:pPr>
            <a:endParaRPr lang="ru-RU" sz="2000" dirty="0" smtClean="0"/>
          </a:p>
          <a:p>
            <a:pPr marL="0" indent="0" algn="ctr">
              <a:buNone/>
            </a:pPr>
            <a:r>
              <a:rPr lang="ru-RU" sz="2000" dirty="0" smtClean="0"/>
              <a:t>Данный </a:t>
            </a:r>
            <a:r>
              <a:rPr lang="ru-RU" sz="2000" dirty="0"/>
              <a:t>запрет корреспондирует </a:t>
            </a:r>
            <a:r>
              <a:rPr lang="ru-RU" sz="2000" dirty="0">
                <a:hlinkClick r:id="rId4"/>
              </a:rPr>
              <a:t>п. 2 ст. 332</a:t>
            </a:r>
            <a:r>
              <a:rPr lang="ru-RU" sz="2000" dirty="0"/>
              <a:t>, </a:t>
            </a:r>
            <a:r>
              <a:rPr lang="ru-RU" sz="2000" dirty="0">
                <a:hlinkClick r:id="rId5"/>
              </a:rPr>
              <a:t>п. 2 ст. 400</a:t>
            </a:r>
            <a:r>
              <a:rPr lang="ru-RU" sz="2000" dirty="0"/>
              <a:t> ГК РФ и распространяется как на размер, так и на основания ответственности (см. </a:t>
            </a:r>
            <a:r>
              <a:rPr lang="ru-RU" sz="2000" dirty="0">
                <a:hlinkClick r:id="rId6"/>
              </a:rPr>
              <a:t>п. 4 ст. 13</a:t>
            </a:r>
            <a:r>
              <a:rPr lang="ru-RU" sz="2000" dirty="0"/>
              <a:t> Закона о защите прав потребителей)</a:t>
            </a:r>
            <a:endParaRPr lang="ru-RU" sz="2000" dirty="0"/>
          </a:p>
        </p:txBody>
      </p:sp>
    </p:spTree>
    <p:extLst>
      <p:ext uri="{BB962C8B-B14F-4D97-AF65-F5344CB8AC3E}">
        <p14:creationId xmlns:p14="http://schemas.microsoft.com/office/powerpoint/2010/main" val="3761762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ЧТО НОВОГО!!!</a:t>
            </a:r>
            <a:endParaRPr lang="ru-RU" dirty="0"/>
          </a:p>
        </p:txBody>
      </p:sp>
      <p:sp>
        <p:nvSpPr>
          <p:cNvPr id="3" name="Текст 2"/>
          <p:cNvSpPr>
            <a:spLocks noGrp="1"/>
          </p:cNvSpPr>
          <p:nvPr>
            <p:ph type="body" idx="1"/>
          </p:nvPr>
        </p:nvSpPr>
        <p:spPr/>
        <p:txBody>
          <a:bodyPr/>
          <a:lstStyle/>
          <a:p>
            <a:r>
              <a:rPr lang="ru-RU" dirty="0" smtClean="0"/>
              <a:t>Что запрещено</a:t>
            </a:r>
            <a:endParaRPr lang="ru-RU" dirty="0"/>
          </a:p>
        </p:txBody>
      </p:sp>
      <p:sp>
        <p:nvSpPr>
          <p:cNvPr id="4" name="Объект 3"/>
          <p:cNvSpPr>
            <a:spLocks noGrp="1"/>
          </p:cNvSpPr>
          <p:nvPr>
            <p:ph sz="half" idx="2"/>
          </p:nvPr>
        </p:nvSpPr>
        <p:spPr/>
        <p:txBody>
          <a:bodyPr>
            <a:normAutofit fontScale="77500" lnSpcReduction="20000"/>
          </a:bodyPr>
          <a:lstStyle/>
          <a:p>
            <a:pPr marL="0" indent="0" algn="just">
              <a:buNone/>
            </a:pPr>
            <a:r>
              <a:rPr lang="ru-RU" dirty="0">
                <a:hlinkClick r:id="rId2"/>
              </a:rPr>
              <a:t>Ограничивать</a:t>
            </a:r>
            <a:r>
              <a:rPr lang="ru-RU" dirty="0"/>
              <a:t> потребителя в средствах и способах защиты нарушенных прав, в том числе в </a:t>
            </a:r>
            <a:r>
              <a:rPr lang="ru-RU" dirty="0">
                <a:hlinkClick r:id="rId3"/>
              </a:rPr>
              <a:t>выборе</a:t>
            </a:r>
            <a:r>
              <a:rPr lang="ru-RU" dirty="0"/>
              <a:t> вида требований, которые могут быть предъявлены при продаже товаров (выполнении работ, оказании услуг) ненадлежащего качества.</a:t>
            </a:r>
          </a:p>
          <a:p>
            <a:pPr marL="0" indent="0" algn="just">
              <a:buNone/>
            </a:pPr>
            <a:r>
              <a:rPr lang="ru-RU" dirty="0"/>
              <a:t>Ставить удовлетворение требований потребителей в отношении товаров (работ, услуг) с недостатками в </a:t>
            </a:r>
            <a:r>
              <a:rPr lang="ru-RU" dirty="0">
                <a:hlinkClick r:id="rId4"/>
              </a:rPr>
              <a:t>зависимость</a:t>
            </a:r>
            <a:r>
              <a:rPr lang="ru-RU" dirty="0"/>
              <a:t> от обстоятельств, не связанных с этими недостатками</a:t>
            </a:r>
            <a:endParaRPr lang="ru-RU" dirty="0"/>
          </a:p>
        </p:txBody>
      </p:sp>
      <p:sp>
        <p:nvSpPr>
          <p:cNvPr id="5" name="Текст 4"/>
          <p:cNvSpPr>
            <a:spLocks noGrp="1"/>
          </p:cNvSpPr>
          <p:nvPr>
            <p:ph type="body" sz="quarter" idx="3"/>
          </p:nvPr>
        </p:nvSpPr>
        <p:spPr/>
        <p:txBody>
          <a:bodyPr/>
          <a:lstStyle/>
          <a:p>
            <a:r>
              <a:rPr lang="ru-RU" dirty="0" smtClean="0"/>
              <a:t>Примечание</a:t>
            </a:r>
            <a:endParaRPr lang="ru-RU" dirty="0"/>
          </a:p>
        </p:txBody>
      </p:sp>
      <p:sp>
        <p:nvSpPr>
          <p:cNvPr id="6" name="Объект 5"/>
          <p:cNvSpPr>
            <a:spLocks noGrp="1"/>
          </p:cNvSpPr>
          <p:nvPr>
            <p:ph sz="quarter" idx="4"/>
          </p:nvPr>
        </p:nvSpPr>
        <p:spPr/>
        <p:txBody>
          <a:bodyPr>
            <a:normAutofit fontScale="70000" lnSpcReduction="20000"/>
          </a:bodyPr>
          <a:lstStyle/>
          <a:p>
            <a:pPr marL="0" indent="0" algn="just">
              <a:buNone/>
            </a:pPr>
            <a:r>
              <a:rPr lang="ru-RU" dirty="0"/>
              <a:t>Виды требований, которые потребитель вправе предъявить в связи с недостатками товара (работы, услуги), определены </a:t>
            </a:r>
            <a:r>
              <a:rPr lang="ru-RU" dirty="0">
                <a:hlinkClick r:id="rId5"/>
              </a:rPr>
              <a:t>п. 1 ст. 18</a:t>
            </a:r>
            <a:r>
              <a:rPr lang="ru-RU" dirty="0"/>
              <a:t> и </a:t>
            </a:r>
            <a:r>
              <a:rPr lang="ru-RU" dirty="0">
                <a:hlinkClick r:id="rId6"/>
              </a:rPr>
              <a:t>п. 1 ст. 29</a:t>
            </a:r>
            <a:r>
              <a:rPr lang="ru-RU" dirty="0"/>
              <a:t> Закона о защите прав потребителей.</a:t>
            </a:r>
          </a:p>
          <a:p>
            <a:pPr marL="0" indent="0" algn="just">
              <a:buNone/>
            </a:pPr>
            <a:r>
              <a:rPr lang="ru-RU" dirty="0"/>
              <a:t>В частности, в отношениях с потребителями не допускаются условия, исключающие возврат стоимости неиспользованной подарочной карты (сертификата) в случае предъявления потребителем соответствующего требования (см. </a:t>
            </a:r>
            <a:r>
              <a:rPr lang="ru-RU" dirty="0">
                <a:hlinkClick r:id="rId7"/>
              </a:rPr>
              <a:t>определение</a:t>
            </a:r>
            <a:r>
              <a:rPr lang="ru-RU" dirty="0"/>
              <a:t> ВС РФ от 16.03.2022 N 307-ЭС21-16004, </a:t>
            </a:r>
            <a:r>
              <a:rPr lang="ru-RU" dirty="0">
                <a:hlinkClick r:id="rId8"/>
              </a:rPr>
              <a:t>информацию</a:t>
            </a:r>
            <a:r>
              <a:rPr lang="ru-RU" dirty="0"/>
              <a:t> </a:t>
            </a:r>
            <a:r>
              <a:rPr lang="ru-RU" dirty="0" err="1"/>
              <a:t>Роспотребнадзора</a:t>
            </a:r>
            <a:r>
              <a:rPr lang="ru-RU" dirty="0"/>
              <a:t> от 31.08.2022)</a:t>
            </a:r>
            <a:endParaRPr lang="ru-RU" dirty="0"/>
          </a:p>
        </p:txBody>
      </p:sp>
    </p:spTree>
    <p:extLst>
      <p:ext uri="{BB962C8B-B14F-4D97-AF65-F5344CB8AC3E}">
        <p14:creationId xmlns:p14="http://schemas.microsoft.com/office/powerpoint/2010/main" val="2285162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ЧТО НОВОГО!!!</a:t>
            </a:r>
            <a:endParaRPr lang="ru-RU" dirty="0"/>
          </a:p>
        </p:txBody>
      </p:sp>
      <p:sp>
        <p:nvSpPr>
          <p:cNvPr id="3" name="Текст 2"/>
          <p:cNvSpPr>
            <a:spLocks noGrp="1"/>
          </p:cNvSpPr>
          <p:nvPr>
            <p:ph type="body" idx="1"/>
          </p:nvPr>
        </p:nvSpPr>
        <p:spPr/>
        <p:txBody>
          <a:bodyPr/>
          <a:lstStyle/>
          <a:p>
            <a:r>
              <a:rPr lang="ru-RU" dirty="0" smtClean="0"/>
              <a:t>Что запрещено</a:t>
            </a:r>
            <a:endParaRPr lang="ru-RU" dirty="0"/>
          </a:p>
        </p:txBody>
      </p:sp>
      <p:sp>
        <p:nvSpPr>
          <p:cNvPr id="4" name="Объект 3"/>
          <p:cNvSpPr>
            <a:spLocks noGrp="1"/>
          </p:cNvSpPr>
          <p:nvPr>
            <p:ph sz="half" idx="2"/>
          </p:nvPr>
        </p:nvSpPr>
        <p:spPr/>
        <p:txBody>
          <a:bodyPr/>
          <a:lstStyle/>
          <a:p>
            <a:pPr marL="0" indent="0" algn="just">
              <a:buNone/>
            </a:pPr>
            <a:r>
              <a:rPr lang="ru-RU" dirty="0">
                <a:hlinkClick r:id="rId2"/>
              </a:rPr>
              <a:t>Ограничивать</a:t>
            </a:r>
            <a:r>
              <a:rPr lang="ru-RU" dirty="0"/>
              <a:t> право потребителя на выбор способа и формы оплаты товаров (работ, услуг)</a:t>
            </a:r>
            <a:endParaRPr lang="ru-RU" dirty="0"/>
          </a:p>
        </p:txBody>
      </p:sp>
      <p:sp>
        <p:nvSpPr>
          <p:cNvPr id="5" name="Текст 4"/>
          <p:cNvSpPr>
            <a:spLocks noGrp="1"/>
          </p:cNvSpPr>
          <p:nvPr>
            <p:ph type="body" sz="quarter" idx="3"/>
          </p:nvPr>
        </p:nvSpPr>
        <p:spPr/>
        <p:txBody>
          <a:bodyPr/>
          <a:lstStyle/>
          <a:p>
            <a:r>
              <a:rPr lang="ru-RU" dirty="0" smtClean="0"/>
              <a:t>Примечание</a:t>
            </a:r>
            <a:endParaRPr lang="ru-RU" dirty="0"/>
          </a:p>
        </p:txBody>
      </p:sp>
      <p:sp>
        <p:nvSpPr>
          <p:cNvPr id="6" name="Объект 5"/>
          <p:cNvSpPr>
            <a:spLocks noGrp="1"/>
          </p:cNvSpPr>
          <p:nvPr>
            <p:ph sz="quarter" idx="4"/>
          </p:nvPr>
        </p:nvSpPr>
        <p:spPr/>
        <p:txBody>
          <a:bodyPr>
            <a:normAutofit/>
          </a:bodyPr>
          <a:lstStyle/>
          <a:p>
            <a:pPr marL="0" indent="0" algn="just">
              <a:buNone/>
            </a:pPr>
            <a:r>
              <a:rPr lang="ru-RU" sz="2000" dirty="0"/>
              <a:t>Речь идет о праве потребителя на оплату товаров (работ, услуг) в наличной форме или с использованием национальных платежных инструментов (</a:t>
            </a:r>
            <a:r>
              <a:rPr lang="ru-RU" sz="2000" dirty="0">
                <a:hlinkClick r:id="rId3"/>
              </a:rPr>
              <a:t>ст. 16.1</a:t>
            </a:r>
            <a:r>
              <a:rPr lang="ru-RU" sz="2000" dirty="0"/>
              <a:t> Закона о защите прав потребителей)</a:t>
            </a:r>
            <a:endParaRPr lang="ru-RU" sz="2000" dirty="0"/>
          </a:p>
        </p:txBody>
      </p:sp>
    </p:spTree>
    <p:extLst>
      <p:ext uri="{BB962C8B-B14F-4D97-AF65-F5344CB8AC3E}">
        <p14:creationId xmlns:p14="http://schemas.microsoft.com/office/powerpoint/2010/main" val="2355558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ЧТО НОВОГО!!!</a:t>
            </a:r>
            <a:endParaRPr lang="ru-RU" dirty="0"/>
          </a:p>
        </p:txBody>
      </p:sp>
      <p:sp>
        <p:nvSpPr>
          <p:cNvPr id="3" name="Текст 2"/>
          <p:cNvSpPr>
            <a:spLocks noGrp="1"/>
          </p:cNvSpPr>
          <p:nvPr>
            <p:ph type="body" idx="1"/>
          </p:nvPr>
        </p:nvSpPr>
        <p:spPr/>
        <p:txBody>
          <a:bodyPr/>
          <a:lstStyle/>
          <a:p>
            <a:r>
              <a:rPr lang="ru-RU" dirty="0" smtClean="0"/>
              <a:t>Что запрещено</a:t>
            </a:r>
            <a:endParaRPr lang="ru-RU" dirty="0"/>
          </a:p>
        </p:txBody>
      </p:sp>
      <p:sp>
        <p:nvSpPr>
          <p:cNvPr id="4" name="Объект 3"/>
          <p:cNvSpPr>
            <a:spLocks noGrp="1"/>
          </p:cNvSpPr>
          <p:nvPr>
            <p:ph sz="half" idx="2"/>
          </p:nvPr>
        </p:nvSpPr>
        <p:spPr/>
        <p:txBody>
          <a:bodyPr>
            <a:normAutofit fontScale="70000" lnSpcReduction="20000"/>
          </a:bodyPr>
          <a:lstStyle/>
          <a:p>
            <a:pPr marL="0" indent="0" algn="just">
              <a:buNone/>
            </a:pPr>
            <a:r>
              <a:rPr lang="ru-RU" dirty="0">
                <a:hlinkClick r:id="rId2"/>
              </a:rPr>
              <a:t>Закреплять</a:t>
            </a:r>
            <a:r>
              <a:rPr lang="ru-RU" dirty="0"/>
              <a:t> за контрагентом потребителя право на односторонний отказ от исполнения обязательства или одностороннее изменение его условий (в том числе предмета, цены, срока), кроме случаев, когда законодательством предусмотрена возможность включения в договор такого условия.</a:t>
            </a:r>
          </a:p>
          <a:p>
            <a:pPr marL="0" indent="0" algn="just">
              <a:buNone/>
            </a:pPr>
            <a:r>
              <a:rPr lang="ru-RU" dirty="0">
                <a:hlinkClick r:id="rId3"/>
              </a:rPr>
              <a:t>Устанавливать</a:t>
            </a:r>
            <a:r>
              <a:rPr lang="ru-RU" dirty="0"/>
              <a:t> не предусмотренные законодательством основания досрочного расторжения договора по требованию продавца (исполнителя, владельца </a:t>
            </a:r>
            <a:r>
              <a:rPr lang="ru-RU" dirty="0" err="1"/>
              <a:t>агрегатора</a:t>
            </a:r>
            <a:r>
              <a:rPr lang="ru-RU" dirty="0"/>
              <a:t>)</a:t>
            </a:r>
            <a:endParaRPr lang="ru-RU" dirty="0"/>
          </a:p>
        </p:txBody>
      </p:sp>
      <p:sp>
        <p:nvSpPr>
          <p:cNvPr id="5" name="Текст 4"/>
          <p:cNvSpPr>
            <a:spLocks noGrp="1"/>
          </p:cNvSpPr>
          <p:nvPr>
            <p:ph type="body" sz="quarter" idx="3"/>
          </p:nvPr>
        </p:nvSpPr>
        <p:spPr/>
        <p:txBody>
          <a:bodyPr/>
          <a:lstStyle/>
          <a:p>
            <a:r>
              <a:rPr lang="ru-RU" dirty="0" smtClean="0"/>
              <a:t>Примечание</a:t>
            </a:r>
            <a:endParaRPr lang="ru-RU" dirty="0"/>
          </a:p>
        </p:txBody>
      </p:sp>
      <p:sp>
        <p:nvSpPr>
          <p:cNvPr id="6" name="Объект 5"/>
          <p:cNvSpPr>
            <a:spLocks noGrp="1"/>
          </p:cNvSpPr>
          <p:nvPr>
            <p:ph sz="quarter" idx="4"/>
          </p:nvPr>
        </p:nvSpPr>
        <p:spPr/>
        <p:txBody>
          <a:bodyPr>
            <a:normAutofit fontScale="62500" lnSpcReduction="20000"/>
          </a:bodyPr>
          <a:lstStyle/>
          <a:p>
            <a:pPr marL="0" indent="0" algn="just">
              <a:buNone/>
            </a:pPr>
            <a:r>
              <a:rPr lang="ru-RU" dirty="0"/>
              <a:t>Данные положения корреспондируют </a:t>
            </a:r>
            <a:r>
              <a:rPr lang="ru-RU" dirty="0">
                <a:hlinkClick r:id="rId4"/>
              </a:rPr>
              <a:t>п. 2 ст. 310</a:t>
            </a:r>
            <a:r>
              <a:rPr lang="ru-RU" dirty="0"/>
              <a:t> ГК РФ.</a:t>
            </a:r>
          </a:p>
          <a:p>
            <a:pPr marL="0" indent="0" algn="just">
              <a:buNone/>
            </a:pPr>
            <a:r>
              <a:rPr lang="ru-RU" dirty="0"/>
              <a:t>Законодательство не исключает возможности одностороннего изменения условий договора, улучшающего положение потребителя (см., например, </a:t>
            </a:r>
            <a:r>
              <a:rPr lang="ru-RU" dirty="0">
                <a:hlinkClick r:id="rId5"/>
              </a:rPr>
              <a:t>части шестую</a:t>
            </a:r>
            <a:r>
              <a:rPr lang="ru-RU" dirty="0"/>
              <a:t> и </a:t>
            </a:r>
            <a:r>
              <a:rPr lang="ru-RU" dirty="0">
                <a:hlinkClick r:id="rId6"/>
              </a:rPr>
              <a:t>седьмую ст. 29</a:t>
            </a:r>
            <a:r>
              <a:rPr lang="ru-RU" dirty="0"/>
              <a:t> Федерального закона от 02.12.1990 N 395-I "О банках и банковской деятельности").</a:t>
            </a:r>
          </a:p>
          <a:p>
            <a:pPr marL="0" indent="0" algn="just">
              <a:buNone/>
            </a:pPr>
            <a:r>
              <a:rPr lang="ru-RU" dirty="0"/>
              <a:t>Односторонний отказ продавца (исполнителя) от исполнения </a:t>
            </a:r>
            <a:r>
              <a:rPr lang="ru-RU" dirty="0">
                <a:hlinkClick r:id="rId7"/>
              </a:rPr>
              <a:t>публичного договора</a:t>
            </a:r>
            <a:r>
              <a:rPr lang="ru-RU" dirty="0"/>
              <a:t> допускается лишь в связи с нарушением договора со стороны потребителя и при условии, что право на такой отказ предусмотрено законом для договоров данного вида (см. </a:t>
            </a:r>
            <a:r>
              <a:rPr lang="ru-RU" dirty="0">
                <a:hlinkClick r:id="rId8"/>
              </a:rPr>
              <a:t>п. 21</a:t>
            </a:r>
            <a:r>
              <a:rPr lang="ru-RU" dirty="0"/>
              <a:t> постановления Пленума ВС РФ от 25.12.2018 N 49)</a:t>
            </a:r>
            <a:endParaRPr lang="ru-RU" dirty="0"/>
          </a:p>
        </p:txBody>
      </p:sp>
    </p:spTree>
    <p:extLst>
      <p:ext uri="{BB962C8B-B14F-4D97-AF65-F5344CB8AC3E}">
        <p14:creationId xmlns:p14="http://schemas.microsoft.com/office/powerpoint/2010/main" val="4291882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ЧТО НОВОГО!!!</a:t>
            </a:r>
            <a:endParaRPr lang="ru-RU" dirty="0"/>
          </a:p>
        </p:txBody>
      </p:sp>
      <p:sp>
        <p:nvSpPr>
          <p:cNvPr id="3" name="Текст 2"/>
          <p:cNvSpPr>
            <a:spLocks noGrp="1"/>
          </p:cNvSpPr>
          <p:nvPr>
            <p:ph type="body" idx="1"/>
          </p:nvPr>
        </p:nvSpPr>
        <p:spPr/>
        <p:txBody>
          <a:bodyPr/>
          <a:lstStyle/>
          <a:p>
            <a:r>
              <a:rPr lang="ru-RU" dirty="0" smtClean="0"/>
              <a:t>Что запрещено</a:t>
            </a:r>
            <a:endParaRPr lang="ru-RU" dirty="0"/>
          </a:p>
        </p:txBody>
      </p:sp>
      <p:sp>
        <p:nvSpPr>
          <p:cNvPr id="4" name="Объект 3"/>
          <p:cNvSpPr>
            <a:spLocks noGrp="1"/>
          </p:cNvSpPr>
          <p:nvPr>
            <p:ph sz="half" idx="2"/>
          </p:nvPr>
        </p:nvSpPr>
        <p:spPr/>
        <p:txBody>
          <a:bodyPr>
            <a:normAutofit/>
          </a:bodyPr>
          <a:lstStyle/>
          <a:p>
            <a:pPr marL="0" indent="0" algn="just">
              <a:buNone/>
            </a:pPr>
            <a:r>
              <a:rPr lang="ru-RU" sz="2000" dirty="0">
                <a:hlinkClick r:id="rId2"/>
              </a:rPr>
              <a:t>Устанавливать</a:t>
            </a:r>
            <a:r>
              <a:rPr lang="ru-RU" sz="2000" dirty="0"/>
              <a:t> штрафные санкции или иные обязанности, препятствующие свободной реализации потерпевшим права на </a:t>
            </a:r>
            <a:r>
              <a:rPr lang="ru-RU" sz="2000" dirty="0">
                <a:hlinkClick r:id="rId3"/>
              </a:rPr>
              <a:t>односторонний отказ</a:t>
            </a:r>
            <a:r>
              <a:rPr lang="ru-RU" sz="2000" dirty="0"/>
              <a:t> от исполнения договора о выполнении работ (оказании услуг)</a:t>
            </a:r>
            <a:endParaRPr lang="ru-RU" sz="2000" dirty="0"/>
          </a:p>
        </p:txBody>
      </p:sp>
      <p:sp>
        <p:nvSpPr>
          <p:cNvPr id="5" name="Текст 4"/>
          <p:cNvSpPr>
            <a:spLocks noGrp="1"/>
          </p:cNvSpPr>
          <p:nvPr>
            <p:ph type="body" sz="quarter" idx="3"/>
          </p:nvPr>
        </p:nvSpPr>
        <p:spPr/>
        <p:txBody>
          <a:bodyPr/>
          <a:lstStyle/>
          <a:p>
            <a:r>
              <a:rPr lang="ru-RU" dirty="0" smtClean="0"/>
              <a:t>Примечание </a:t>
            </a:r>
            <a:endParaRPr lang="ru-RU" dirty="0"/>
          </a:p>
        </p:txBody>
      </p:sp>
      <p:sp>
        <p:nvSpPr>
          <p:cNvPr id="6" name="Объект 5"/>
          <p:cNvSpPr>
            <a:spLocks noGrp="1"/>
          </p:cNvSpPr>
          <p:nvPr>
            <p:ph sz="quarter" idx="4"/>
          </p:nvPr>
        </p:nvSpPr>
        <p:spPr/>
        <p:txBody>
          <a:bodyPr/>
          <a:lstStyle/>
          <a:p>
            <a:pPr marL="0" indent="0">
              <a:buNone/>
            </a:pPr>
            <a:r>
              <a:rPr lang="ru-RU" dirty="0"/>
              <a:t>См. также </a:t>
            </a:r>
            <a:r>
              <a:rPr lang="ru-RU" dirty="0">
                <a:hlinkClick r:id="rId4"/>
              </a:rPr>
              <a:t>п. 6</a:t>
            </a:r>
            <a:r>
              <a:rPr lang="ru-RU" dirty="0"/>
              <a:t> Обзора, утв. Президиумом ВС РФ 20.12.2016</a:t>
            </a:r>
            <a:endParaRPr lang="ru-RU" dirty="0"/>
          </a:p>
        </p:txBody>
      </p:sp>
    </p:spTree>
    <p:extLst>
      <p:ext uri="{BB962C8B-B14F-4D97-AF65-F5344CB8AC3E}">
        <p14:creationId xmlns:p14="http://schemas.microsoft.com/office/powerpoint/2010/main" val="179549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ЧТО НОВОГО!!!</a:t>
            </a:r>
            <a:endParaRPr lang="ru-RU" dirty="0"/>
          </a:p>
        </p:txBody>
      </p:sp>
      <p:sp>
        <p:nvSpPr>
          <p:cNvPr id="3" name="Текст 2"/>
          <p:cNvSpPr>
            <a:spLocks noGrp="1"/>
          </p:cNvSpPr>
          <p:nvPr>
            <p:ph type="body" idx="1"/>
          </p:nvPr>
        </p:nvSpPr>
        <p:spPr/>
        <p:txBody>
          <a:bodyPr/>
          <a:lstStyle/>
          <a:p>
            <a:r>
              <a:rPr lang="ru-RU" dirty="0" smtClean="0"/>
              <a:t>Что запрещено</a:t>
            </a:r>
            <a:endParaRPr lang="ru-RU" dirty="0"/>
          </a:p>
        </p:txBody>
      </p:sp>
      <p:sp>
        <p:nvSpPr>
          <p:cNvPr id="4" name="Объект 3"/>
          <p:cNvSpPr>
            <a:spLocks noGrp="1"/>
          </p:cNvSpPr>
          <p:nvPr>
            <p:ph sz="half" idx="2"/>
          </p:nvPr>
        </p:nvSpPr>
        <p:spPr/>
        <p:txBody>
          <a:bodyPr>
            <a:normAutofit fontScale="70000" lnSpcReduction="20000"/>
          </a:bodyPr>
          <a:lstStyle/>
          <a:p>
            <a:pPr marL="0" indent="0" algn="just">
              <a:buNone/>
            </a:pPr>
            <a:r>
              <a:rPr lang="ru-RU" dirty="0"/>
              <a:t>Ограничивать процессуальные права потребителя:</a:t>
            </a:r>
          </a:p>
          <a:p>
            <a:pPr marL="0" indent="0" algn="just">
              <a:buNone/>
            </a:pPr>
            <a:r>
              <a:rPr lang="ru-RU" dirty="0"/>
              <a:t>- </a:t>
            </a:r>
            <a:r>
              <a:rPr lang="ru-RU" dirty="0">
                <a:hlinkClick r:id="rId2"/>
              </a:rPr>
              <a:t>устанавливать</a:t>
            </a:r>
            <a:r>
              <a:rPr lang="ru-RU" dirty="0"/>
              <a:t> обязательный досудебный порядок рассмотрения споров, если такой порядок не предусмотрен законом;</a:t>
            </a:r>
          </a:p>
          <a:p>
            <a:pPr marL="0" indent="0" algn="just">
              <a:buNone/>
            </a:pPr>
            <a:r>
              <a:rPr lang="ru-RU" dirty="0"/>
              <a:t>- </a:t>
            </a:r>
            <a:r>
              <a:rPr lang="ru-RU" dirty="0">
                <a:hlinkClick r:id="rId3"/>
              </a:rPr>
              <a:t>ограничивать</a:t>
            </a:r>
            <a:r>
              <a:rPr lang="ru-RU" dirty="0"/>
              <a:t> право потребителя на </a:t>
            </a:r>
            <a:r>
              <a:rPr lang="ru-RU" dirty="0">
                <a:hlinkClick r:id="rId4"/>
              </a:rPr>
              <a:t>выбор</a:t>
            </a:r>
            <a:r>
              <a:rPr lang="ru-RU" dirty="0"/>
              <a:t> территориальной подсудности споров;</a:t>
            </a:r>
          </a:p>
          <a:p>
            <a:pPr marL="0" indent="0" algn="just">
              <a:buNone/>
            </a:pPr>
            <a:r>
              <a:rPr lang="ru-RU" dirty="0"/>
              <a:t>- </a:t>
            </a:r>
            <a:r>
              <a:rPr lang="ru-RU" dirty="0">
                <a:hlinkClick r:id="rId5"/>
              </a:rPr>
              <a:t>возлагать</a:t>
            </a:r>
            <a:r>
              <a:rPr lang="ru-RU" dirty="0"/>
              <a:t> на потребителя бремя доказывания определенных обстоятельств, если это не предусмотрено законодательством</a:t>
            </a:r>
            <a:endParaRPr lang="ru-RU" dirty="0"/>
          </a:p>
        </p:txBody>
      </p:sp>
      <p:sp>
        <p:nvSpPr>
          <p:cNvPr id="5" name="Текст 4"/>
          <p:cNvSpPr>
            <a:spLocks noGrp="1"/>
          </p:cNvSpPr>
          <p:nvPr>
            <p:ph type="body" sz="quarter" idx="3"/>
          </p:nvPr>
        </p:nvSpPr>
        <p:spPr/>
        <p:txBody>
          <a:bodyPr/>
          <a:lstStyle/>
          <a:p>
            <a:r>
              <a:rPr lang="ru-RU" dirty="0" smtClean="0"/>
              <a:t>Примечание</a:t>
            </a:r>
            <a:endParaRPr lang="ru-RU" dirty="0"/>
          </a:p>
        </p:txBody>
      </p:sp>
      <p:sp>
        <p:nvSpPr>
          <p:cNvPr id="6" name="Объект 5"/>
          <p:cNvSpPr>
            <a:spLocks noGrp="1"/>
          </p:cNvSpPr>
          <p:nvPr>
            <p:ph sz="quarter" idx="4"/>
          </p:nvPr>
        </p:nvSpPr>
        <p:spPr/>
        <p:txBody>
          <a:bodyPr>
            <a:normAutofit fontScale="70000" lnSpcReduction="20000"/>
          </a:bodyPr>
          <a:lstStyle/>
          <a:p>
            <a:pPr marL="0" indent="0" algn="just">
              <a:buNone/>
            </a:pPr>
            <a:r>
              <a:rPr lang="ru-RU" dirty="0"/>
              <a:t>Запрет на установление договором обязательного досудебного порядка урегулирования споров согласуется с положениями ГПК РФ, которые не связывают с таким условием какие-либо процессуальные последствия (см. </a:t>
            </a:r>
            <a:r>
              <a:rPr lang="ru-RU" dirty="0">
                <a:hlinkClick r:id="rId6"/>
              </a:rPr>
              <a:t>ч. 4 ст. 3</a:t>
            </a:r>
            <a:r>
              <a:rPr lang="ru-RU" dirty="0"/>
              <a:t>, </a:t>
            </a:r>
            <a:r>
              <a:rPr lang="ru-RU" dirty="0">
                <a:hlinkClick r:id="rId7"/>
              </a:rPr>
              <a:t>п. 1 ч. 1 ст. 135</a:t>
            </a:r>
            <a:r>
              <a:rPr lang="ru-RU" dirty="0"/>
              <a:t> и </a:t>
            </a:r>
            <a:r>
              <a:rPr lang="ru-RU" dirty="0">
                <a:hlinkClick r:id="rId8"/>
              </a:rPr>
              <a:t>абзац второй ст. 222</a:t>
            </a:r>
            <a:r>
              <a:rPr lang="ru-RU" dirty="0"/>
              <a:t> Кодекса).</a:t>
            </a:r>
          </a:p>
          <a:p>
            <a:pPr marL="0" indent="0" algn="just">
              <a:buNone/>
            </a:pPr>
            <a:r>
              <a:rPr lang="ru-RU" dirty="0"/>
              <a:t>Законом обязательный досудебный порядок урегулирования предусмотрен, в частности, для споров с участием потребителей </a:t>
            </a:r>
            <a:r>
              <a:rPr lang="ru-RU" dirty="0">
                <a:hlinkClick r:id="rId9"/>
              </a:rPr>
              <a:t>финансовых услуг</a:t>
            </a:r>
            <a:r>
              <a:rPr lang="ru-RU" dirty="0"/>
              <a:t>.</a:t>
            </a:r>
          </a:p>
          <a:p>
            <a:pPr marL="0" indent="0" algn="just">
              <a:buNone/>
            </a:pPr>
            <a:r>
              <a:rPr lang="ru-RU" dirty="0"/>
              <a:t>См. также </a:t>
            </a:r>
            <a:r>
              <a:rPr lang="ru-RU" dirty="0">
                <a:hlinkClick r:id="rId10"/>
              </a:rPr>
              <a:t>п. 33</a:t>
            </a:r>
            <a:r>
              <a:rPr lang="ru-RU" dirty="0"/>
              <a:t> постановления Пленума ВС РФ от 22.06.2021 N 18, </a:t>
            </a:r>
            <a:r>
              <a:rPr lang="ru-RU" dirty="0">
                <a:hlinkClick r:id="rId11"/>
              </a:rPr>
              <a:t>п. 26</a:t>
            </a:r>
            <a:r>
              <a:rPr lang="ru-RU" dirty="0"/>
              <a:t>, </a:t>
            </a:r>
            <a:r>
              <a:rPr lang="ru-RU" dirty="0">
                <a:hlinkClick r:id="rId12"/>
              </a:rPr>
              <a:t>28</a:t>
            </a:r>
            <a:r>
              <a:rPr lang="ru-RU" dirty="0"/>
              <a:t> постановления Пленума ВС РФ от 28.06.2012 N 17</a:t>
            </a:r>
            <a:endParaRPr lang="ru-RU" dirty="0"/>
          </a:p>
        </p:txBody>
      </p:sp>
    </p:spTree>
    <p:extLst>
      <p:ext uri="{BB962C8B-B14F-4D97-AF65-F5344CB8AC3E}">
        <p14:creationId xmlns:p14="http://schemas.microsoft.com/office/powerpoint/2010/main" val="4168206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ВАЖНО</a:t>
            </a:r>
            <a:endParaRPr lang="ru-RU" dirty="0"/>
          </a:p>
        </p:txBody>
      </p:sp>
      <p:sp>
        <p:nvSpPr>
          <p:cNvPr id="3" name="Текст 2"/>
          <p:cNvSpPr>
            <a:spLocks noGrp="1"/>
          </p:cNvSpPr>
          <p:nvPr>
            <p:ph idx="1"/>
          </p:nvPr>
        </p:nvSpPr>
        <p:spPr/>
        <p:txBody>
          <a:bodyPr/>
          <a:lstStyle/>
          <a:p>
            <a:pPr marL="0" indent="0" algn="just">
              <a:buNone/>
            </a:pPr>
            <a:r>
              <a:rPr lang="ru-RU" dirty="0"/>
              <a:t>Помимо закрепления перечня недопустимых договорных условий, с 1 сентября продавцам (исполнителям, владельцам </a:t>
            </a:r>
            <a:r>
              <a:rPr lang="ru-RU" dirty="0" err="1"/>
              <a:t>агрегаторов</a:t>
            </a:r>
            <a:r>
              <a:rPr lang="ru-RU" dirty="0"/>
              <a:t>) </a:t>
            </a:r>
            <a:r>
              <a:rPr lang="ru-RU" dirty="0">
                <a:hlinkClick r:id="rId2"/>
              </a:rPr>
              <a:t>запрещено</a:t>
            </a:r>
            <a:r>
              <a:rPr lang="ru-RU" dirty="0"/>
              <a:t> отказывать потребителям в заключении, исполнении, изменении или расторжении договора по мотиву отказа потребителя предоставить персональные данные. Исключением могут быть случаи, когда обязанность предоставления таких данных предусмотрена законодательством или непосредственно связана с исполнением договора.</a:t>
            </a:r>
          </a:p>
          <a:p>
            <a:pPr marL="0" indent="0">
              <a:buNone/>
            </a:pPr>
            <a:endParaRPr lang="ru-RU" dirty="0"/>
          </a:p>
        </p:txBody>
      </p:sp>
      <p:sp>
        <p:nvSpPr>
          <p:cNvPr id="5" name="Текст 4"/>
          <p:cNvSpPr>
            <a:spLocks noGrp="1"/>
          </p:cNvSpPr>
          <p:nvPr>
            <p:ph type="body" sz="quarter" idx="4294967295"/>
          </p:nvPr>
        </p:nvSpPr>
        <p:spPr>
          <a:xfrm>
            <a:off x="5211763" y="1676400"/>
            <a:ext cx="3932237" cy="45719"/>
          </a:xfrm>
        </p:spPr>
        <p:txBody>
          <a:bodyPr>
            <a:normAutofit fontScale="25000" lnSpcReduction="20000"/>
          </a:bodyPr>
          <a:lstStyle/>
          <a:p>
            <a:pPr marL="0" indent="0">
              <a:buNone/>
            </a:pPr>
            <a:endParaRPr lang="ru-RU" dirty="0"/>
          </a:p>
        </p:txBody>
      </p:sp>
    </p:spTree>
    <p:extLst>
      <p:ext uri="{BB962C8B-B14F-4D97-AF65-F5344CB8AC3E}">
        <p14:creationId xmlns:p14="http://schemas.microsoft.com/office/powerpoint/2010/main" val="1503616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ИЗМЕНЕНИЕ В ЗАКОНЕ О РЕКЛАМЕ</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91680" y="-99392"/>
            <a:ext cx="5068267" cy="6760991"/>
          </a:xfrm>
        </p:spPr>
      </p:pic>
    </p:spTree>
    <p:extLst>
      <p:ext uri="{BB962C8B-B14F-4D97-AF65-F5344CB8AC3E}">
        <p14:creationId xmlns:p14="http://schemas.microsoft.com/office/powerpoint/2010/main" val="2387014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normAutofit/>
          </a:bodyPr>
          <a:lstStyle/>
          <a:p>
            <a:pPr marL="0" indent="0" algn="just">
              <a:buNone/>
            </a:pPr>
            <a:r>
              <a:rPr lang="ru-RU" sz="2800" dirty="0"/>
              <a:t>1 сентября 2022 года вступает в силу </a:t>
            </a:r>
            <a:r>
              <a:rPr lang="ru-RU" sz="2800" dirty="0">
                <a:hlinkClick r:id="rId2"/>
              </a:rPr>
              <a:t>п. 3 ст. 1</a:t>
            </a:r>
            <a:r>
              <a:rPr lang="ru-RU" sz="2800" dirty="0"/>
              <a:t> Федерального закона от 2 июля 2021 г. N 347-ФЗ "О внесении изменений в Федеральный закон "О рекламе" (далее - Закон о рекламе), дополняющий его </a:t>
            </a:r>
            <a:r>
              <a:rPr lang="ru-RU" sz="2800" dirty="0">
                <a:hlinkClick r:id="rId3"/>
              </a:rPr>
              <a:t>статьей 18.1</a:t>
            </a:r>
            <a:r>
              <a:rPr lang="ru-RU" sz="2800" dirty="0"/>
              <a:t> "Реклама в информационно-телекоммуникационной сети "Интернет". Новой статьей установлен порядок размещения рекламы в сети "Интернет" в целях обеспечения ее </a:t>
            </a:r>
            <a:r>
              <a:rPr lang="ru-RU" sz="2800" dirty="0" err="1"/>
              <a:t>прослеживаемости</a:t>
            </a:r>
            <a:endParaRPr lang="ru-RU" sz="2800" dirty="0"/>
          </a:p>
        </p:txBody>
      </p:sp>
    </p:spTree>
    <p:extLst>
      <p:ext uri="{BB962C8B-B14F-4D97-AF65-F5344CB8AC3E}">
        <p14:creationId xmlns:p14="http://schemas.microsoft.com/office/powerpoint/2010/main" val="3539975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dirty="0"/>
              <a:t>На </a:t>
            </a:r>
            <a:r>
              <a:rPr lang="ru-RU" dirty="0">
                <a:hlinkClick r:id="rId2"/>
              </a:rPr>
              <a:t>рекламодателей</a:t>
            </a:r>
            <a:r>
              <a:rPr lang="ru-RU" dirty="0"/>
              <a:t>, </a:t>
            </a:r>
            <a:r>
              <a:rPr lang="ru-RU" dirty="0" err="1">
                <a:hlinkClick r:id="rId3"/>
              </a:rPr>
              <a:t>рекламораспространителей</a:t>
            </a:r>
            <a:r>
              <a:rPr lang="ru-RU" dirty="0"/>
              <a:t> и </a:t>
            </a:r>
            <a:r>
              <a:rPr lang="ru-RU" dirty="0">
                <a:hlinkClick r:id="rId4"/>
              </a:rPr>
              <a:t>операторов рекламных систем</a:t>
            </a:r>
            <a:r>
              <a:rPr lang="ru-RU" dirty="0"/>
              <a:t> возлагается обязанность по предоставлению либо обеспечению представления в </a:t>
            </a:r>
            <a:r>
              <a:rPr lang="ru-RU" dirty="0" err="1">
                <a:hlinkClick r:id="rId5"/>
              </a:rPr>
              <a:t>Роскомнадзор</a:t>
            </a:r>
            <a:r>
              <a:rPr lang="ru-RU" dirty="0"/>
              <a:t> информации о распространенной ими в Интернете рекламе.</a:t>
            </a:r>
          </a:p>
          <a:p>
            <a:pPr marL="0" indent="0" algn="just">
              <a:buNone/>
            </a:pPr>
            <a:r>
              <a:rPr lang="ru-RU" dirty="0"/>
              <a:t>Отметим, что речь, в данном случае, идет о рекламе, направленной на привлечение внимания потребителей рекламы, находящихся на территории РФ. На социальную рекламу требования </a:t>
            </a:r>
            <a:r>
              <a:rPr lang="ru-RU" dirty="0">
                <a:hlinkClick r:id="rId6"/>
              </a:rPr>
              <a:t>ст. 18.1</a:t>
            </a:r>
            <a:r>
              <a:rPr lang="ru-RU" dirty="0"/>
              <a:t> Закона о рекламе не распространяются.</a:t>
            </a:r>
          </a:p>
          <a:p>
            <a:pPr marL="0" indent="0">
              <a:buNone/>
            </a:pPr>
            <a:endParaRPr lang="ru-RU" dirty="0"/>
          </a:p>
        </p:txBody>
      </p:sp>
    </p:spTree>
    <p:extLst>
      <p:ext uri="{BB962C8B-B14F-4D97-AF65-F5344CB8AC3E}">
        <p14:creationId xmlns:p14="http://schemas.microsoft.com/office/powerpoint/2010/main" val="717987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92500"/>
          </a:bodyPr>
          <a:lstStyle/>
          <a:p>
            <a:pPr marL="0" indent="0" algn="just">
              <a:buNone/>
            </a:pPr>
            <a:r>
              <a:rPr lang="ru-RU" dirty="0"/>
              <a:t>Критерии рекламодателей, обязанных предоставлять информацию, состав требуемой информации, порядок и сроки ее предоставления (обеспечения предоставления) в </a:t>
            </a:r>
            <a:r>
              <a:rPr lang="ru-RU" dirty="0" err="1"/>
              <a:t>Роскомнадзор</a:t>
            </a:r>
            <a:r>
              <a:rPr lang="ru-RU" dirty="0"/>
              <a:t> устанавливаются Правительством РФ.</a:t>
            </a:r>
          </a:p>
          <a:p>
            <a:pPr marL="0" indent="0" algn="just">
              <a:buNone/>
            </a:pPr>
            <a:r>
              <a:rPr lang="ru-RU" dirty="0"/>
              <a:t>Подавать информацию в </a:t>
            </a:r>
            <a:r>
              <a:rPr lang="ru-RU" dirty="0" err="1"/>
              <a:t>Роскомнадзор</a:t>
            </a:r>
            <a:r>
              <a:rPr lang="ru-RU" dirty="0"/>
              <a:t> можно как самостоятельно, так и через специально уполномоченных на то </a:t>
            </a:r>
            <a:r>
              <a:rPr lang="ru-RU" dirty="0">
                <a:hlinkClick r:id="rId2"/>
              </a:rPr>
              <a:t>операторов рекламных данных</a:t>
            </a:r>
            <a:r>
              <a:rPr lang="ru-RU" dirty="0"/>
              <a:t>, то есть, владельцев программ для ЭВМ, предназначенных для установления факта распространения рекламы в Интернете (требования к указанным программам устанавливаются </a:t>
            </a:r>
            <a:r>
              <a:rPr lang="ru-RU" dirty="0" err="1"/>
              <a:t>Роскомнадзором</a:t>
            </a:r>
            <a:r>
              <a:rPr lang="ru-RU" dirty="0"/>
              <a:t>). Операторы рекламных данных отбираются специальной комиссией и включаются в соответствующий реестр.</a:t>
            </a:r>
          </a:p>
          <a:p>
            <a:pPr marL="0" indent="0">
              <a:buNone/>
            </a:pPr>
            <a:endParaRPr lang="ru-RU" dirty="0"/>
          </a:p>
        </p:txBody>
      </p:sp>
    </p:spTree>
    <p:extLst>
      <p:ext uri="{BB962C8B-B14F-4D97-AF65-F5344CB8AC3E}">
        <p14:creationId xmlns:p14="http://schemas.microsoft.com/office/powerpoint/2010/main" val="682947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ctr"/>
            <a:r>
              <a:rPr lang="ru-RU" sz="1600" b="1" u="sng" dirty="0"/>
              <a:t>1. </a:t>
            </a:r>
            <a:r>
              <a:rPr lang="ru-RU" sz="1600" dirty="0">
                <a:hlinkClick r:id="rId2"/>
              </a:rPr>
              <a:t>Критерии</a:t>
            </a:r>
            <a:r>
              <a:rPr lang="ru-RU" sz="1600" b="1" dirty="0"/>
              <a:t> отнесения рекламодателей, </a:t>
            </a:r>
            <a:r>
              <a:rPr lang="ru-RU" sz="1600" b="1" dirty="0" err="1"/>
              <a:t>рекламораспространителей</a:t>
            </a:r>
            <a:r>
              <a:rPr lang="ru-RU" sz="1600" b="1" dirty="0"/>
              <a:t>, операторов рекламных систем к лицам, обязанным предоставлять информацию об интернет-рекламе в </a:t>
            </a:r>
            <a:r>
              <a:rPr lang="ru-RU" sz="1600" b="1" dirty="0" err="1"/>
              <a:t>Роскомнадзор</a:t>
            </a:r>
            <a:r>
              <a:rPr lang="ru-RU" sz="1600" b="1" dirty="0"/>
              <a:t> (утв. постановлением Правительства РФ от 25.05.2022 N 948)</a:t>
            </a:r>
            <a:br>
              <a:rPr lang="ru-RU" sz="1600" b="1" dirty="0"/>
            </a:br>
            <a:endParaRPr lang="ru-RU" sz="1600"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a:t>Обязанность по предоставлению информации о рекламе возлагается на юридических, физических лиц, ИП, являющихся:</a:t>
            </a:r>
          </a:p>
          <a:p>
            <a:pPr marL="0" indent="0" algn="just">
              <a:buNone/>
            </a:pPr>
            <a:r>
              <a:rPr lang="ru-RU" dirty="0"/>
              <a:t>а) рекламодателями, за исключением обладателей исключительных прав на объекты рекламирования и (или) изготовителей (продавцов) товаров, информацию об интернет-рекламе которых в РКН обязаны предоставлять </a:t>
            </a:r>
            <a:r>
              <a:rPr lang="ru-RU" dirty="0" err="1"/>
              <a:t>рекламораспространители</a:t>
            </a:r>
            <a:r>
              <a:rPr lang="ru-RU" dirty="0"/>
              <a:t>, операторы рекламных систем в рамках договора с рекламодателем;</a:t>
            </a:r>
          </a:p>
          <a:p>
            <a:pPr marL="0" indent="0" algn="just">
              <a:buNone/>
            </a:pPr>
            <a:r>
              <a:rPr lang="ru-RU" dirty="0"/>
              <a:t>б) </a:t>
            </a:r>
            <a:r>
              <a:rPr lang="ru-RU" dirty="0" err="1"/>
              <a:t>рекламораспространителями</a:t>
            </a:r>
            <a:r>
              <a:rPr lang="ru-RU" dirty="0"/>
              <a:t>, оператором рекламных систем, осуществляющим или организующим распространение в сети "Интернет" рекламы любых рекламодателей;</a:t>
            </a:r>
          </a:p>
          <a:p>
            <a:pPr marL="0" indent="0" algn="just">
              <a:buNone/>
            </a:pPr>
            <a:r>
              <a:rPr lang="ru-RU" dirty="0"/>
              <a:t>в) </a:t>
            </a:r>
            <a:r>
              <a:rPr lang="ru-RU" dirty="0" err="1"/>
              <a:t>рекламораспространителями</a:t>
            </a:r>
            <a:r>
              <a:rPr lang="ru-RU" dirty="0"/>
              <a:t> - владельцем </a:t>
            </a:r>
            <a:r>
              <a:rPr lang="ru-RU" dirty="0" err="1"/>
              <a:t>соцсетей</a:t>
            </a:r>
            <a:r>
              <a:rPr lang="ru-RU" dirty="0"/>
              <a:t>, аудиовизуальных сервисов, новостных </a:t>
            </a:r>
            <a:r>
              <a:rPr lang="ru-RU" dirty="0" err="1"/>
              <a:t>агрегаторов</a:t>
            </a:r>
            <a:r>
              <a:rPr lang="ru-RU" dirty="0"/>
              <a:t>, организатором сервисов обмена мгновенными сообщениями, оператором поисковых систем.</a:t>
            </a:r>
          </a:p>
          <a:p>
            <a:endParaRPr lang="ru-RU" dirty="0"/>
          </a:p>
          <a:p>
            <a:pPr marL="0" indent="0">
              <a:buNone/>
            </a:pPr>
            <a:endParaRPr lang="ru-RU" dirty="0"/>
          </a:p>
        </p:txBody>
      </p:sp>
    </p:spTree>
    <p:extLst>
      <p:ext uri="{BB962C8B-B14F-4D97-AF65-F5344CB8AC3E}">
        <p14:creationId xmlns:p14="http://schemas.microsoft.com/office/powerpoint/2010/main" val="1840131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ctr"/>
            <a:r>
              <a:rPr lang="ru-RU" sz="3200" b="1" dirty="0"/>
              <a:t>Документы по охране труда, вступившие в силу 1 сентября 2022 г.</a:t>
            </a:r>
            <a:br>
              <a:rPr lang="ru-RU" sz="3200" b="1" dirty="0"/>
            </a:br>
            <a:endParaRPr lang="ru-RU" sz="3200"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67744" y="692696"/>
            <a:ext cx="4924251" cy="6568876"/>
          </a:xfrm>
        </p:spPr>
      </p:pic>
    </p:spTree>
    <p:extLst>
      <p:ext uri="{BB962C8B-B14F-4D97-AF65-F5344CB8AC3E}">
        <p14:creationId xmlns:p14="http://schemas.microsoft.com/office/powerpoint/2010/main" val="2251706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just"/>
            <a:r>
              <a:rPr lang="ru-RU" sz="2400" dirty="0">
                <a:hlinkClick r:id="rId2"/>
              </a:rPr>
              <a:t>Постановление</a:t>
            </a:r>
            <a:r>
              <a:rPr lang="ru-RU" sz="2400" dirty="0"/>
              <a:t> Правительства РФ от 24 декабря 2021 г. N 2464 "О порядке обучения по охране труда и проверки знания требований охраны труда"</a:t>
            </a:r>
            <a:endParaRPr lang="ru-RU" sz="2400"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a:t>Установлены новые требования: к обучению по охране труда (ОТ) и проверке знания требований ОТ у работающих по трудовому договору; к организациям и ИП, оказывающим услуги по обучению работодателей и работников вопросам ОТ. Обучение проводится в ходе инструктажей по ОТ, стажировки на рабочем месте, а также в ходе обучения по оказанию первой помощи, по использованию (применению) СИЗ, по ОТ у работодателя. По инструктажам и обучению по ОТ знания проверяются в процессе обучения. В прочих случаях в организации, у ИП, у работодателя создаются комиссии по проверке знаний. Их члены должны пройти программы обучения требованиям ОТ. Оговорены оформление документов и записей о планировании и регистрации обучения. С 1 марта 2023 г. будут вести реестр организаций и ИП, оказывающих услуги в области ОТ, реестр работодателей, которые обучают сотрудников самостоятельно, реестр обученных.</a:t>
            </a:r>
            <a:endParaRPr lang="ru-RU" dirty="0"/>
          </a:p>
        </p:txBody>
      </p:sp>
    </p:spTree>
    <p:extLst>
      <p:ext uri="{BB962C8B-B14F-4D97-AF65-F5344CB8AC3E}">
        <p14:creationId xmlns:p14="http://schemas.microsoft.com/office/powerpoint/2010/main" val="3762841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r>
              <a:rPr lang="ru-RU" dirty="0" smtClean="0"/>
              <a:t>ВАЖНО!!!</a:t>
            </a:r>
            <a:endParaRPr lang="ru-RU" dirty="0"/>
          </a:p>
        </p:txBody>
      </p:sp>
      <p:sp>
        <p:nvSpPr>
          <p:cNvPr id="5" name="Объект 4"/>
          <p:cNvSpPr>
            <a:spLocks noGrp="1"/>
          </p:cNvSpPr>
          <p:nvPr>
            <p:ph sz="half" idx="1"/>
          </p:nvPr>
        </p:nvSpPr>
        <p:spPr/>
        <p:txBody>
          <a:bodyPr>
            <a:normAutofit fontScale="77500" lnSpcReduction="20000"/>
          </a:bodyPr>
          <a:lstStyle/>
          <a:p>
            <a:pPr marL="0" indent="0" algn="just">
              <a:buNone/>
            </a:pPr>
            <a:r>
              <a:rPr lang="ru-RU" dirty="0">
                <a:hlinkClick r:id="rId2"/>
              </a:rPr>
              <a:t>Приказ</a:t>
            </a:r>
            <a:r>
              <a:rPr lang="ru-RU" dirty="0"/>
              <a:t> Министерства труда и социальной защиты РФ от 29 октября 2021 г. N 769н "О признании утратившим силу постановления Министерства труда и социального развития Российской Федерации, Министерства образования Российской Федерации от 13 января 2003 г. N 1/29 "Об утверждении Порядка обучения по охране труда и проверки знаний требований охраны труда работников организаций" и внесенного в него изменения"</a:t>
            </a:r>
            <a:endParaRPr lang="ru-RU" dirty="0"/>
          </a:p>
        </p:txBody>
      </p:sp>
      <p:sp>
        <p:nvSpPr>
          <p:cNvPr id="6" name="Объект 5"/>
          <p:cNvSpPr>
            <a:spLocks noGrp="1"/>
          </p:cNvSpPr>
          <p:nvPr>
            <p:ph sz="half" idx="2"/>
          </p:nvPr>
        </p:nvSpPr>
        <p:spPr/>
        <p:txBody>
          <a:bodyPr>
            <a:normAutofit fontScale="77500" lnSpcReduction="20000"/>
          </a:bodyPr>
          <a:lstStyle/>
          <a:p>
            <a:pPr marL="0" indent="0" algn="just">
              <a:buNone/>
            </a:pPr>
            <a:r>
              <a:rPr lang="ru-RU" dirty="0"/>
              <a:t>Признается утратившим силу утвержденный в 2003 году </a:t>
            </a:r>
            <a:r>
              <a:rPr lang="ru-RU" dirty="0">
                <a:hlinkClick r:id="rId3"/>
              </a:rPr>
              <a:t>порядок</a:t>
            </a:r>
            <a:r>
              <a:rPr lang="ru-RU" dirty="0"/>
              <a:t> обучения по охране труда и проверки знаний требований охраны труда работников организаций. Данный порядок не отвечает современным требованиям в части обучения и проверки знаний по охране труда, не учитывает соответствующие изменения в нормативных правовых актах.</a:t>
            </a:r>
            <a:endParaRPr lang="ru-RU" dirty="0"/>
          </a:p>
        </p:txBody>
      </p:sp>
    </p:spTree>
    <p:extLst>
      <p:ext uri="{BB962C8B-B14F-4D97-AF65-F5344CB8AC3E}">
        <p14:creationId xmlns:p14="http://schemas.microsoft.com/office/powerpoint/2010/main" val="606548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sz="half" idx="1"/>
          </p:nvPr>
        </p:nvSpPr>
        <p:spPr/>
        <p:txBody>
          <a:bodyPr>
            <a:normAutofit fontScale="55000" lnSpcReduction="20000"/>
          </a:bodyPr>
          <a:lstStyle/>
          <a:p>
            <a:pPr marL="0" indent="0" algn="ctr">
              <a:buNone/>
            </a:pPr>
            <a:r>
              <a:rPr lang="ru-RU" sz="2600" dirty="0">
                <a:hlinkClick r:id="rId2"/>
              </a:rPr>
              <a:t>Приказ</a:t>
            </a:r>
            <a:r>
              <a:rPr lang="ru-RU" sz="2600" dirty="0"/>
              <a:t> Министерства труда и социальной защиты РФ от 20 апреля 2022 г. N 223н "Об утверждении Положения об особенностях расследования несчастных случаев на производстве в отдельных отраслях и организациях, форм документов, соответствующих классификаторов, необходимых для расследования несчастных случаев на производстве</a:t>
            </a:r>
            <a:r>
              <a:rPr lang="ru-RU" dirty="0"/>
              <a:t>"</a:t>
            </a:r>
            <a:endParaRPr lang="ru-RU" dirty="0"/>
          </a:p>
        </p:txBody>
      </p:sp>
      <p:sp>
        <p:nvSpPr>
          <p:cNvPr id="4" name="Объект 3"/>
          <p:cNvSpPr>
            <a:spLocks noGrp="1"/>
          </p:cNvSpPr>
          <p:nvPr>
            <p:ph sz="half" idx="2"/>
          </p:nvPr>
        </p:nvSpPr>
        <p:spPr/>
        <p:txBody>
          <a:bodyPr>
            <a:normAutofit fontScale="55000" lnSpcReduction="20000"/>
          </a:bodyPr>
          <a:lstStyle/>
          <a:p>
            <a:pPr marL="0" indent="0" algn="just">
              <a:buNone/>
            </a:pPr>
            <a:r>
              <a:rPr lang="ru-RU" dirty="0"/>
              <a:t>До 1 сентября 2028 г. будут действовать новые особенности расследования несчастных случаев на производстве в отдельных отраслях и организациях. Одно из нововведений - классификаторы несчастных случаев и их причин. Они помогут более четко определить причины несчастных случаев, мероприятия по их предотвращению. Вводятся классификаторы иных признаков и факторов, среди которых - классификаторы категории несчастного случая, по времени суток на момент происшествия, по полу, возрасту пострадавшего. Обновлены формы необходимых документов. Конкретизирован порядок расследования несчастных случаев в таких отраслях, как атомная энергетика, электроэнергетика, транспорт и др. Пересмотрен порядок формирования комиссии по расследованию несчастных случаев.</a:t>
            </a:r>
            <a:endParaRPr lang="ru-RU" dirty="0"/>
          </a:p>
        </p:txBody>
      </p:sp>
    </p:spTree>
    <p:extLst>
      <p:ext uri="{BB962C8B-B14F-4D97-AF65-F5344CB8AC3E}">
        <p14:creationId xmlns:p14="http://schemas.microsoft.com/office/powerpoint/2010/main" val="2179784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sz="half" idx="1"/>
          </p:nvPr>
        </p:nvSpPr>
        <p:spPr/>
        <p:txBody>
          <a:bodyPr>
            <a:noAutofit/>
          </a:bodyPr>
          <a:lstStyle/>
          <a:p>
            <a:pPr marL="0" indent="0" algn="just">
              <a:buNone/>
            </a:pPr>
            <a:r>
              <a:rPr lang="ru-RU" sz="1800" dirty="0">
                <a:hlinkClick r:id="rId2"/>
              </a:rPr>
              <a:t>Приказ</a:t>
            </a:r>
            <a:r>
              <a:rPr lang="ru-RU" sz="1800" dirty="0"/>
              <a:t> Министерства здравоохранения РФ от 20 мая 2022 г. N 342н "Об утверждении порядка прохождения обязательного психиатрического освидетельствования работниками, осуществляющими отдельные виды деятельности, его периодичности, а также видов деятельности, при осуществлении которых проводится психиатрическое освидетельствование"</a:t>
            </a:r>
            <a:endParaRPr lang="ru-RU" sz="1800" dirty="0"/>
          </a:p>
        </p:txBody>
      </p:sp>
      <p:sp>
        <p:nvSpPr>
          <p:cNvPr id="4" name="Объект 3"/>
          <p:cNvSpPr>
            <a:spLocks noGrp="1"/>
          </p:cNvSpPr>
          <p:nvPr>
            <p:ph sz="half" idx="2"/>
          </p:nvPr>
        </p:nvSpPr>
        <p:spPr/>
        <p:txBody>
          <a:bodyPr>
            <a:normAutofit fontScale="55000" lnSpcReduction="20000"/>
          </a:bodyPr>
          <a:lstStyle/>
          <a:p>
            <a:pPr marL="0" indent="0" algn="just">
              <a:buNone/>
            </a:pPr>
            <a:r>
              <a:rPr lang="ru-RU" dirty="0"/>
              <a:t>При осуществлении определенных видов деятельности работники должны проходить обязательное психиатрическое освидетельствование. В частности, к таким видам деятельности относятся: управление транспортом и движением; работа со взрывчатыми веществами и материалами; в области использования атомной энергии; аварийно-спасательские работы и тушение пожаров; управление кранами; работа в системах централизованного водоснабжения, в сфере электроэнергетики, теплоснабжения; обслуживание оборудования, работающего под избыточным давлением; диспетчеризация в химической (нефтехимической) промышленности; добыча угля; эксплуатация и ремонт скважин для переработки нефти, очистки резервуаров; контакты с возбудителями инфекционных заболеваний. Освидетельствование проводится в обязательном порядке по направлению работодателя.</a:t>
            </a:r>
            <a:endParaRPr lang="ru-RU" dirty="0"/>
          </a:p>
        </p:txBody>
      </p:sp>
    </p:spTree>
    <p:extLst>
      <p:ext uri="{BB962C8B-B14F-4D97-AF65-F5344CB8AC3E}">
        <p14:creationId xmlns:p14="http://schemas.microsoft.com/office/powerpoint/2010/main" val="2786501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pPr algn="ctr"/>
            <a:r>
              <a:rPr lang="ru-RU" dirty="0" smtClean="0"/>
              <a:t>ЖЕЛАЮ УДАЧИ</a:t>
            </a:r>
            <a:endParaRPr lang="ru-RU" dirty="0"/>
          </a:p>
        </p:txBody>
      </p:sp>
      <p:pic>
        <p:nvPicPr>
          <p:cNvPr id="7" name="Объект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63688" y="121017"/>
            <a:ext cx="5068267" cy="6760991"/>
          </a:xfrm>
        </p:spPr>
      </p:pic>
    </p:spTree>
    <p:extLst>
      <p:ext uri="{BB962C8B-B14F-4D97-AF65-F5344CB8AC3E}">
        <p14:creationId xmlns:p14="http://schemas.microsoft.com/office/powerpoint/2010/main" val="29840851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Ясность">
  <a:themeElements>
    <a:clrScheme name="Ясность">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Классическая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Ясность">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70</TotalTime>
  <Words>1647</Words>
  <Application>Microsoft Office PowerPoint</Application>
  <PresentationFormat>Экран (4:3)</PresentationFormat>
  <Paragraphs>143</Paragraphs>
  <Slides>37</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37</vt:i4>
      </vt:variant>
    </vt:vector>
  </HeadingPairs>
  <TitlesOfParts>
    <vt:vector size="38" baseType="lpstr">
      <vt:lpstr>Ясность</vt:lpstr>
      <vt:lpstr>Правовое управление процессами в организации</vt:lpstr>
      <vt:lpstr>Изменение законодательства РФ</vt:lpstr>
      <vt:lpstr>1. Изменения в содержании применяемых вами документов</vt:lpstr>
      <vt:lpstr>Презентация PowerPoint</vt:lpstr>
      <vt:lpstr>Презентация PowerPoint</vt:lpstr>
      <vt:lpstr>Презентация PowerPoint</vt:lpstr>
      <vt:lpstr>Презентация PowerPoint</vt:lpstr>
      <vt:lpstr> 2. Изменения в вашем взаимодействии с субъектами ПД </vt:lpstr>
      <vt:lpstr>Презентация PowerPoint</vt:lpstr>
      <vt:lpstr>Презентация PowerPoint</vt:lpstr>
      <vt:lpstr>Презентация PowerPoint</vt:lpstr>
      <vt:lpstr>  3. Изменения в вашем взаимодействии с Роскомнадзором   </vt:lpstr>
      <vt:lpstr>Презентация PowerPoint</vt:lpstr>
      <vt:lpstr>Презентация PowerPoint</vt:lpstr>
      <vt:lpstr> КЛЮЧИВЫЕ ИЗМЕНЕНИЯ В ЗАКОНЕ О ЗАЩИТЫ ПРАВ ПОТРЕБИТЕЛЯ </vt:lpstr>
      <vt:lpstr> Какие условия недопустимо включать в договоры с потребителями </vt:lpstr>
      <vt:lpstr>ВНИМАНИЕ!!!</vt:lpstr>
      <vt:lpstr>Презентация PowerPoint</vt:lpstr>
      <vt:lpstr>ЧТО НОВОГО!!!</vt:lpstr>
      <vt:lpstr>ЧТО НОВОГО!!!</vt:lpstr>
      <vt:lpstr>ЧТО НОВОГО!!!</vt:lpstr>
      <vt:lpstr>ЧТО НОВОГО!!!</vt:lpstr>
      <vt:lpstr>ЧТО НОВОГО!!!</vt:lpstr>
      <vt:lpstr>ЧТО НОВОГО!!!</vt:lpstr>
      <vt:lpstr>ЧТО НОВОГО!!!</vt:lpstr>
      <vt:lpstr>ВАЖНО</vt:lpstr>
      <vt:lpstr>ИЗМЕНЕНИЕ В ЗАКОНЕ О РЕКЛАМЕ</vt:lpstr>
      <vt:lpstr>ВАЖНО!!!</vt:lpstr>
      <vt:lpstr>Презентация PowerPoint</vt:lpstr>
      <vt:lpstr>Презентация PowerPoint</vt:lpstr>
      <vt:lpstr>1. Критерии отнесения рекламодателей, рекламораспространителей, операторов рекламных систем к лицам, обязанным предоставлять информацию об интернет-рекламе в Роскомнадзор (утв. постановлением Правительства РФ от 25.05.2022 N 948) </vt:lpstr>
      <vt:lpstr>Документы по охране труда, вступившие в силу 1 сентября 2022 г. </vt:lpstr>
      <vt:lpstr>Постановление Правительства РФ от 24 декабря 2021 г. N 2464 "О порядке обучения по охране труда и проверки знания требований охраны труда"</vt:lpstr>
      <vt:lpstr>ВАЖНО!!!</vt:lpstr>
      <vt:lpstr>Презентация PowerPoint</vt:lpstr>
      <vt:lpstr>Презентация PowerPoint</vt:lpstr>
      <vt:lpstr>ЖЕЛАЮ УДАЧИ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Правовое управление процессами в организации</dc:title>
  <dc:creator>Admin</dc:creator>
  <cp:lastModifiedBy>Admin</cp:lastModifiedBy>
  <cp:revision>32</cp:revision>
  <dcterms:created xsi:type="dcterms:W3CDTF">2022-09-09T05:44:27Z</dcterms:created>
  <dcterms:modified xsi:type="dcterms:W3CDTF">2022-09-09T07:00:25Z</dcterms:modified>
</cp:coreProperties>
</file>