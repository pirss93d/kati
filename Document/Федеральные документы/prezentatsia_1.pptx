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7" r:id="rId26"/>
    <p:sldId id="280" r:id="rId27"/>
    <p:sldId id="281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its.1c.ru/db/garant/content/404461956/hdoc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ts.1c.ru/db/garant/content/10006035/hdoc/16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ts.1c.ru/db/garant/content/10006035/hdoc/32" TargetMode="External"/><Relationship Id="rId2" Type="http://schemas.openxmlformats.org/officeDocument/2006/relationships/hyperlink" Target="https://its.1c.ru/db/garant/content/10006035/hdoc/172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internet.garant.ru/document/redirect/405714167/0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internet.garant.ru/services/arbitr/link/90527353" TargetMode="External"/><Relationship Id="rId3" Type="http://schemas.openxmlformats.org/officeDocument/2006/relationships/hyperlink" Target="https://internet.garant.ru/#/document/12140390/entry/13" TargetMode="External"/><Relationship Id="rId7" Type="http://schemas.openxmlformats.org/officeDocument/2006/relationships/hyperlink" Target="https://internet.garant.ru/services/arbitr/link/95329303" TargetMode="External"/><Relationship Id="rId2" Type="http://schemas.openxmlformats.org/officeDocument/2006/relationships/hyperlink" Target="https://internet.garant.ru/#/document/12140390/entry/1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ternet.garant.ru/services/arbitr/link/87480070" TargetMode="External"/><Relationship Id="rId11" Type="http://schemas.openxmlformats.org/officeDocument/2006/relationships/hyperlink" Target="https://internet.garant.ru/#/document/12140390/entry/0" TargetMode="External"/><Relationship Id="rId5" Type="http://schemas.openxmlformats.org/officeDocument/2006/relationships/hyperlink" Target="https://internet.garant.ru/services/arbitr/link/100527987" TargetMode="External"/><Relationship Id="rId10" Type="http://schemas.openxmlformats.org/officeDocument/2006/relationships/hyperlink" Target="https://internet.garant.ru/#/document/12140390/entry/12" TargetMode="External"/><Relationship Id="rId4" Type="http://schemas.openxmlformats.org/officeDocument/2006/relationships/hyperlink" Target="https://internet.garant.ru/#/document/12140390/entry/3" TargetMode="External"/><Relationship Id="rId9" Type="http://schemas.openxmlformats.org/officeDocument/2006/relationships/hyperlink" Target="https://internet.garant.ru/#/document/77394307/entry/1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internet.garant.ru/document/redirect/77322149/901" TargetMode="External"/><Relationship Id="rId2" Type="http://schemas.openxmlformats.org/officeDocument/2006/relationships/hyperlink" Target="http://internet.garant.ru/document/redirect/77322149/601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internet.garant.ru/document/redirect/77322149/18112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base.garant.ru/405821247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&#1073;&#1083;&#1086;&#1075;-&#1080;&#1085;&#1078;&#1077;&#1085;&#1077;&#1088;&#1072;.&#1088;&#1092;/trudovoj-kodeks/%d1%81%d1%82%d0%b0%d1%82%d1%8c%d1%8f-214-%d1%82%d0%ba-%d1%80%d1%84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publication.pravo.gov.ru/Document/View/0001202212310004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&#1073;&#1083;&#1086;&#1075;-&#1080;&#1085;&#1078;&#1077;&#1085;&#1077;&#1088;&#1072;.&#1088;&#1092;/trudovoj-kodeks/%d1%81%d1%82%d0%b0%d1%82%d1%8c%d1%8f-219-%d1%82%d0%ba-%d1%80%d1%84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i-file.ru/archive/15-2-v-1677/" TargetMode="External"/><Relationship Id="rId2" Type="http://schemas.openxmlformats.org/officeDocument/2006/relationships/hyperlink" Target="https://&#1073;&#1083;&#1086;&#1075;-&#1080;&#1085;&#1078;&#1077;&#1085;&#1077;&#1088;&#1072;.&#1088;&#1092;/npa/%d0%bf%d0%be%d1%81%d1%82%d0%b0%d0%bd%d0%be%d0%b2%d0%bb%d0%b5%d0%bd%d0%b8%d0%b5-2464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club88932826?ysclid=lfc9e5t1ks255258504" TargetMode="External"/><Relationship Id="rId2" Type="http://schemas.openxmlformats.org/officeDocument/2006/relationships/hyperlink" Target="https://www.frdl.r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sz="3200" dirty="0" smtClean="0"/>
              <a:t>Нормативно-правовое обеспечение летней оздоровительной кампании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 err="1" smtClean="0"/>
              <a:t>Саморуков</a:t>
            </a:r>
            <a:r>
              <a:rPr lang="ru-RU" dirty="0" smtClean="0"/>
              <a:t> Артем Викторович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52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Все начинается с ОПРЕДЕЛЕНИЙ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 smtClean="0"/>
              <a:t>Что такое организация отдыха детей и их оздоровление?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 smtClean="0"/>
              <a:t>Что такое лагерь и какие типы (виды) лагерей бывают?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 smtClean="0"/>
              <a:t>А где эти определения можно найти?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 smtClean="0"/>
              <a:t>Какие НПА распространяются в детском отдыхе?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632883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Основное понятие!!!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Федеральный закон от 24 июля 1998 г. N 124-ФЗ </a:t>
            </a: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«Об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основных гарантиях прав ребенка </a:t>
            </a: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Российской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Федерации»</a:t>
            </a:r>
          </a:p>
          <a:p>
            <a:pPr marL="0" indent="0">
              <a:buNone/>
            </a:pPr>
            <a:endParaRPr lang="ru-RU" b="1" dirty="0" smtClean="0"/>
          </a:p>
          <a:p>
            <a:pPr marL="0" indent="0" algn="just">
              <a:buNone/>
            </a:pPr>
            <a:r>
              <a:rPr lang="ru-RU" sz="3400" b="1" dirty="0" smtClean="0"/>
              <a:t>Организации </a:t>
            </a:r>
            <a:r>
              <a:rPr lang="ru-RU" sz="3400" b="1" dirty="0"/>
              <a:t>отдыха детей и их оздоровления</a:t>
            </a:r>
            <a:r>
              <a:rPr lang="ru-RU" dirty="0"/>
              <a:t> - организации (независимо от их организационно-правовых форм) сезонного или круглогодичного действия, стационарного и (или) нестационарного типа, с круглосуточным или дневным пребыванием, оказывающие услуги по организации отдыха и оздоровления детей (организации отдыха детей и их оздоровления сезонного или круглогодичного действия, лагеря, организованные образовательными организациями, осуществляющими организацию отдыха и оздоровления обучающихся в каникулярное время (с круглосуточным или дневным пребыванием), детские лагеря труда и отдыха, детские лагеря палаточного типа, детские специализированные (профильные) лагеря, детские лагеря различной тематической направленности). В целях настоящего Федерального закона к организациям отдыха детей и их оздоровления приравниваются индивидуальные предприниматели, оказывающие услуги по организации отдыха и оздоровления детей, в случае соблюдения требований, установленных настоящим Федеральным законом;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88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А что изменилось?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ДО 31.05.2020 года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ru-RU" b="1" u="sng" dirty="0"/>
              <a:t>организации отдыха детей и их оздоровления</a:t>
            </a:r>
            <a:r>
              <a:rPr lang="ru-RU" u="sng" dirty="0"/>
              <a:t> </a:t>
            </a:r>
            <a:r>
              <a:rPr lang="ru-RU" dirty="0"/>
              <a:t>- организации сезонного действия или круглогодичного действия независимо от организационно-правовых форм и форм собственности, </a:t>
            </a:r>
            <a:r>
              <a:rPr lang="ru-RU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основная деятельность которых направлена на реализацию услуг по обеспечению отдыха детей и их оздоровления </a:t>
            </a:r>
            <a:r>
              <a:rPr lang="ru-RU" dirty="0"/>
              <a:t>(загородные лагеря отдыха и оздоровления детей, детские оздоровительные центры, базы и комплексы, детские оздоровительно-образовательные центры, специализированные (профильные) лагеря (спортивно-оздоровительные и другие лагеря), санаторно-оздоровительные детские лагеря и иные организации), и лагеря, организованные образовательными организациями, осуществляющими организацию отдыха и оздоровления обучающихся в каникулярное время (с круглосуточным или дневным пребыванием), а также детские лагеря труда и отдыха, детские лагеря палаточного типа, детские специализированные (профильные) лагеря, детские лагеря различной тематической направленности </a:t>
            </a:r>
            <a:r>
              <a:rPr lang="ru-RU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(оборонно-спортивные лагеря, туристические лагеря, эколого-биологические лагеря, творческие лагеря, историко-патриотические лагеря, технические лагеря, краеведческие и другие лагеря), созданные при организациях социального обслуживания, санаторно-курортных организациях, общественных организациях (объединениях) и иных организациях;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СЕЙЧАС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ru-RU" b="1" u="sng" dirty="0"/>
              <a:t>организации отдыха детей и их оздоровления</a:t>
            </a:r>
            <a:r>
              <a:rPr lang="ru-RU" dirty="0"/>
              <a:t> - организации (независимо от их организационно-правовых форм) сезонного или круглогодичного действия, стационарного и (или) нестационарного типа, с круглосуточным или дневным пребыванием, оказывающие услуги по организации отдыха и оздоровления детей (организации отдыха детей и их оздоровления сезонного или круглогодичного действия, лагеря, организованные образовательными организациями, осуществляющими организацию отдыха и оздоровления обучающихся в каникулярное время (с круглосуточным или дневным пребыванием), детские лагеря труда и отдыха, детские лагеря палаточного типа, детские специализированные (профильные) лагеря, детские лагеря различной тематической направленности).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целях настоящего Федерального закона к организациям отдыха детей и их оздоровления приравниваются индивидуальные предприниматели, оказывающие услуги по организации отдыха и оздоровления детей, в случае соблюдения требований, установленных настоящим Федеральным законом;</a:t>
            </a:r>
          </a:p>
        </p:txBody>
      </p:sp>
    </p:spTree>
    <p:extLst>
      <p:ext uri="{BB962C8B-B14F-4D97-AF65-F5344CB8AC3E}">
        <p14:creationId xmlns:p14="http://schemas.microsoft.com/office/powerpoint/2010/main" val="2414476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ОЧЕНЬ ВАЖНОЕ УСЛОВИЕ!!!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000" dirty="0" smtClean="0"/>
              <a:t>Организация отдыха детей и их оздоровления </a:t>
            </a:r>
          </a:p>
          <a:p>
            <a:pPr marL="0" indent="0" algn="ctr">
              <a:buNone/>
            </a:pPr>
            <a:r>
              <a:rPr lang="ru-RU" sz="40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ДОЛЖНА ВХОДИТЬ В РЕЕСТР</a:t>
            </a:r>
            <a:endParaRPr lang="ru-RU" sz="4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1580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 КТО МОЖЕТ ОПРЕДЕЛИТЬ, ЯВЛЧЕТСЯ ЛИ НАЛИЧИЕ ДЕТЕЙ В ОРГАНИЗАЦИИ ЛАГЕРЕМ И ДОЛЖНАЛИ ОРГАНИЗАЦИЯ ВХОДИТЬ В РЕЕСТР?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570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РПН не наделен такими полномочиями!!!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ЦИТАТА: «Одновременно </a:t>
            </a:r>
            <a:r>
              <a:rPr lang="ru-RU" dirty="0"/>
              <a:t>сообщаем, что </a:t>
            </a:r>
            <a:r>
              <a:rPr lang="ru-RU" b="1" u="sng" dirty="0">
                <a:solidFill>
                  <a:srgbClr val="FF0000"/>
                </a:solidFill>
              </a:rPr>
              <a:t>вопросы включения организаций в региональный </a:t>
            </a:r>
            <a:r>
              <a:rPr lang="ru-RU" b="1" u="sng" dirty="0" smtClean="0">
                <a:solidFill>
                  <a:srgbClr val="FF0000"/>
                </a:solidFill>
              </a:rPr>
              <a:t> реестр </a:t>
            </a:r>
            <a:r>
              <a:rPr lang="ru-RU" b="1" u="sng" dirty="0">
                <a:solidFill>
                  <a:srgbClr val="FF0000"/>
                </a:solidFill>
              </a:rPr>
              <a:t>не относятся к компетенции </a:t>
            </a:r>
            <a:r>
              <a:rPr lang="ru-RU" b="1" u="sng" dirty="0" err="1">
                <a:solidFill>
                  <a:srgbClr val="FF0000"/>
                </a:solidFill>
              </a:rPr>
              <a:t>Роспотребнадзора</a:t>
            </a:r>
            <a:r>
              <a:rPr lang="ru-RU" b="1" u="sng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ru-RU" dirty="0"/>
              <a:t>С 01.01. 2017 вступил в силу Федеральный закон от 28.12.2016 № 465-ФЗ «О </a:t>
            </a:r>
          </a:p>
          <a:p>
            <a:pPr marL="0" indent="0">
              <a:buNone/>
            </a:pPr>
            <a:r>
              <a:rPr lang="ru-RU" dirty="0"/>
              <a:t>внесении изменений в отдельные законодательные акты Российской Федерации в </a:t>
            </a:r>
            <a:r>
              <a:rPr lang="ru-RU" dirty="0" smtClean="0"/>
              <a:t> целях </a:t>
            </a:r>
            <a:r>
              <a:rPr lang="ru-RU" dirty="0"/>
              <a:t>обеспечения права детей на отдых и оздоровление, а также охраны их жизни и </a:t>
            </a:r>
            <a:r>
              <a:rPr lang="ru-RU" dirty="0" smtClean="0"/>
              <a:t> здоровья</a:t>
            </a:r>
            <a:r>
              <a:rPr lang="ru-RU" dirty="0"/>
              <a:t>», </a:t>
            </a:r>
            <a:r>
              <a:rPr lang="ru-RU" dirty="0" smtClean="0"/>
              <a:t>в соответствии </a:t>
            </a:r>
            <a:r>
              <a:rPr lang="ru-RU" dirty="0"/>
              <a:t>с которым Правительством Российской Федерации </a:t>
            </a:r>
            <a:r>
              <a:rPr lang="ru-RU" dirty="0" smtClean="0"/>
              <a:t> определен </a:t>
            </a:r>
            <a:r>
              <a:rPr lang="ru-RU" dirty="0"/>
              <a:t>федеральный орган исполнительной власти в сфере организации отдыха и </a:t>
            </a:r>
          </a:p>
          <a:p>
            <a:pPr marL="0" indent="0">
              <a:buNone/>
            </a:pPr>
            <a:r>
              <a:rPr lang="ru-RU" dirty="0"/>
              <a:t>оздоровления детей – </a:t>
            </a:r>
            <a:r>
              <a:rPr lang="ru-RU" dirty="0" err="1"/>
              <a:t>Минпросвещения</a:t>
            </a:r>
            <a:r>
              <a:rPr lang="ru-RU" dirty="0"/>
              <a:t> России</a:t>
            </a:r>
            <a:r>
              <a:rPr lang="ru-RU" dirty="0" smtClean="0"/>
              <a:t>.»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348" y="1673225"/>
            <a:ext cx="3334303" cy="4718050"/>
          </a:xfrm>
        </p:spPr>
      </p:pic>
    </p:spTree>
    <p:extLst>
      <p:ext uri="{BB962C8B-B14F-4D97-AF65-F5344CB8AC3E}">
        <p14:creationId xmlns:p14="http://schemas.microsoft.com/office/powerpoint/2010/main" val="120650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ДАННЫЙ ВОПРОС РЕШАЕТ УПОЛНОМОЧЕННЫЙ ОРГАН В РЕГИОНЕ!!!</a:t>
            </a:r>
          </a:p>
          <a:p>
            <a:pPr marL="0" indent="0" algn="ctr">
              <a:buNone/>
            </a:pPr>
            <a:endParaRPr lang="ru-RU" sz="40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sz="4000" b="1" dirty="0" smtClean="0">
                <a:solidFill>
                  <a:srgbClr val="FF0000"/>
                </a:solidFill>
              </a:rPr>
              <a:t>Признак ПРЕДМЕТ ДОГОВОРА!!!!</a:t>
            </a:r>
          </a:p>
          <a:p>
            <a:pPr marL="0" indent="0" algn="ctr">
              <a:buNone/>
            </a:pPr>
            <a:r>
              <a:rPr lang="en-US" sz="4000" dirty="0" err="1"/>
              <a:t>Письма</a:t>
            </a:r>
            <a:r>
              <a:rPr lang="en-US" sz="4000" dirty="0"/>
              <a:t> </a:t>
            </a:r>
            <a:r>
              <a:rPr lang="en-US" sz="4000" dirty="0" err="1"/>
              <a:t>Министерства</a:t>
            </a:r>
            <a:r>
              <a:rPr lang="en-US" sz="4000" dirty="0"/>
              <a:t> </a:t>
            </a:r>
            <a:r>
              <a:rPr lang="en-US" sz="4000" dirty="0" err="1"/>
              <a:t>просвещения</a:t>
            </a:r>
            <a:r>
              <a:rPr lang="en-US" sz="4000" dirty="0"/>
              <a:t> </a:t>
            </a:r>
            <a:r>
              <a:rPr lang="en-US" sz="4000" dirty="0" err="1"/>
              <a:t>Российской</a:t>
            </a:r>
            <a:r>
              <a:rPr lang="en-US" sz="4000" dirty="0"/>
              <a:t> </a:t>
            </a:r>
            <a:r>
              <a:rPr lang="en-US" sz="4000" dirty="0" err="1"/>
              <a:t>Федерации</a:t>
            </a:r>
            <a:r>
              <a:rPr lang="en-US" sz="4000" dirty="0"/>
              <a:t> </a:t>
            </a:r>
            <a:r>
              <a:rPr lang="en-US" sz="4000" dirty="0" err="1"/>
              <a:t>от</a:t>
            </a:r>
            <a:r>
              <a:rPr lang="en-US" sz="4000" dirty="0"/>
              <a:t> 25.11.2019 </a:t>
            </a:r>
            <a:r>
              <a:rPr lang="en-US" sz="4000" dirty="0" err="1"/>
              <a:t>года</a:t>
            </a:r>
            <a:r>
              <a:rPr lang="en-US" sz="4000" dirty="0"/>
              <a:t> № Пз-1303/06 </a:t>
            </a:r>
            <a:endParaRPr lang="ru-RU" sz="4000" dirty="0" smtClean="0"/>
          </a:p>
          <a:p>
            <a:pPr marL="0" indent="0" algn="ctr">
              <a:buNone/>
            </a:pPr>
            <a:r>
              <a:rPr lang="en-US" sz="4000" dirty="0" smtClean="0"/>
              <a:t>"</a:t>
            </a:r>
            <a:r>
              <a:rPr lang="en-US" sz="4000" dirty="0"/>
              <a:t>О </a:t>
            </a:r>
            <a:r>
              <a:rPr lang="en-US" sz="4000" dirty="0" err="1"/>
              <a:t>направлении</a:t>
            </a:r>
            <a:r>
              <a:rPr lang="en-US" sz="4000" dirty="0"/>
              <a:t> </a:t>
            </a:r>
            <a:r>
              <a:rPr lang="en-US" sz="4000" dirty="0" err="1"/>
              <a:t>методических</a:t>
            </a:r>
            <a:r>
              <a:rPr lang="en-US" sz="4000" dirty="0"/>
              <a:t> </a:t>
            </a:r>
            <a:r>
              <a:rPr lang="en-US" sz="4000" dirty="0" err="1"/>
              <a:t>рекомендаций</a:t>
            </a:r>
            <a:r>
              <a:rPr lang="en-US" sz="4000" dirty="0"/>
              <a:t>" 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67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Какие профильные НПА существуют?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b="1" dirty="0"/>
              <a:t>Федеральный закон от 29 декабря 2012 г. N 273-ФЗ</a:t>
            </a:r>
          </a:p>
          <a:p>
            <a:pPr marL="0" indent="0" algn="just">
              <a:buNone/>
            </a:pPr>
            <a:r>
              <a:rPr lang="ru-RU" b="1" dirty="0"/>
              <a:t>"Об образовании в Российской </a:t>
            </a:r>
            <a:r>
              <a:rPr lang="ru-RU" b="1" dirty="0" smtClean="0"/>
              <a:t>Федерации«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b="1" dirty="0"/>
              <a:t>Федеральный закон от 24 ноября 1996 г. N 132-ФЗ</a:t>
            </a:r>
            <a:r>
              <a:rPr lang="ru-RU" b="1" dirty="0"/>
              <a:t/>
            </a:r>
            <a:br>
              <a:rPr lang="ru-RU" b="1" dirty="0"/>
            </a:br>
            <a:r>
              <a:rPr lang="ru-RU" b="1" dirty="0"/>
              <a:t>"Об основах туристской деятельности в Российской </a:t>
            </a:r>
            <a:r>
              <a:rPr lang="ru-RU" b="1" dirty="0" smtClean="0"/>
              <a:t>Федерации«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b="1" dirty="0"/>
              <a:t>Приказ Министерства просвещения РФ и Министерства экономического развития РФ от 19 декабря 2019 г. N </a:t>
            </a:r>
            <a:r>
              <a:rPr lang="ru-RU" b="1" dirty="0" smtClean="0"/>
              <a:t>702/811</a:t>
            </a:r>
          </a:p>
          <a:p>
            <a:pPr marL="0" indent="0" algn="just">
              <a:buNone/>
            </a:pPr>
            <a:endParaRPr lang="ru-RU" b="1" dirty="0"/>
          </a:p>
          <a:p>
            <a:pPr marL="0" indent="0" algn="ctr">
              <a:buNone/>
            </a:pPr>
            <a:r>
              <a:rPr lang="ru-RU" sz="3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ПРОФИЛЬНОГО ЗАКОНА </a:t>
            </a:r>
          </a:p>
          <a:p>
            <a:pPr marL="0" indent="0" algn="ctr">
              <a:buNone/>
            </a:pPr>
            <a:r>
              <a:rPr lang="ru-RU" sz="3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ДЕТСКОМ ОТДЫХЕ НЕТ!!!</a:t>
            </a:r>
            <a:r>
              <a:rPr lang="ru-RU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6795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Письмо</a:t>
            </a:r>
            <a:r>
              <a:rPr lang="ru-RU" sz="2800" dirty="0"/>
              <a:t> Министерства просвещения РФ </a:t>
            </a:r>
          </a:p>
          <a:p>
            <a:pPr marL="0" indent="0" algn="ctr">
              <a:buNone/>
            </a:pPr>
            <a:r>
              <a:rPr lang="ru-RU" sz="2800" dirty="0"/>
              <a:t>от 1 марта 2021 г. N ДГ-409/06</a:t>
            </a:r>
            <a:br>
              <a:rPr lang="ru-RU" sz="2800" dirty="0"/>
            </a:br>
            <a:r>
              <a:rPr lang="ru-RU" sz="2800" dirty="0"/>
              <a:t>"О перечне нормативных правовых актов в сфере организации отдыха и оздоровления детей"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67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 smtClean="0"/>
              <a:t>Очень значимые изменения Законодательства РФ в сентябре, марте 2021-2023 годов 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4400" dirty="0" smtClean="0"/>
          </a:p>
          <a:p>
            <a:pPr marL="0" indent="0" algn="ctr">
              <a:buNone/>
            </a:pPr>
            <a:r>
              <a:rPr lang="ru-RU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ПОЧЕМУ СЕНТЯБРЬ И МАРТ???</a:t>
            </a:r>
            <a:endParaRPr lang="ru-RU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040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С 2021 года действует правило, согласно которому любые новые обязательные требования, связанные с экономической деятельностью, и соблюдение которых проверяется в рамках госконтроля,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должны вступать в силу либо с 1 марта, либо с 1 сентября. </a:t>
            </a:r>
            <a:r>
              <a:rPr lang="ru-RU" dirty="0"/>
              <a:t>Таким образом, именно к этим датам приурочено вступление в силу наиболее значимых нормативных актов.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801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ВАЖНЫЕ ИЗМЕНЕНИЯ!!!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СП 2.4.3648-20 «Санитарно-эпидемиологические требования к организациям воспитания и обучения, отдыха и оздоровления детей и молодежи».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 СанПиН 2.3/2.4.3590-20 «Санитарно-эпидемиологические требования к организации общественного питания населения».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 СанПиН 1.2.3685-21 «Гигиенические нормативы и требования к обеспечению безопасности и (или) безвредности для человека факторов среды обитания</a:t>
            </a:r>
            <a:r>
              <a:rPr lang="ru-RU" dirty="0" smtClean="0"/>
              <a:t>».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Санитарные правила и нормы СанПиН 3.3686-21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"Санитарно-эпидемиологические требования по профилактике инфекционных болезней"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036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000" dirty="0"/>
              <a:t>Постановление Правительства РФ от 16 сентября 2020 г. N </a:t>
            </a:r>
            <a:r>
              <a:rPr lang="ru-RU" sz="2000" dirty="0" smtClean="0"/>
              <a:t>1479 «Об </a:t>
            </a:r>
            <a:r>
              <a:rPr lang="ru-RU" sz="2000" dirty="0"/>
              <a:t>утверждении Правил противопожарного режима в Российской </a:t>
            </a:r>
            <a:r>
              <a:rPr lang="ru-RU" sz="2000" dirty="0" smtClean="0"/>
              <a:t>Федерации».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2000" dirty="0"/>
              <a:t>Приказ МЧС России от 5 сентября 2021 г. N 596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«Об </a:t>
            </a:r>
            <a:r>
              <a:rPr lang="ru-RU" sz="2000" dirty="0"/>
              <a:t>утверждении типовых дополнительных профессиональных программ в области пожарной </a:t>
            </a:r>
            <a:r>
              <a:rPr lang="ru-RU" sz="2000" dirty="0" smtClean="0"/>
              <a:t>безопасности»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2000" dirty="0"/>
              <a:t>Приказ МЧС России от 18 ноября 2021 г. N 806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 smtClean="0"/>
              <a:t>«Об </a:t>
            </a:r>
            <a:r>
              <a:rPr lang="ru-RU" sz="2000" dirty="0"/>
              <a:t>определении Порядка, видов, сроков обучения лиц, осуществляющих трудовую или служебную деятельность в организациях, по программам противопожарного инструктажа, требований к содержанию указанных программ и категорий лиц, проходящих обучение по дополнительным профессиональным программам в области пожарной </a:t>
            </a:r>
            <a:r>
              <a:rPr lang="ru-RU" sz="2000" dirty="0" smtClean="0"/>
              <a:t>безопасности»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2000" dirty="0"/>
              <a:t>Постановление Правительства РФ от 7 октября 2020 г. N 1614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"Об утверждении Правил пожарной безопасности в </a:t>
            </a:r>
            <a:r>
              <a:rPr lang="ru-RU" sz="2000" dirty="0" smtClean="0"/>
              <a:t>лесах»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2000" dirty="0"/>
              <a:t>Постановление Правительства РФ от 14 мая 2021 г. N 732</a:t>
            </a:r>
          </a:p>
          <a:p>
            <a:pPr marL="0" indent="0" algn="just">
              <a:buNone/>
            </a:pPr>
            <a:r>
              <a:rPr lang="ru-RU" sz="2000" dirty="0"/>
              <a:t>"Об утверждении требований к антитеррористической защищенности объектов (территорий), предназначенных для организации отдыха детей и их оздоровления, и формы паспорта безопасности объектов (территорий) стационарного типа, предназначенных для организации отдыха детей и их оздоровления"</a:t>
            </a:r>
            <a:endParaRPr lang="ru-RU" sz="2000" dirty="0" smtClean="0"/>
          </a:p>
          <a:p>
            <a:pPr marL="0" indent="0" algn="just">
              <a:buNone/>
            </a:pPr>
            <a:endParaRPr lang="ru-RU" sz="2000" dirty="0"/>
          </a:p>
          <a:p>
            <a:pPr marL="0" indent="0" algn="just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9090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3200" dirty="0" smtClean="0"/>
          </a:p>
          <a:p>
            <a:pPr marL="0" indent="0" algn="ctr">
              <a:buNone/>
            </a:pPr>
            <a:r>
              <a:rPr lang="ru-RU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ПРАКТИКА СЛОЖИЛАСЬ!!!</a:t>
            </a:r>
          </a:p>
          <a:p>
            <a:pPr marL="0" indent="0" algn="ctr">
              <a:buNone/>
            </a:pPr>
            <a:r>
              <a:rPr lang="ru-RU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ПРОАНАЛИЗИРУЕМ РЕЗУЛЬТАТЫ КНД ЗА 2021 – 2022 годы!!!</a:t>
            </a:r>
            <a:endParaRPr lang="ru-RU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1015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Роспатребнадзор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Производственный контроль по принципам ХАССП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Уведомление РПН о проведении периодического медицинского осмотра сотрудников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Уведомление РПН о внештатной ситуации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Уведомление РПН о проведении мероприятия (осенние, зимние смены).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Работа с медицинскими отходами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Договор оказания услуг !!!!!! Новые требования!!!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Федеральный </a:t>
            </a:r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закон </a:t>
            </a:r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от 01.05.2022 № 135-ФЗ</a:t>
            </a:r>
            <a:endParaRPr lang="ru-RU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ru-RU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2683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>
                <a:hlinkClick r:id="rId2"/>
              </a:rPr>
              <a:t>Статья 16 Закона РФ</a:t>
            </a:r>
            <a:r>
              <a:rPr lang="ru-RU" dirty="0"/>
              <a:t> от 07.02.1992 № 2300-I "О защите прав потребителей" устанавливает правило, согласно которому условия договора, ущемляющие права потребителя по сравнению с правилами, установленными законодательством, признаются недействительными. С 1 сентября 2022 года в эту статью внесены изменения.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2845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Какие </a:t>
            </a:r>
            <a:r>
              <a:rPr lang="ru-RU" dirty="0"/>
              <a:t>условия договора считаться недопустимыми?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условия, которые предоставляют продавцу (изготовителю, исполнителю, уполномоченной организации или уполномоченному ИП, импортеру, владельцу </a:t>
            </a:r>
            <a:r>
              <a:rPr lang="ru-RU" dirty="0" err="1"/>
              <a:t>агрегатора</a:t>
            </a:r>
            <a:r>
              <a:rPr lang="ru-RU" dirty="0"/>
              <a:t>) право на односторонний отказ от исполнения обязательства или одностороннее изменение условий обязательства (предмета, цены, срока и иных согласованных с потребителем условий), за исключением случаев, если это право предоставлено законом или иным нормативным правовым актом;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условия, которые ограничивают право потребителя на свободный выбор территориальной подсудности споров, предусмотренный </a:t>
            </a:r>
            <a:r>
              <a:rPr lang="ru-RU" dirty="0">
                <a:hlinkClick r:id="rId2"/>
              </a:rPr>
              <a:t>п. 2 ст. 17 Закона</a:t>
            </a:r>
            <a:r>
              <a:rPr lang="ru-RU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условия, которые устанавливают для потребителя штрафные санкции или иные обязанности, препятствующие свободной реализации права на отказ от исполнения договора о выполнении работ (оказании услуг), установленного </a:t>
            </a:r>
            <a:r>
              <a:rPr lang="ru-RU" dirty="0">
                <a:hlinkClick r:id="rId3"/>
              </a:rPr>
              <a:t>ст. 32 Закона</a:t>
            </a:r>
            <a:r>
              <a:rPr lang="ru-RU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условия, которые обусловливают приобретение одних товаров (работ, услуг) обязательным приобретением иных товаров (работ, услуг), в том числе предусматривают обязательное заключение иных договоров, если иное не предусмотрено законом;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9279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условия, которые предусматривают выполнение дополнительных работ (оказание дополнительных услуг) за плату без получения согласия потребителя;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условия, которые ограничивают установленное ст. 16.1 Закона право потребителя на выбор способа и формы оплаты товаров (работ, услуг);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условия, которые содержат основания досрочного расторжения договора по требованию продавца (исполнителя, владельца </a:t>
            </a:r>
            <a:r>
              <a:rPr lang="ru-RU" dirty="0" err="1"/>
              <a:t>агрегатора</a:t>
            </a:r>
            <a:r>
              <a:rPr lang="ru-RU" dirty="0"/>
              <a:t>), не предусмотренные законом или иным нормативным правовым актом РФ;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830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Пожарный надзор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Эвакуационные выходы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Проведение тренировки с детьми и сотрудниками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Регламент проведения работ по АПС</a:t>
            </a:r>
          </a:p>
          <a:p>
            <a:pPr marL="0" indent="0" algn="ctr">
              <a:buNone/>
            </a:pPr>
            <a:r>
              <a:rPr lang="ru-RU" sz="3200" dirty="0">
                <a:solidFill>
                  <a:srgbClr val="FF0000"/>
                </a:solidFill>
              </a:rPr>
              <a:t>!!!!!! ИНСТРУКТАЖИ И ПРОГРАММЫ </a:t>
            </a:r>
            <a:r>
              <a:rPr lang="ru-RU" sz="3200" dirty="0" smtClean="0">
                <a:solidFill>
                  <a:srgbClr val="FF0000"/>
                </a:solidFill>
              </a:rPr>
              <a:t>ИНСТРУКТАЖЕЙ</a:t>
            </a:r>
          </a:p>
          <a:p>
            <a:pPr marL="0" indent="0" algn="ctr">
              <a:buNone/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Постановление Правительства Российской </a:t>
            </a:r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Федерации</a:t>
            </a:r>
          </a:p>
          <a:p>
            <a:pPr marL="0" indent="0" algn="ctr">
              <a:buNone/>
            </a:pPr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 24 октября 2022 г. № 1885 “О внесении изменений в Правила противопожарного режима в Российской Федерации”.</a:t>
            </a:r>
          </a:p>
          <a:p>
            <a:pPr marL="0" indent="0" algn="ctr">
              <a:buNone/>
            </a:pPr>
            <a:endParaRPr lang="ru-RU" sz="32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115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Очень важно!!!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Постановление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вступает в силу </a:t>
            </a:r>
          </a:p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1 марта 2023 г., </a:t>
            </a:r>
          </a:p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!!! За исключением п.29 изменений, который вступает в силу с 1 марта 2024 г.</a:t>
            </a:r>
            <a:endParaRPr lang="ru-RU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7854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Главные нормативные документы, регулирующие пожарную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безопасность</a:t>
            </a:r>
          </a:p>
          <a:p>
            <a:pPr fontAlgn="t"/>
            <a:r>
              <a:rPr lang="ru-RU" b="1" dirty="0"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Постановление Правительства </a:t>
            </a:r>
            <a:r>
              <a:rPr lang="ru-RU" dirty="0"/>
              <a:t> </a:t>
            </a:r>
            <a:r>
              <a:rPr lang="ru-RU" b="1" dirty="0" smtClean="0"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от </a:t>
            </a:r>
            <a:r>
              <a:rPr lang="ru-RU" b="1" dirty="0"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16.09.2020 № 1479</a:t>
            </a:r>
            <a:endParaRPr lang="ru-RU" dirty="0"/>
          </a:p>
          <a:p>
            <a:pPr fontAlgn="t"/>
            <a:r>
              <a:rPr lang="ru-RU" b="1" dirty="0"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Приказ МЧС от 05.09.2021 № 596</a:t>
            </a:r>
            <a:endParaRPr lang="ru-RU" dirty="0"/>
          </a:p>
          <a:p>
            <a:pPr fontAlgn="t"/>
            <a:r>
              <a:rPr lang="ru-RU" b="1" dirty="0"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Приказ МЧС от 18.11.2021 № 806 </a:t>
            </a:r>
            <a:endParaRPr lang="ru-RU" dirty="0"/>
          </a:p>
          <a:p>
            <a:pPr fontAlgn="t"/>
            <a:r>
              <a:rPr lang="ru-RU" b="1" dirty="0">
                <a:solidFill>
                  <a:srgbClr val="FF0000"/>
                </a:solidFill>
              </a:rPr>
              <a:t>Федеральный закон от 22.07.2008 № 123-ФЗ </a:t>
            </a:r>
            <a:endParaRPr lang="ru-RU" b="1" dirty="0" smtClean="0">
              <a:solidFill>
                <a:srgbClr val="FF0000"/>
              </a:solidFill>
            </a:endParaRPr>
          </a:p>
          <a:p>
            <a:pPr marL="0" indent="0" algn="ctr" fontAlgn="t">
              <a:buNone/>
            </a:pPr>
            <a:r>
              <a:rPr lang="ru-RU" dirty="0">
                <a:hlinkClick r:id="rId2"/>
              </a:rPr>
              <a:t>Распоряжение МЧС России от 15 ноября 2022 г. N 1210 "Об утверждении официальных разъяснений обязательных требований, установленных приказом МЧС России от 18.11.2021 N 806"</a:t>
            </a:r>
            <a:endParaRPr lang="ru-RU" b="1" dirty="0"/>
          </a:p>
          <a:p>
            <a:pPr marL="0" indent="0" algn="ctr" fontAlgn="t">
              <a:buNone/>
            </a:pPr>
            <a:endParaRPr lang="ru-RU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u-RU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7642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Антитеррор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Личный транспорт на территории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Отсутствие графика обхода территории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Отсутствие осмотра территории на посторонние предметы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Нет утвержденного регламента пропускного режима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Занятия с детьми и сотрудниками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dirty="0"/>
              <a:t>Отсутствие алгоритма </a:t>
            </a:r>
            <a:r>
              <a:rPr lang="ru-RU" dirty="0" smtClean="0"/>
              <a:t>действий</a:t>
            </a:r>
          </a:p>
          <a:p>
            <a:pPr marL="0" indent="0" algn="ctr">
              <a:buNone/>
            </a:pP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ПАСПОРТ БЕЗОПАСНОСТИ НЕ ПОКАЗЫВАТЬ!!!! НЕ КОПИРОВАТЬ!!!!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4821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Постановление Правительства РФ от 14 мая 2021 г. N 732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"Об утверждении требований к антитеррористической защищенности объектов (территорий), предназначенных для организации отдыха детей и их оздоровления, и формы паспорта безопасности объектов (территорий) стационарного типа, предназначенных для организации отдыха детей и их оздоровления"</a:t>
            </a: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ru-RU" dirty="0" smtClean="0"/>
              <a:t>39</a:t>
            </a:r>
            <a:r>
              <a:rPr lang="ru-RU" dirty="0"/>
              <a:t>. Паспорт безопасности объекта (территории) стационарного типа не подлежит опубликованию</a:t>
            </a:r>
            <a:r>
              <a:rPr lang="ru-RU" dirty="0" smtClean="0"/>
              <a:t>.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40. Паспорт безопасности объекта (территории) стационарного типа составляется в одном экземпляре, который хранится на объекте (территории) стационарного типа</a:t>
            </a:r>
            <a:r>
              <a:rPr lang="ru-RU" dirty="0" smtClean="0"/>
              <a:t>.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Электронная копия паспорта безопасности объекта (территории) стационарного типа направляется в орган исполнительной власти субъекта Российской Федерации в сфере организации отдыха и оздоровления детей и территориальный орган безопасности по месту нахождения объекта (территории) стационарного типа.</a:t>
            </a:r>
          </a:p>
        </p:txBody>
      </p:sp>
    </p:spTree>
    <p:extLst>
      <p:ext uri="{BB962C8B-B14F-4D97-AF65-F5344CB8AC3E}">
        <p14:creationId xmlns:p14="http://schemas.microsoft.com/office/powerpoint/2010/main" val="736766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Лагерь палаточного типа!!!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Письмо Министерства образования и науки РФ </a:t>
            </a: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 июня 2018 г. N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09-826 </a:t>
            </a: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"О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направлении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инструкции»</a:t>
            </a:r>
          </a:p>
          <a:p>
            <a:pPr marL="0" indent="0" algn="ctr">
              <a:buNone/>
            </a:pPr>
            <a:endParaRPr lang="ru-RU" sz="2000" dirty="0" smtClean="0"/>
          </a:p>
          <a:p>
            <a:pPr marL="0" indent="0" algn="ctr">
              <a:buNone/>
            </a:pPr>
            <a:r>
              <a:rPr lang="ru-RU" dirty="0" smtClean="0"/>
              <a:t>Инструкция по </a:t>
            </a:r>
            <a:r>
              <a:rPr lang="ru-RU" dirty="0"/>
              <a:t>обеспечению антитеррористической защищенности 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организаций </a:t>
            </a:r>
            <a:r>
              <a:rPr lang="ru-RU" dirty="0"/>
              <a:t>отдыха детей и их оздоровления палаточного типа и мест проведения массовых мероприятий с детьми в природной среде</a:t>
            </a: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ru-RU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7312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b="1" dirty="0"/>
              <a:t>Может ли детский лагерь обеспечить охрану объекта и пропускной режим силами штатных сотрудников (сторож, вахтер)?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Детский лагерь может обеспечить охрану объекта и пропускной режим силами штатных сотрудников (сторож, вахтер).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3712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1800" dirty="0"/>
              <a:t>Охранное предприятие согласно договору осуществляет охрану детского оздоровительного лагеря. Обязаны ли охранники, осуществляющие охрану этого объекта, иметь личную медицинскую или санитарную книжку?</a:t>
            </a:r>
            <a:endParaRPr lang="ru-RU" sz="1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	В </a:t>
            </a:r>
            <a:r>
              <a:rPr lang="ru-RU" dirty="0"/>
              <a:t>соответствии с </a:t>
            </a:r>
            <a:r>
              <a:rPr lang="ru-RU" dirty="0" err="1">
                <a:hlinkClick r:id="rId2"/>
              </a:rPr>
              <a:t>пп</a:t>
            </a:r>
            <a:r>
              <a:rPr lang="ru-RU" dirty="0">
                <a:hlinkClick r:id="rId2"/>
              </a:rPr>
              <a:t>. 1.1</a:t>
            </a:r>
            <a:r>
              <a:rPr lang="ru-RU" dirty="0"/>
              <a:t>, </a:t>
            </a:r>
            <a:r>
              <a:rPr lang="ru-RU" dirty="0" err="1">
                <a:hlinkClick r:id="rId3"/>
              </a:rPr>
              <a:t>пп</a:t>
            </a:r>
            <a:r>
              <a:rPr lang="ru-RU" dirty="0">
                <a:hlinkClick r:id="rId3"/>
              </a:rPr>
              <a:t>. 1.3 п. 1</a:t>
            </a:r>
            <a:r>
              <a:rPr lang="ru-RU" dirty="0"/>
              <a:t>, </a:t>
            </a:r>
            <a:r>
              <a:rPr lang="ru-RU" dirty="0">
                <a:hlinkClick r:id="rId4"/>
              </a:rPr>
              <a:t>п. 3</a:t>
            </a:r>
            <a:r>
              <a:rPr lang="ru-RU" dirty="0"/>
              <a:t> приказа </a:t>
            </a:r>
            <a:r>
              <a:rPr lang="ru-RU" dirty="0" err="1"/>
              <a:t>Роспотребнадзора</a:t>
            </a:r>
            <a:r>
              <a:rPr lang="ru-RU" dirty="0"/>
              <a:t> от 20.05.2005 N 402 "О личной медицинской книжке и санитарном паспорте" личные медицинские книжки оформляются на бланках, являющихся защищенной полиграфической продукцией, и выдаются центрами гигиены и эпидемиологии работникам отдельных профессий, производств и организаций, деятельность которых связана с производством, хранением, транспортировкой и реализацией пищевых продуктов и питьевой воды, воспитанием и обучением детей, коммунальным и бытовым обслуживанием населения. По нашему мнению, это означает, что медицинская книжка утвержденной данным нормативным актом формы выдается лишь тем работникам, чья трудовая функция непосредственно связана с поименованными в указанном пункте видами деятельности. Аналогичное толкование данного положения встречается и в судебной практике (смотрите, например, </a:t>
            </a:r>
            <a:r>
              <a:rPr lang="ru-RU" dirty="0">
                <a:hlinkClick r:id="rId5"/>
              </a:rPr>
              <a:t>решение</a:t>
            </a:r>
            <a:r>
              <a:rPr lang="ru-RU" dirty="0"/>
              <a:t> Ростовского областного суда от 29.07.2011 N 11-357). Найденные нами примеры из судебной практики свидетельствует о том, что претензии со стороны контролирующих органов возникают именно в тех ситуациях, когда медицинские книжки отсутствуют у работников, непосредственно участвующих в соответствующих работах, которые обязаны проходить медицинские осмотры, данные о которых вносятся в медицинскую книжку (смотрите </a:t>
            </a:r>
            <a:r>
              <a:rPr lang="ru-RU" dirty="0">
                <a:hlinkClick r:id="rId6"/>
              </a:rPr>
              <a:t>решение</a:t>
            </a:r>
            <a:r>
              <a:rPr lang="ru-RU" dirty="0"/>
              <a:t> АС Ростовской области от 30.04.2014 по делу N А53-520/2014, </a:t>
            </a:r>
            <a:r>
              <a:rPr lang="ru-RU" dirty="0">
                <a:hlinkClick r:id="rId7"/>
              </a:rPr>
              <a:t>решение</a:t>
            </a:r>
            <a:r>
              <a:rPr lang="ru-RU" dirty="0"/>
              <a:t> АС Республики Дагестан от 23.04.2018 по делу N А15-7109/2017, </a:t>
            </a:r>
            <a:r>
              <a:rPr lang="ru-RU" dirty="0">
                <a:hlinkClick r:id="rId8"/>
              </a:rPr>
              <a:t>решение</a:t>
            </a:r>
            <a:r>
              <a:rPr lang="ru-RU" dirty="0"/>
              <a:t> АС Псковской области от 12.07.2016 по делу N А52-1481/2016 и т.д.)</a:t>
            </a:r>
            <a:r>
              <a:rPr lang="ru-RU" dirty="0">
                <a:hlinkClick r:id="rId9"/>
              </a:rPr>
              <a:t>*(1)</a:t>
            </a:r>
            <a:r>
              <a:rPr lang="ru-RU" dirty="0"/>
              <a:t>. Согласно </a:t>
            </a:r>
            <a:r>
              <a:rPr lang="ru-RU" dirty="0">
                <a:hlinkClick r:id="rId10"/>
              </a:rPr>
              <a:t>п. 1.2</a:t>
            </a:r>
            <a:r>
              <a:rPr lang="ru-RU" dirty="0"/>
              <a:t> приказа N 402 санитарные паспорта выдаются на специально предназначенные или специально оборудованные транспортные средства для перевозки пищевых продуктов.</a:t>
            </a:r>
          </a:p>
          <a:p>
            <a:pPr marL="0" indent="0" algn="just">
              <a:buNone/>
            </a:pPr>
            <a:r>
              <a:rPr lang="ru-RU" dirty="0" smtClean="0"/>
              <a:t>	Поскольку </a:t>
            </a:r>
            <a:r>
              <a:rPr lang="ru-RU" dirty="0"/>
              <a:t>охранники не выполняют перечисленные в </a:t>
            </a:r>
            <a:r>
              <a:rPr lang="ru-RU" dirty="0">
                <a:hlinkClick r:id="rId11"/>
              </a:rPr>
              <a:t>приказе</a:t>
            </a:r>
            <a:r>
              <a:rPr lang="ru-RU" dirty="0"/>
              <a:t> N 402 работы (их деятельность не связана ни с обучением и воспитанием детей, ни с иными перечисленными видами работ), а также не занимаются перевозками пищевых продуктов, ни наличие у них личных медицинских книжек, ни оформление санитарных паспортов на используемые ими в служебной деятельности транспортные средства не является обязательным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5321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Прокуратура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Информационная безопасность</a:t>
            </a:r>
          </a:p>
          <a:p>
            <a:r>
              <a:rPr lang="ru-RU" dirty="0"/>
              <a:t>Расследование несчастных случаев с детьми</a:t>
            </a:r>
          </a:p>
          <a:p>
            <a:r>
              <a:rPr lang="ru-RU" dirty="0"/>
              <a:t>Защита персональных данных</a:t>
            </a:r>
          </a:p>
          <a:p>
            <a:r>
              <a:rPr lang="ru-RU" dirty="0"/>
              <a:t>Комплексные мероприятия по безопасности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8848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Защита </a:t>
            </a:r>
            <a:r>
              <a:rPr lang="ru-RU" dirty="0"/>
              <a:t>персональных данных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ОЧЕНЬ ЗНАЧИМЫЕ ИЗМЕНЕНИЯ В ЗАКОНЕ О ПЕРСОНАЛЬНВЫХ ДАННЫХ!!!!</a:t>
            </a:r>
          </a:p>
          <a:p>
            <a:pPr marL="0" indent="0" algn="ctr">
              <a:buNone/>
            </a:pPr>
            <a:endParaRPr lang="ru-RU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sz="4000" b="1" dirty="0" smtClean="0">
                <a:solidFill>
                  <a:srgbClr val="FF0000"/>
                </a:solidFill>
              </a:rPr>
              <a:t>1 сентября 2022 года</a:t>
            </a:r>
          </a:p>
          <a:p>
            <a:pPr marL="0" indent="0" algn="ctr">
              <a:buNone/>
            </a:pPr>
            <a:r>
              <a:rPr lang="ru-RU" sz="4000" b="1" dirty="0" smtClean="0">
                <a:solidFill>
                  <a:srgbClr val="FF0000"/>
                </a:solidFill>
              </a:rPr>
              <a:t>1 марта 2023 года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729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 сентября 2022 года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FF0000"/>
                </a:solidFill>
              </a:rPr>
              <a:t>договор, стороной которого </a:t>
            </a:r>
            <a:r>
              <a:rPr lang="ru-RU" b="1" dirty="0" smtClean="0">
                <a:solidFill>
                  <a:srgbClr val="FF0000"/>
                </a:solidFill>
              </a:rPr>
              <a:t>является </a:t>
            </a:r>
            <a:r>
              <a:rPr lang="ru-RU" b="1" dirty="0">
                <a:solidFill>
                  <a:srgbClr val="FF0000"/>
                </a:solidFill>
              </a:rPr>
              <a:t>субъект </a:t>
            </a:r>
            <a:r>
              <a:rPr lang="ru-RU" b="1" dirty="0" smtClean="0">
                <a:solidFill>
                  <a:srgbClr val="FF0000"/>
                </a:solidFill>
              </a:rPr>
              <a:t>ПД</a:t>
            </a:r>
          </a:p>
          <a:p>
            <a:pPr marL="0" indent="0">
              <a:buNone/>
            </a:pPr>
            <a:r>
              <a:rPr lang="ru-RU" b="1" dirty="0" smtClean="0"/>
              <a:t>(есть особые требования!!!!</a:t>
            </a:r>
            <a:r>
              <a:rPr lang="ru-RU" dirty="0">
                <a:hlinkClick r:id="rId2"/>
              </a:rPr>
              <a:t> п. 5 ч. 1 ст. 6</a:t>
            </a:r>
            <a:r>
              <a:rPr lang="ru-RU" dirty="0"/>
              <a:t> Закона о ПД в новой </a:t>
            </a:r>
            <a:r>
              <a:rPr lang="ru-RU" dirty="0" err="1"/>
              <a:t>ред</a:t>
            </a:r>
            <a:r>
              <a:rPr lang="ru-RU" b="1" dirty="0" smtClean="0"/>
              <a:t>)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b="1" dirty="0"/>
              <a:t> </a:t>
            </a:r>
            <a:r>
              <a:rPr lang="ru-RU" b="1" dirty="0">
                <a:solidFill>
                  <a:srgbClr val="FF0000"/>
                </a:solidFill>
              </a:rPr>
              <a:t>согласие на обработку </a:t>
            </a:r>
            <a:r>
              <a:rPr lang="ru-RU" b="1" dirty="0" smtClean="0">
                <a:solidFill>
                  <a:srgbClr val="FF0000"/>
                </a:solidFill>
              </a:rPr>
              <a:t>ПД </a:t>
            </a:r>
          </a:p>
          <a:p>
            <a:pPr marL="0" indent="0" algn="just">
              <a:buNone/>
            </a:pPr>
            <a:r>
              <a:rPr lang="ru-RU" b="1" dirty="0" smtClean="0"/>
              <a:t>(</a:t>
            </a:r>
            <a:r>
              <a:rPr lang="ru-RU" dirty="0"/>
              <a:t>Теперь оно должно быть еще и предметным, а также однозначным (</a:t>
            </a:r>
            <a:r>
              <a:rPr lang="ru-RU" dirty="0">
                <a:hlinkClick r:id="rId3"/>
              </a:rPr>
              <a:t>ч. 1 ст. 9</a:t>
            </a:r>
            <a:r>
              <a:rPr lang="ru-RU" dirty="0"/>
              <a:t> Закона о ПД в новой ред</a:t>
            </a:r>
            <a:r>
              <a:rPr lang="ru-RU" dirty="0" smtClean="0"/>
              <a:t>.).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FF0000"/>
                </a:solidFill>
              </a:rPr>
              <a:t>локальные акты по вопросам обработки </a:t>
            </a:r>
            <a:r>
              <a:rPr lang="ru-RU" b="1" dirty="0" smtClean="0">
                <a:solidFill>
                  <a:srgbClr val="FF0000"/>
                </a:solidFill>
              </a:rPr>
              <a:t>ПД</a:t>
            </a:r>
          </a:p>
          <a:p>
            <a:pPr algn="just"/>
            <a:r>
              <a:rPr lang="ru-RU" dirty="0"/>
              <a:t>в них должны определяться для каждой цели обработки ПД категории и перечень обрабатываемых ПД, категории субъектов, ПД которых обрабатываются, способы, сроки их обработки и хранения, порядок уничтожения ПД при достижении целей их обработки или при наступлении иных законных </a:t>
            </a:r>
            <a:r>
              <a:rPr lang="ru-RU" dirty="0" smtClean="0"/>
              <a:t>оснований</a:t>
            </a:r>
          </a:p>
          <a:p>
            <a:pPr algn="just"/>
            <a:r>
              <a:rPr lang="ru-RU" dirty="0"/>
              <a:t>запрещено включать в них положения, ограничивающие права субъектов ПД, а также возлагающие на операторов не предусмотренные законодательством РФ полномочия и обязанности (</a:t>
            </a:r>
            <a:r>
              <a:rPr lang="ru-RU" dirty="0">
                <a:hlinkClick r:id="rId4"/>
              </a:rPr>
              <a:t>п. 2 ч. 1 ст. 18.1</a:t>
            </a:r>
            <a:r>
              <a:rPr lang="ru-RU" dirty="0"/>
              <a:t> Закона о ПД в новой ред</a:t>
            </a:r>
            <a:r>
              <a:rPr lang="ru-RU" dirty="0" smtClean="0"/>
              <a:t>.).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FF0000"/>
                </a:solidFill>
              </a:rPr>
              <a:t>уведомление </a:t>
            </a:r>
            <a:r>
              <a:rPr lang="ru-RU" b="1" dirty="0" err="1">
                <a:solidFill>
                  <a:srgbClr val="FF0000"/>
                </a:solidFill>
              </a:rPr>
              <a:t>Роскомнадзора</a:t>
            </a:r>
            <a:r>
              <a:rPr lang="ru-RU" b="1" dirty="0">
                <a:solidFill>
                  <a:srgbClr val="FF0000"/>
                </a:solidFill>
              </a:rPr>
              <a:t> о начале обработки ПД</a:t>
            </a:r>
            <a:endParaRPr lang="ru-RU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9087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 марта 2023 года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FF0000"/>
                </a:solidFill>
              </a:rPr>
              <a:t>Подтверждение уничтожения персональных </a:t>
            </a:r>
            <a:r>
              <a:rPr lang="ru-RU" b="1" dirty="0" smtClean="0">
                <a:solidFill>
                  <a:srgbClr val="FF0000"/>
                </a:solidFill>
              </a:rPr>
              <a:t>данных.</a:t>
            </a:r>
            <a:r>
              <a:rPr lang="ru-RU" dirty="0" smtClean="0">
                <a:solidFill>
                  <a:srgbClr val="FF0000"/>
                </a:solidFill>
              </a:rPr>
              <a:t> (</a:t>
            </a:r>
            <a:r>
              <a:rPr lang="ru-RU" u="sng" dirty="0" smtClean="0">
                <a:solidFill>
                  <a:srgbClr val="FF0000"/>
                </a:solidFill>
                <a:hlinkClick r:id="rId2"/>
              </a:rPr>
              <a:t>приказе </a:t>
            </a:r>
            <a:r>
              <a:rPr lang="ru-RU" u="sng" dirty="0" err="1">
                <a:solidFill>
                  <a:srgbClr val="FF0000"/>
                </a:solidFill>
                <a:hlinkClick r:id="rId2"/>
              </a:rPr>
              <a:t>Роскомнадзора</a:t>
            </a:r>
            <a:r>
              <a:rPr lang="ru-RU" u="sng" dirty="0">
                <a:solidFill>
                  <a:srgbClr val="FF0000"/>
                </a:solidFill>
                <a:hlinkClick r:id="rId2"/>
              </a:rPr>
              <a:t> от 28 октября 2022 г. № </a:t>
            </a:r>
            <a:r>
              <a:rPr lang="ru-RU" u="sng" dirty="0" smtClean="0">
                <a:solidFill>
                  <a:srgbClr val="FF0000"/>
                </a:solidFill>
                <a:hlinkClick r:id="rId2"/>
              </a:rPr>
              <a:t>179</a:t>
            </a:r>
            <a:r>
              <a:rPr lang="ru-RU" u="sng" dirty="0" smtClean="0">
                <a:solidFill>
                  <a:srgbClr val="FF0000"/>
                </a:solidFill>
              </a:rPr>
              <a:t>)</a:t>
            </a:r>
          </a:p>
          <a:p>
            <a:pPr marL="0" indent="0" algn="just">
              <a:buNone/>
            </a:pPr>
            <a:r>
              <a:rPr lang="ru-RU" u="sng" dirty="0" smtClean="0">
                <a:solidFill>
                  <a:srgbClr val="FF0000"/>
                </a:solidFill>
              </a:rPr>
              <a:t>ВАЖНО!!!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года — срок хранения актов об уничтожении персональных данных и выгрузки из </a:t>
            </a:r>
            <a:r>
              <a:rPr lang="ru-RU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журнала</a:t>
            </a:r>
            <a:endParaRPr lang="ru-RU" u="sng" dirty="0" smtClean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FF0000"/>
                </a:solidFill>
              </a:rPr>
              <a:t>Сроки уведомления </a:t>
            </a:r>
            <a:r>
              <a:rPr lang="ru-RU" b="1" dirty="0" err="1">
                <a:solidFill>
                  <a:srgbClr val="FF0000"/>
                </a:solidFill>
              </a:rPr>
              <a:t>Роскомнадзора</a:t>
            </a:r>
            <a:r>
              <a:rPr lang="ru-RU" b="1" dirty="0">
                <a:solidFill>
                  <a:srgbClr val="FF0000"/>
                </a:solidFill>
              </a:rPr>
              <a:t> об изменении </a:t>
            </a:r>
            <a:r>
              <a:rPr lang="ru-RU" b="1" dirty="0" smtClean="0">
                <a:solidFill>
                  <a:srgbClr val="FF0000"/>
                </a:solidFill>
              </a:rPr>
              <a:t>сведений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FF0000"/>
                </a:solidFill>
              </a:rPr>
              <a:t>Оценка вреда, который может быть причинен субъектам персональных данных в случае нарушения Закона о персональных </a:t>
            </a:r>
            <a:r>
              <a:rPr lang="ru-RU" b="1" dirty="0" smtClean="0">
                <a:solidFill>
                  <a:srgbClr val="FF0000"/>
                </a:solidFill>
              </a:rPr>
              <a:t>данных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ru-RU" b="1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97877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Государственная инспекция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ВНИМАНИЕ ПРОВЕРКИ  2023 ГОДА!!!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/>
              <a:t>Нет разработанного механизма (локальный акт) индексации заработной платы в связи с ростом потребительских цен на товары и услуги ( </a:t>
            </a:r>
            <a:r>
              <a:rPr lang="ru-RU" dirty="0" err="1" smtClean="0"/>
              <a:t>ст.ст</a:t>
            </a:r>
            <a:r>
              <a:rPr lang="ru-RU" dirty="0" smtClean="0"/>
              <a:t>. 22,130,134 Трудового кодекса РФ);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Обучение и проверка знаний по охране труда ( с 1 марта 2023 новые требования);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Отсутствие в трудовом договоре ИНН РАБОТОДАТЕЛЯ (ст. 57 Трудового кодекса РФ);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Выплата заработной платы производится не в сроки указанные в ЛНПА. Не проводится индексация дней задержки выплаты (ст. 136 Трудового кодекса РФ).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Отсутствие карточек выдачи </a:t>
            </a:r>
            <a:r>
              <a:rPr lang="ru-RU" dirty="0" err="1" smtClean="0"/>
              <a:t>спец.одежды</a:t>
            </a:r>
            <a:r>
              <a:rPr lang="ru-RU" dirty="0" smtClean="0"/>
              <a:t> и смывающих средств (ст. 221 Трудового кодекса РФ)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Принимаются люди на должности без соответствующего образования и квалификации.</a:t>
            </a:r>
          </a:p>
          <a:p>
            <a:pPr marL="0" indent="0" algn="just">
              <a:buNone/>
            </a:pP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09228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ВНИМАНИЕ!!!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ПРИКАЗ Министерства труда и социальной защиты Российской Федерации от 02.02.2023 года № 60н</a:t>
            </a:r>
          </a:p>
          <a:p>
            <a:pPr marL="0" indent="0" algn="ctr">
              <a:buNone/>
            </a:pPr>
            <a:r>
              <a:rPr lang="ru-RU" sz="3200" dirty="0" smtClean="0"/>
              <a:t>«Об утверждении профессионального стандарта «Руководитель организации отдыха детей и их оздоровления»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36693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Медосмотр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Инструктажи по ОТ и </a:t>
            </a:r>
            <a:r>
              <a:rPr lang="ru-RU" dirty="0" smtClean="0"/>
              <a:t>ТБ ( с 01.03.2023 года по новому порядку)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Стажировка (рабочие профессии</a:t>
            </a:r>
            <a:r>
              <a:rPr lang="ru-RU" dirty="0" smtClean="0"/>
              <a:t>) </a:t>
            </a:r>
            <a:r>
              <a:rPr lang="ru-RU" dirty="0"/>
              <a:t>с 01.03.2023 года по новому порядку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8418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ОХРАНА ТРУДА!!!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rgbClr val="FF0000"/>
                </a:solidFill>
              </a:rPr>
              <a:t>Реестр (перечень) нормативных правовых актов по охране труда на 2023 </a:t>
            </a:r>
            <a:r>
              <a:rPr lang="ru-RU" b="1" dirty="0" smtClean="0">
                <a:solidFill>
                  <a:srgbClr val="FF0000"/>
                </a:solidFill>
              </a:rPr>
              <a:t>год </a:t>
            </a:r>
          </a:p>
          <a:p>
            <a:pPr marL="0" indent="0" algn="just">
              <a:buNone/>
            </a:pPr>
            <a:r>
              <a:rPr lang="ru-RU" dirty="0" smtClean="0"/>
              <a:t>В </a:t>
            </a:r>
            <a:r>
              <a:rPr lang="ru-RU" dirty="0"/>
              <a:t>соответствии со </a:t>
            </a:r>
            <a:r>
              <a:rPr lang="ru-RU" u="sng" dirty="0">
                <a:hlinkClick r:id="rId2"/>
              </a:rPr>
              <a:t>статьёй 214 ТК РФ</a:t>
            </a:r>
            <a:r>
              <a:rPr lang="ru-RU" dirty="0"/>
              <a:t> работодатель обязан обеспечить ведение </a:t>
            </a:r>
            <a:r>
              <a:rPr lang="ru-RU" b="1" dirty="0"/>
              <a:t>реестра (перечня) нормативных правовых актов</a:t>
            </a:r>
            <a:r>
              <a:rPr lang="ru-RU" dirty="0"/>
              <a:t> (в том числе с использованием электронных вычислительных машин и баз данных), содержащих требования охраны труда, в соответствии со спецификой своей деятельности, а также доступ работников к актуальным редакциям таких нормативных правовых актов</a:t>
            </a:r>
          </a:p>
        </p:txBody>
      </p:sp>
    </p:spTree>
    <p:extLst>
      <p:ext uri="{BB962C8B-B14F-4D97-AF65-F5344CB8AC3E}">
        <p14:creationId xmlns:p14="http://schemas.microsoft.com/office/powerpoint/2010/main" val="1046060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Программа стажировки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Присвоение 1-ой группы по электробезопасности </a:t>
            </a:r>
            <a:r>
              <a:rPr lang="ru-R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неэлектротехническому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персоналу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ru-RU" dirty="0" smtClean="0"/>
              <a:t>(</a:t>
            </a:r>
            <a:r>
              <a:rPr lang="ru-RU" dirty="0"/>
              <a:t>приказ Минэнерго России от 12.08.2022 № 811 “Об утверждении Правил технической эксплуатации электроустановок </a:t>
            </a:r>
            <a:r>
              <a:rPr lang="ru-RU" dirty="0" smtClean="0"/>
              <a:t>потребителей </a:t>
            </a:r>
            <a:r>
              <a:rPr lang="ru-RU" dirty="0"/>
              <a:t>электрической энергии</a:t>
            </a:r>
            <a:r>
              <a:rPr lang="ru-RU" dirty="0" smtClean="0"/>
              <a:t>”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ДЕЙСТВУЕТ С 7 января 2023 года).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Постановление Правительства Российской Федерации от 30 декабря 2022 г. № 2540 “О внесении изменений в Правила обучения по охране труда и проверки знания требований охраны труда” </a:t>
            </a:r>
            <a:r>
              <a:rPr lang="ru-RU" u="sng" dirty="0">
                <a:hlinkClick r:id="rId2"/>
              </a:rPr>
              <a:t>опубликовано</a:t>
            </a:r>
            <a:r>
              <a:rPr lang="ru-RU" dirty="0"/>
              <a:t> на портале правовой информации 31 декабря 2022 года</a:t>
            </a:r>
            <a:r>
              <a:rPr lang="ru-RU" dirty="0" smtClean="0"/>
              <a:t>.</a:t>
            </a:r>
          </a:p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!!!!! Постановление № 2540 вступит в силу </a:t>
            </a:r>
          </a:p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сентября 2023 года.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ru-RU" dirty="0"/>
          </a:p>
          <a:p>
            <a:pPr algn="just">
              <a:buFont typeface="Wingdings" panose="05000000000000000000" pitchFamily="2" charset="2"/>
              <a:buChar char="Ø"/>
            </a:pP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490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ru-RU" dirty="0"/>
              <a:t>С 1 сентября 2022 г. старый порядок утратит силу. Одновременно вступит в силу новый порядок, утверждённый Правительством в соответствии с нормами </a:t>
            </a:r>
            <a:r>
              <a:rPr lang="ru-RU" u="sng" dirty="0">
                <a:hlinkClick r:id="rId2"/>
              </a:rPr>
              <a:t>ст. 219</a:t>
            </a:r>
            <a:r>
              <a:rPr lang="ru-RU" dirty="0"/>
              <a:t> обновленного Х раздела ТК РФ. </a:t>
            </a:r>
          </a:p>
          <a:p>
            <a:pPr marL="0" indent="0" algn="ctr">
              <a:buNone/>
            </a:pPr>
            <a:r>
              <a:rPr lang="ru-RU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Он будет до 1 сентября 2026 г</a:t>
            </a:r>
            <a:r>
              <a:rPr lang="ru-RU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dirty="0"/>
              <a:t>Осенью 2022 года появилось письмо Минтруда от 22 сентября 2022 г. № 15-2/ООГ-2333 “Об обучении по охране труда</a:t>
            </a:r>
            <a:r>
              <a:rPr lang="ru-RU" dirty="0" smtClean="0"/>
              <a:t>”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ВНИМАНИЕ!!! УЧЕСТЬ ИНФОРМАЦИИЮ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Письмо Минтруда от 30 мая 2022 г. № 15-2/В-1677</a:t>
            </a:r>
          </a:p>
          <a:p>
            <a:pPr>
              <a:buFont typeface="Wingdings" panose="05000000000000000000" pitchFamily="2" charset="2"/>
              <a:buChar char="v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0079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ru-RU" u="sng" dirty="0">
                <a:hlinkClick r:id="rId2"/>
              </a:rPr>
              <a:t>Постановлению Правительства РФ от 24 декабря 2021 года № 2464</a:t>
            </a:r>
            <a:r>
              <a:rPr lang="ru-RU" dirty="0"/>
              <a:t> “О порядке обучения по охране труда и проверки знания требований охраны труда</a:t>
            </a:r>
            <a:r>
              <a:rPr lang="ru-RU" dirty="0" smtClean="0"/>
              <a:t>”</a:t>
            </a:r>
          </a:p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Слово “ЖУРНАЛ” по тексту документа не упоминается.</a:t>
            </a:r>
          </a:p>
          <a:p>
            <a:pPr marL="0" indent="0" algn="just">
              <a:buNone/>
            </a:pPr>
            <a:r>
              <a:rPr lang="ru-RU" dirty="0"/>
              <a:t>Таким образом, с 1 сентября 2022 г. на усмотрение работодателя взамен журнала регистрации инструктажа по охране труда допускается фиксация его проведения любым способом, утверждённым локальным актом.</a:t>
            </a:r>
          </a:p>
          <a:p>
            <a:pPr marL="0" indent="0" algn="just">
              <a:buNone/>
            </a:pPr>
            <a:r>
              <a:rPr lang="ru-RU" dirty="0"/>
              <a:t>Это же подтверждается </a:t>
            </a:r>
            <a:r>
              <a:rPr lang="ru-RU" u="sng" dirty="0">
                <a:hlinkClick r:id="rId3"/>
              </a:rPr>
              <a:t>письмом Минтруда РФ от 30.05.2022г. № 15-2/В-1677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682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МОЖЕТ БЫТЬ!!!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Журнал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Лист контроля / регистрации инструктажей (может печататься разово на тех сотрудников, которые проходят инструктаж. На каждый новый инструктаж новый лист)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Личная карточка инструктажей работника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Личная книжка инструктажей работника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45466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ГОТОВИМ ДОКУМЕНТЫ К ЛОК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Начинаем подготовку к проведению санитарной экспертизы;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Издаем приказ о подготовке к ЛОК;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Направляем уведомление в РПН;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Составляем внутренние акты;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ПЕРЕСМОРИМ ДОКУМЕНТЫ В ОБЛАСТИ ПОЖАРНОЙ </a:t>
            </a:r>
            <a:r>
              <a:rPr lang="ru-RU" dirty="0" smtClean="0"/>
              <a:t>БЕЗОПАСНЛСТИ, ОХРАНЫ ТРУДА, АНТИТЕРРОРИСТИЧЕСКОЙ ЗАШЕЩЕННОСТИ!!!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4975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sz="2800" dirty="0" smtClean="0"/>
              <a:t>Я ЖЕЛАЮ ВАМ ЛЕТОМ 2023 ГОДА УДАЧИ</a:t>
            </a:r>
          </a:p>
          <a:p>
            <a:pPr marL="0" indent="0" algn="ctr">
              <a:buNone/>
            </a:pPr>
            <a:endParaRPr lang="ru-RU" sz="4000" dirty="0" smtClean="0"/>
          </a:p>
          <a:p>
            <a:pPr marL="0" indent="0" algn="ctr">
              <a:buNone/>
            </a:pPr>
            <a:r>
              <a:rPr lang="ru-RU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«За МИР, за ДРУЖБУ за организаторов детского отдыха СЛУЖБУ»</a:t>
            </a:r>
          </a:p>
          <a:p>
            <a:pPr marL="0" indent="0" algn="r">
              <a:buNone/>
            </a:pPr>
            <a:r>
              <a:rPr lang="ru-RU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А. </a:t>
            </a:r>
            <a:r>
              <a:rPr lang="ru-RU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Саморуков</a:t>
            </a:r>
            <a:endParaRPr lang="ru-RU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56765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ФОНД РАЗВИТИЯ ДЕТСКИХ ЛАГЕРЕЙ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https://www.frdl.ru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/</a:t>
            </a:r>
            <a:endParaRPr lang="ru-RU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https://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vk.com/club88932826?ysclid=lfc9e5t1ks255258504</a:t>
            </a:r>
            <a:endParaRPr lang="ru-RU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Телеграмм канал ФОНДА РАЗВИТИЯ ДЕТСКИХ ЛАГЕРЕЙ</a:t>
            </a:r>
          </a:p>
          <a:p>
            <a:pPr marL="0" indent="0" algn="ctr">
              <a:buNone/>
            </a:pP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3934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сность">
  <a:themeElements>
    <a:clrScheme name="Ясность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Ясност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145</TotalTime>
  <Words>1527</Words>
  <Application>Microsoft Office PowerPoint</Application>
  <PresentationFormat>Экран (4:3)</PresentationFormat>
  <Paragraphs>209</Paragraphs>
  <Slides>42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3" baseType="lpstr">
      <vt:lpstr>Ясность</vt:lpstr>
      <vt:lpstr>Нормативно-правовое обеспечение летней оздоровительной кампании</vt:lpstr>
      <vt:lpstr>Все начинается с ОПРЕДЕЛЕНИЙ</vt:lpstr>
      <vt:lpstr>Основное понятие!!!</vt:lpstr>
      <vt:lpstr>А что изменилось?</vt:lpstr>
      <vt:lpstr>ОЧЕНЬ ВАЖНОЕ УСЛОВИЕ!!!</vt:lpstr>
      <vt:lpstr>ВОПРОС!!!</vt:lpstr>
      <vt:lpstr>РПН не наделен такими полномочиями!!!</vt:lpstr>
      <vt:lpstr>Презентация PowerPoint</vt:lpstr>
      <vt:lpstr>Какие профильные НПА существуют?</vt:lpstr>
      <vt:lpstr>Презентация PowerPoint</vt:lpstr>
      <vt:lpstr>Очень значимые изменения Законодательства РФ в сентябре, марте 2021-2023 годов </vt:lpstr>
      <vt:lpstr>Презентация PowerPoint</vt:lpstr>
      <vt:lpstr>ВАЖНЫЕ ИЗМЕНЕНИЯ!!!</vt:lpstr>
      <vt:lpstr>Презентация PowerPoint</vt:lpstr>
      <vt:lpstr>Презентация PowerPoint</vt:lpstr>
      <vt:lpstr>Роспатребнадзор</vt:lpstr>
      <vt:lpstr>Презентация PowerPoint</vt:lpstr>
      <vt:lpstr> Какие условия договора считаться недопустимыми? </vt:lpstr>
      <vt:lpstr>Презентация PowerPoint</vt:lpstr>
      <vt:lpstr>Пожарный надзор</vt:lpstr>
      <vt:lpstr>Очень важно!!!</vt:lpstr>
      <vt:lpstr>Презентация PowerPoint</vt:lpstr>
      <vt:lpstr>Антитеррор </vt:lpstr>
      <vt:lpstr>Презентация PowerPoint</vt:lpstr>
      <vt:lpstr>Лагерь палаточного типа!!!</vt:lpstr>
      <vt:lpstr>Может ли детский лагерь обеспечить охрану объекта и пропускной режим силами штатных сотрудников (сторож, вахтер)?</vt:lpstr>
      <vt:lpstr>Охранное предприятие согласно договору осуществляет охрану детского оздоровительного лагеря. Обязаны ли охранники, осуществляющие охрану этого объекта, иметь личную медицинскую или санитарную книжку?</vt:lpstr>
      <vt:lpstr>Прокуратура </vt:lpstr>
      <vt:lpstr> Защита персональных данных </vt:lpstr>
      <vt:lpstr>1 сентября 2022 года</vt:lpstr>
      <vt:lpstr>1 марта 2023 года</vt:lpstr>
      <vt:lpstr>Государственная инспекция труда</vt:lpstr>
      <vt:lpstr>ВНИМАНИЕ!!!</vt:lpstr>
      <vt:lpstr>Презентация PowerPoint</vt:lpstr>
      <vt:lpstr>ОХРАНА ТРУДА!!!</vt:lpstr>
      <vt:lpstr>Презентация PowerPoint</vt:lpstr>
      <vt:lpstr>Презентация PowerPoint</vt:lpstr>
      <vt:lpstr>Презентация PowerPoint</vt:lpstr>
      <vt:lpstr>ЧТО МОЖЕТ БЫТЬ!!!</vt:lpstr>
      <vt:lpstr>ГОТОВИМ ДОКУМЕНТЫ К ЛОК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Нормативно-правовое обеспечение летней оздоровительной кампании</dc:title>
  <dc:creator>Admin</dc:creator>
  <cp:lastModifiedBy>Admin</cp:lastModifiedBy>
  <cp:revision>40</cp:revision>
  <dcterms:created xsi:type="dcterms:W3CDTF">2023-03-17T05:38:06Z</dcterms:created>
  <dcterms:modified xsi:type="dcterms:W3CDTF">2023-03-17T08:10:16Z</dcterms:modified>
</cp:coreProperties>
</file>