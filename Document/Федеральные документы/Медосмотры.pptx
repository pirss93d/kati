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12" r:id="rId53"/>
    <p:sldId id="313" r:id="rId54"/>
    <p:sldId id="314" r:id="rId55"/>
    <p:sldId id="315" r:id="rId56"/>
    <p:sldId id="316" r:id="rId57"/>
    <p:sldId id="317" r:id="rId58"/>
    <p:sldId id="311" r:id="rId5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ru-RU" smtClean="0"/>
              <a:t>Образец заголовка</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75879730-0FF5-4349-B573-A589D493695E}"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2D85AB0-144E-42A4-AB73-2AB0DED4F6DB}" type="slidenum">
              <a:rPr lang="ru-RU" smtClean="0"/>
              <a:t>‹#›</a:t>
            </a:fld>
            <a:endParaRPr lang="ru-RU"/>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75879730-0FF5-4349-B573-A589D493695E}"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75879730-0FF5-4349-B573-A589D493695E}"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2D85AB0-144E-42A4-AB73-2AB0DED4F6DB}" type="slidenum">
              <a:rPr lang="ru-RU" smtClean="0"/>
              <a:t>‹#›</a:t>
            </a:fld>
            <a:endParaRPr lang="ru-RU"/>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75879730-0FF5-4349-B573-A589D493695E}"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75879730-0FF5-4349-B573-A589D493695E}" type="datetimeFigureOut">
              <a:rPr lang="ru-RU" smtClean="0"/>
              <a:t>15.03.2023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2D85AB0-144E-42A4-AB73-2AB0DED4F6DB}" type="slidenum">
              <a:rPr lang="ru-RU" smtClean="0"/>
              <a:t>‹#›</a:t>
            </a:fld>
            <a:endParaRPr lang="ru-RU"/>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75879730-0FF5-4349-B573-A589D493695E}" type="datetimeFigureOut">
              <a:rPr lang="ru-RU" smtClean="0"/>
              <a:t>15.03.2023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879730-0FF5-4349-B573-A589D493695E}" type="datetimeFigureOut">
              <a:rPr lang="ru-RU" smtClean="0"/>
              <a:t>15.03.2023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5879730-0FF5-4349-B573-A589D493695E}"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2D85AB0-144E-42A4-AB73-2AB0DED4F6DB}" type="slidenum">
              <a:rPr lang="ru-RU" smtClean="0"/>
              <a:t>‹#›</a:t>
            </a:fld>
            <a:endParaRPr lang="ru-RU"/>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75879730-0FF5-4349-B573-A589D493695E}"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75879730-0FF5-4349-B573-A589D493695E}"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75879730-0FF5-4349-B573-A589D493695E}"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2D85AB0-144E-42A4-AB73-2AB0DED4F6DB}"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75879730-0FF5-4349-B573-A589D493695E}" type="datetimeFigureOut">
              <a:rPr lang="ru-RU" smtClean="0"/>
              <a:t>15.03.2023</a:t>
            </a:fld>
            <a:endParaRPr lang="ru-RU"/>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ru-RU"/>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2D85AB0-144E-42A4-AB73-2AB0DED4F6DB}"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ormobr.ru/npd-doc?npmid=99&amp;npid=57830431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normativ.kontur.ru/document?moduleId=1&amp;documentId=382649&amp;promocode=0957&amp;utm_source=yandex&amp;utm_medium=organic&amp;utm_campaign=content-link-buhonline&amp;utm_content=tag-trudovye-otnosheniya-hasProduct&amp;utm_term=pub16559&amp;utm_referrer=https://yandex.ru"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532" TargetMode="External"/><Relationship Id="rId2" Type="http://schemas.openxmlformats.org/officeDocument/2006/relationships/hyperlink" Target="https://www.buhonline.ru/pub/beginner/2020/8/1591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127"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53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811" TargetMode="External"/><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532" TargetMode="External"/><Relationship Id="rId1" Type="http://schemas.openxmlformats.org/officeDocument/2006/relationships/slideLayout" Target="../slideLayouts/slideLayout2.xml"/><Relationship Id="rId5" Type="http://schemas.openxmlformats.org/officeDocument/2006/relationships/hyperlink" Target="https://normativ.kontur.ru/document?moduleId=1100&amp;documentId=17215&amp;promocode=0957&amp;utm_source=yandex&amp;utm_medium=organic&amp;utm_campaign=content-link-buhonline&amp;utm_content=tag-trudovye-otnosheniya-hasProduct&amp;utm_term=pub16559&amp;utm_referrer=https://yandex.ru" TargetMode="External"/><Relationship Id="rId4"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87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742"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532" TargetMode="External"/><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6895" TargetMode="External"/><Relationship Id="rId1" Type="http://schemas.openxmlformats.org/officeDocument/2006/relationships/slideLayout" Target="../slideLayouts/slideLayout2.xml"/><Relationship Id="rId4"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885"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811" TargetMode="External"/><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532" TargetMode="External"/><Relationship Id="rId1" Type="http://schemas.openxmlformats.org/officeDocument/2006/relationships/slideLayout" Target="../slideLayouts/slideLayout2.xml"/><Relationship Id="rId4"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87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normativ.kontur.ru/document?moduleId=1&amp;documentId=321405&amp;promocode=0957&amp;utm_source=yandex&amp;utm_medium=organic&amp;utm_campaign=content-link-buhonline&amp;utm_content=tag-trudovye-otnosheniya-hasProduct&amp;utm_term=pub16559&amp;utm_referrer=https://yandex.ru#h456"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normativ.kontur.ru/document?moduleId=8&amp;documentId=354142&amp;promocode=0957&amp;utm_source=yandex&amp;utm_medium=organic&amp;utm_campaign=content-link-buhonline&amp;utm_content=tag-trudovye-otnosheniya-hasProduct&amp;utm_term=pub16559&amp;utm_referrer=https://yandex.ru"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134"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normativ.kontur.ru/document?moduleId=8&amp;documentId=353801&amp;promocode=0957&amp;utm_source=yandex&amp;utm_medium=organic&amp;utm_campaign=content-link-buhonline&amp;utm_content=tag-trudovye-otnosheniya-hasProduct&amp;utm_term=pub16559&amp;utm_referrer=https://yandex.ru"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472" TargetMode="External"/><Relationship Id="rId2"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127" TargetMode="External"/><Relationship Id="rId1" Type="http://schemas.openxmlformats.org/officeDocument/2006/relationships/slideLayout" Target="../slideLayouts/slideLayout2.xml"/><Relationship Id="rId5"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097" TargetMode="External"/><Relationship Id="rId4" Type="http://schemas.openxmlformats.org/officeDocument/2006/relationships/hyperlink" Target="https://normativ.kontur.ru/document?moduleId=1&amp;documentId=389763&amp;promocode=0957&amp;utm_source=yandex&amp;utm_medium=organic&amp;utm_campaign=content-link-buhonline&amp;utm_content=tag-trudovye-otnosheniya-hasProduct&amp;utm_term=pub16559&amp;utm_referrer=https://yandex.ru#h5145" TargetMode="External"/></Relationships>
</file>

<file path=ppt/slides/_rels/slide44.xml.rels><?xml version="1.0" encoding="UTF-8" standalone="yes"?>
<Relationships xmlns="http://schemas.openxmlformats.org/package/2006/relationships"><Relationship Id="rId2" Type="http://schemas.openxmlformats.org/officeDocument/2006/relationships/hyperlink" Target="https://normativ.kontur.ru/document?moduleId=1&amp;documentId=390377&amp;promocode=0957&amp;utm_source=yandex&amp;utm_medium=organic&amp;utm_campaign=content-link-buhonline&amp;utm_content=tag-trudovye-otnosheniya-hasProduct&amp;utm_term=pub16559&amp;utm_referrer=https://yandex.ru#h13338"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www.consultant.ru/document/cons_doc_LAW_375353/97e037080d7df49443822deb6087d3281805db0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internet.garant.ru/#/document/404766305/entry/1000" TargetMode="External"/><Relationship Id="rId2" Type="http://schemas.openxmlformats.org/officeDocument/2006/relationships/hyperlink" Target="https://internet.garant.ru/#/document/12125268/entry/2208" TargetMode="External"/><Relationship Id="rId1" Type="http://schemas.openxmlformats.org/officeDocument/2006/relationships/slideLayout" Target="../slideLayouts/slideLayout2.xml"/><Relationship Id="rId4" Type="http://schemas.openxmlformats.org/officeDocument/2006/relationships/hyperlink" Target="https://internet.garant.ru/#/document/404766305/entry/2000" TargetMode="External"/></Relationships>
</file>

<file path=ppt/slides/_rels/slide54.xml.rels><?xml version="1.0" encoding="UTF-8" standalone="yes"?>
<Relationships xmlns="http://schemas.openxmlformats.org/package/2006/relationships"><Relationship Id="rId2" Type="http://schemas.openxmlformats.org/officeDocument/2006/relationships/hyperlink" Target="https://internet.garant.ru/#/document/404766305/entry/0"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internet.garant.ru/#/document/404766305/entry/2000"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internet.garant.ru/#/document/70291362/entry/10217" TargetMode="External"/><Relationship Id="rId7" Type="http://schemas.openxmlformats.org/officeDocument/2006/relationships/hyperlink" Target="https://internet.garant.ru/#/document/12125268/entry/220" TargetMode="External"/><Relationship Id="rId2" Type="http://schemas.openxmlformats.org/officeDocument/2006/relationships/hyperlink" Target="https://internet.garant.ru/#/document/12125268/entry/331" TargetMode="External"/><Relationship Id="rId1" Type="http://schemas.openxmlformats.org/officeDocument/2006/relationships/slideLayout" Target="../slideLayouts/slideLayout2.xml"/><Relationship Id="rId6" Type="http://schemas.openxmlformats.org/officeDocument/2006/relationships/hyperlink" Target="https://internet.garant.ru/#/document/404766305/entry/0" TargetMode="External"/><Relationship Id="rId5" Type="http://schemas.openxmlformats.org/officeDocument/2006/relationships/hyperlink" Target="https://internet.garant.ru/#/document/70291362/entry/10221" TargetMode="External"/><Relationship Id="rId4" Type="http://schemas.openxmlformats.org/officeDocument/2006/relationships/hyperlink" Target="https://internet.garant.ru/#/document/70291362/entry/10218"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467544" y="764704"/>
            <a:ext cx="8066856" cy="2534121"/>
          </a:xfrm>
        </p:spPr>
        <p:txBody>
          <a:bodyPr/>
          <a:lstStyle/>
          <a:p>
            <a:pPr algn="r"/>
            <a:r>
              <a:rPr lang="ru-RU" sz="2400" dirty="0" smtClean="0">
                <a:effectLst>
                  <a:outerShdw blurRad="38100" dist="38100" dir="2700000" algn="tl">
                    <a:srgbClr val="000000">
                      <a:alpha val="43137"/>
                    </a:srgbClr>
                  </a:outerShdw>
                </a:effectLst>
              </a:rPr>
              <a:t/>
            </a:r>
            <a:br>
              <a:rPr lang="ru-RU" sz="2400" dirty="0" smtClean="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
            </a:r>
            <a:br>
              <a:rPr lang="ru-RU" sz="2400" dirty="0">
                <a:effectLst>
                  <a:outerShdw blurRad="38100" dist="38100" dir="2700000" algn="tl">
                    <a:srgbClr val="000000">
                      <a:alpha val="43137"/>
                    </a:srgbClr>
                  </a:outerShdw>
                </a:effectLst>
              </a:rPr>
            </a:br>
            <a:r>
              <a:rPr lang="ru-RU" sz="2400" dirty="0" smtClean="0">
                <a:effectLst>
                  <a:outerShdw blurRad="38100" dist="38100" dir="2700000" algn="tl">
                    <a:srgbClr val="000000">
                      <a:alpha val="43137"/>
                    </a:srgbClr>
                  </a:outerShdw>
                </a:effectLst>
              </a:rPr>
              <a:t/>
            </a:r>
            <a:br>
              <a:rPr lang="ru-RU" sz="2400" dirty="0" smtClean="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
            </a:r>
            <a:br>
              <a:rPr lang="ru-RU" sz="2400" dirty="0">
                <a:effectLst>
                  <a:outerShdw blurRad="38100" dist="38100" dir="2700000" algn="tl">
                    <a:srgbClr val="000000">
                      <a:alpha val="43137"/>
                    </a:srgbClr>
                  </a:outerShdw>
                </a:effectLst>
              </a:rPr>
            </a:br>
            <a:r>
              <a:rPr lang="ru-RU" sz="2400" dirty="0" smtClean="0">
                <a:effectLst>
                  <a:outerShdw blurRad="38100" dist="38100" dir="2700000" algn="tl">
                    <a:srgbClr val="000000">
                      <a:alpha val="43137"/>
                    </a:srgbClr>
                  </a:outerShdw>
                </a:effectLst>
              </a:rPr>
              <a:t/>
            </a:r>
            <a:br>
              <a:rPr lang="ru-RU" sz="2400" dirty="0" smtClean="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
            </a:r>
            <a:br>
              <a:rPr lang="ru-RU" sz="2400" dirty="0">
                <a:effectLst>
                  <a:outerShdw blurRad="38100" dist="38100" dir="2700000" algn="tl">
                    <a:srgbClr val="000000">
                      <a:alpha val="43137"/>
                    </a:srgbClr>
                  </a:outerShdw>
                </a:effectLst>
              </a:rPr>
            </a:br>
            <a:r>
              <a:rPr lang="ru-RU" sz="2400" dirty="0" smtClean="0">
                <a:effectLst>
                  <a:outerShdw blurRad="38100" dist="38100" dir="2700000" algn="tl">
                    <a:srgbClr val="000000">
                      <a:alpha val="43137"/>
                    </a:srgbClr>
                  </a:outerShdw>
                </a:effectLst>
              </a:rPr>
              <a:t/>
            </a:r>
            <a:br>
              <a:rPr lang="ru-RU" sz="2400" dirty="0" smtClean="0">
                <a:effectLst>
                  <a:outerShdw blurRad="38100" dist="38100" dir="2700000" algn="tl">
                    <a:srgbClr val="000000">
                      <a:alpha val="43137"/>
                    </a:srgbClr>
                  </a:outerShdw>
                </a:effectLst>
              </a:rPr>
            </a:br>
            <a:r>
              <a:rPr lang="ru-RU" sz="3200" b="1" dirty="0" smtClean="0">
                <a:effectLst>
                  <a:outerShdw blurRad="38100" dist="38100" dir="2700000" algn="tl">
                    <a:srgbClr val="000000">
                      <a:alpha val="43137"/>
                    </a:srgbClr>
                  </a:outerShdw>
                </a:effectLst>
              </a:rPr>
              <a:t>Новый </a:t>
            </a:r>
            <a:r>
              <a:rPr lang="ru-RU" sz="3200" b="1" dirty="0">
                <a:effectLst>
                  <a:outerShdw blurRad="38100" dist="38100" dir="2700000" algn="tl">
                    <a:srgbClr val="000000">
                      <a:alpha val="43137"/>
                    </a:srgbClr>
                  </a:outerShdw>
                </a:effectLst>
              </a:rPr>
              <a:t>порядок медосмотров </a:t>
            </a:r>
            <a:r>
              <a:rPr lang="ru-RU" sz="3200" b="1" dirty="0" smtClean="0">
                <a:effectLst>
                  <a:outerShdw blurRad="38100" dist="38100" dir="2700000" algn="tl">
                    <a:srgbClr val="000000">
                      <a:alpha val="43137"/>
                    </a:srgbClr>
                  </a:outerShdw>
                </a:effectLst>
              </a:rPr>
              <a:t>на</a:t>
            </a:r>
            <a:br>
              <a:rPr lang="ru-RU" sz="3200" b="1" dirty="0" smtClean="0">
                <a:effectLst>
                  <a:outerShdw blurRad="38100" dist="38100" dir="2700000" algn="tl">
                    <a:srgbClr val="000000">
                      <a:alpha val="43137"/>
                    </a:srgbClr>
                  </a:outerShdw>
                </a:effectLst>
              </a:rPr>
            </a:br>
            <a:r>
              <a:rPr lang="ru-RU" sz="3200" b="1" dirty="0">
                <a:effectLst>
                  <a:outerShdw blurRad="38100" dist="38100" dir="2700000" algn="tl">
                    <a:srgbClr val="000000">
                      <a:alpha val="43137"/>
                    </a:srgbClr>
                  </a:outerShdw>
                </a:effectLst>
              </a:rPr>
              <a:t> ближайшие шесть лет</a:t>
            </a:r>
            <a:r>
              <a:rPr lang="ru-RU" sz="3200" b="1" dirty="0" smtClean="0">
                <a:effectLst>
                  <a:outerShdw blurRad="38100" dist="38100" dir="2700000" algn="tl">
                    <a:srgbClr val="000000">
                      <a:alpha val="43137"/>
                    </a:srgbClr>
                  </a:outerShdw>
                </a:effectLst>
              </a:rPr>
              <a:t>. </a:t>
            </a:r>
            <a:br>
              <a:rPr lang="ru-RU" sz="3200" b="1" dirty="0" smtClean="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Что изменилось и как это отразится на работе</a:t>
            </a:r>
            <a:br>
              <a:rPr lang="ru-RU" sz="2400" dirty="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
            </a:r>
            <a:br>
              <a:rPr lang="ru-RU" sz="2400" dirty="0">
                <a:effectLst>
                  <a:outerShdw blurRad="38100" dist="38100" dir="2700000" algn="tl">
                    <a:srgbClr val="000000">
                      <a:alpha val="43137"/>
                    </a:srgbClr>
                  </a:outerShdw>
                </a:effectLst>
              </a:rPr>
            </a:br>
            <a:endParaRPr lang="ru-RU" sz="2400" dirty="0">
              <a:effectLst>
                <a:outerShdw blurRad="38100" dist="38100" dir="2700000" algn="tl">
                  <a:srgbClr val="000000">
                    <a:alpha val="43137"/>
                  </a:srgbClr>
                </a:outerShdw>
              </a:effectLst>
            </a:endParaRPr>
          </a:p>
        </p:txBody>
      </p:sp>
      <p:sp>
        <p:nvSpPr>
          <p:cNvPr id="3" name="Подзаголовок 2"/>
          <p:cNvSpPr>
            <a:spLocks noGrp="1"/>
          </p:cNvSpPr>
          <p:nvPr>
            <p:ph type="subTitle" idx="1"/>
          </p:nvPr>
        </p:nvSpPr>
        <p:spPr/>
        <p:txBody>
          <a:bodyPr/>
          <a:lstStyle/>
          <a:p>
            <a:pPr algn="r"/>
            <a:r>
              <a:rPr lang="ru-RU" dirty="0" smtClean="0"/>
              <a:t>ФОНД РАЗВИТИЯ ДЕТСКИХ ЛАГЕРЕЙ</a:t>
            </a:r>
            <a:endParaRPr lang="ru-RU" dirty="0"/>
          </a:p>
        </p:txBody>
      </p:sp>
    </p:spTree>
    <p:extLst>
      <p:ext uri="{BB962C8B-B14F-4D97-AF65-F5344CB8AC3E}">
        <p14:creationId xmlns:p14="http://schemas.microsoft.com/office/powerpoint/2010/main" val="3084258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Что изменилось?</a:t>
            </a:r>
            <a:endParaRPr lang="ru-RU" dirty="0"/>
          </a:p>
        </p:txBody>
      </p:sp>
      <p:sp>
        <p:nvSpPr>
          <p:cNvPr id="3" name="Объект 2"/>
          <p:cNvSpPr>
            <a:spLocks noGrp="1"/>
          </p:cNvSpPr>
          <p:nvPr>
            <p:ph idx="1"/>
          </p:nvPr>
        </p:nvSpPr>
        <p:spPr/>
        <p:txBody>
          <a:bodyPr>
            <a:normAutofit/>
          </a:bodyPr>
          <a:lstStyle/>
          <a:p>
            <a:pPr marL="0" indent="0" algn="just">
              <a:buNone/>
            </a:pPr>
            <a:r>
              <a:rPr lang="ru-RU" sz="2800" dirty="0"/>
              <a:t>С 2021 года изменили правила проведения медосмотра у работников </a:t>
            </a:r>
            <a:r>
              <a:rPr lang="ru-RU" sz="2800" dirty="0" smtClean="0"/>
              <a:t>на </a:t>
            </a:r>
            <a:r>
              <a:rPr lang="ru-RU" sz="2800" dirty="0"/>
              <a:t>основании приказа Минздрава от 28.01.2021 № 29н. Они будут действовать в течение шести лет</a:t>
            </a:r>
            <a:r>
              <a:rPr lang="ru-RU" sz="2800" dirty="0" smtClean="0"/>
              <a:t>.</a:t>
            </a:r>
          </a:p>
          <a:p>
            <a:pPr marL="0" indent="0" algn="just">
              <a:buNone/>
            </a:pPr>
            <a:endParaRPr lang="ru-RU" sz="2800" dirty="0"/>
          </a:p>
          <a:p>
            <a:pPr marL="0" indent="0" algn="ctr">
              <a:buNone/>
            </a:pPr>
            <a:r>
              <a:rPr lang="ru-RU" sz="2800" dirty="0" smtClean="0">
                <a:solidFill>
                  <a:srgbClr val="FF0000"/>
                </a:solidFill>
                <a:effectLst>
                  <a:outerShdw blurRad="38100" dist="38100" dir="2700000" algn="tl">
                    <a:srgbClr val="000000">
                      <a:alpha val="43137"/>
                    </a:srgbClr>
                  </a:outerShdw>
                </a:effectLst>
              </a:rPr>
              <a:t>НАПОМНЮ РАНЕЕ ДЕЙСТВОВАЛ ПРИКАЗ МИНЗДРАВСОЦРАЗВИТИЯ № 302-Н</a:t>
            </a:r>
            <a:endParaRPr lang="ru-RU" sz="28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6211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ЧТО МЫ СЕГОДНЯ РАЗБЕРЕМ?</a:t>
            </a:r>
            <a:endParaRPr lang="ru-RU" dirty="0"/>
          </a:p>
        </p:txBody>
      </p:sp>
      <p:sp>
        <p:nvSpPr>
          <p:cNvPr id="3" name="Объект 2"/>
          <p:cNvSpPr>
            <a:spLocks noGrp="1"/>
          </p:cNvSpPr>
          <p:nvPr>
            <p:ph idx="1"/>
          </p:nvPr>
        </p:nvSpPr>
        <p:spPr/>
        <p:txBody>
          <a:bodyPr>
            <a:normAutofit/>
          </a:bodyPr>
          <a:lstStyle/>
          <a:p>
            <a:pPr algn="just"/>
            <a:r>
              <a:rPr lang="ru-RU" sz="2800" dirty="0"/>
              <a:t>Как пройти медосмотр по новому </a:t>
            </a:r>
            <a:r>
              <a:rPr lang="ru-RU" sz="2800" dirty="0" smtClean="0"/>
              <a:t>закону?</a:t>
            </a:r>
          </a:p>
          <a:p>
            <a:pPr algn="just"/>
            <a:r>
              <a:rPr lang="ru-RU" sz="2800" dirty="0" smtClean="0"/>
              <a:t>Каких </a:t>
            </a:r>
            <a:r>
              <a:rPr lang="ru-RU" sz="2800" dirty="0"/>
              <a:t>врачей проходят </a:t>
            </a:r>
            <a:r>
              <a:rPr lang="ru-RU" sz="2800" dirty="0" smtClean="0"/>
              <a:t>работники </a:t>
            </a:r>
            <a:r>
              <a:rPr lang="ru-RU" sz="2800" dirty="0"/>
              <a:t>при </a:t>
            </a:r>
            <a:r>
              <a:rPr lang="ru-RU" sz="2800" dirty="0" smtClean="0"/>
              <a:t>медосмотре?</a:t>
            </a:r>
          </a:p>
          <a:p>
            <a:pPr algn="just"/>
            <a:r>
              <a:rPr lang="ru-RU" sz="2800" dirty="0" smtClean="0"/>
              <a:t> </a:t>
            </a:r>
            <a:r>
              <a:rPr lang="ru-RU" sz="2800" dirty="0"/>
              <a:t>Положение о медицинских осмотрах </a:t>
            </a:r>
            <a:r>
              <a:rPr lang="ru-RU" sz="2800" dirty="0" smtClean="0"/>
              <a:t>?</a:t>
            </a:r>
          </a:p>
          <a:p>
            <a:pPr algn="just"/>
            <a:r>
              <a:rPr lang="ru-RU" sz="2800" dirty="0" smtClean="0"/>
              <a:t>Что </a:t>
            </a:r>
            <a:r>
              <a:rPr lang="ru-RU" sz="2800" dirty="0"/>
              <a:t>включает медкомиссия </a:t>
            </a:r>
            <a:r>
              <a:rPr lang="ru-RU" sz="2800" dirty="0" smtClean="0"/>
              <a:t>для работников?</a:t>
            </a:r>
          </a:p>
          <a:p>
            <a:pPr algn="just"/>
            <a:r>
              <a:rPr lang="ru-RU" sz="2800" dirty="0" smtClean="0"/>
              <a:t> </a:t>
            </a:r>
            <a:r>
              <a:rPr lang="ru-RU" sz="2800" dirty="0"/>
              <a:t>Требования к прохождению медицинских </a:t>
            </a:r>
            <a:r>
              <a:rPr lang="ru-RU" sz="2800" dirty="0" smtClean="0"/>
              <a:t>осмотров?</a:t>
            </a:r>
            <a:endParaRPr lang="ru-RU" sz="2800" dirty="0"/>
          </a:p>
        </p:txBody>
      </p:sp>
    </p:spTree>
    <p:extLst>
      <p:ext uri="{BB962C8B-B14F-4D97-AF65-F5344CB8AC3E}">
        <p14:creationId xmlns:p14="http://schemas.microsoft.com/office/powerpoint/2010/main" val="468703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sz="2700" b="1" dirty="0" smtClean="0">
                <a:effectLst>
                  <a:outerShdw blurRad="38100" dist="38100" dir="2700000" algn="tl">
                    <a:srgbClr val="000000">
                      <a:alpha val="43137"/>
                    </a:srgbClr>
                  </a:outerShdw>
                </a:effectLst>
              </a:rPr>
              <a:t>КАКИЕ НОВВЕЛЫ ПОЯВИЛИСЬ В НОВОМ ЗАКОНЕ?</a:t>
            </a:r>
            <a:r>
              <a:rPr lang="ru-RU" dirty="0"/>
              <a:t/>
            </a:r>
            <a:br>
              <a:rPr lang="ru-RU" dirty="0"/>
            </a:br>
            <a:endParaRPr lang="ru-RU" dirty="0"/>
          </a:p>
        </p:txBody>
      </p:sp>
      <p:sp>
        <p:nvSpPr>
          <p:cNvPr id="3" name="Объект 2"/>
          <p:cNvSpPr>
            <a:spLocks noGrp="1"/>
          </p:cNvSpPr>
          <p:nvPr>
            <p:ph idx="1"/>
          </p:nvPr>
        </p:nvSpPr>
        <p:spPr/>
        <p:txBody>
          <a:bodyPr/>
          <a:lstStyle/>
          <a:p>
            <a:pPr marL="0" indent="0" algn="ctr">
              <a:buNone/>
            </a:pPr>
            <a:r>
              <a:rPr lang="ru-RU" sz="3600" dirty="0"/>
              <a:t>Всего можно выделить семь главных нововведений</a:t>
            </a:r>
            <a:r>
              <a:rPr lang="ru-RU" sz="3600" dirty="0" smtClean="0"/>
              <a:t>.</a:t>
            </a:r>
          </a:p>
          <a:p>
            <a:pPr marL="0" indent="0" algn="ctr">
              <a:buNone/>
            </a:pPr>
            <a:r>
              <a:rPr lang="ru-RU" dirty="0" smtClean="0"/>
              <a:t> </a:t>
            </a:r>
            <a:r>
              <a:rPr lang="ru-RU" dirty="0" smtClean="0">
                <a:solidFill>
                  <a:srgbClr val="FF0000"/>
                </a:solidFill>
                <a:effectLst>
                  <a:outerShdw blurRad="38100" dist="38100" dir="2700000" algn="tl">
                    <a:srgbClr val="000000">
                      <a:alpha val="43137"/>
                    </a:srgbClr>
                  </a:outerShdw>
                </a:effectLst>
              </a:rPr>
              <a:t>!!! Ознакомьте </a:t>
            </a:r>
            <a:r>
              <a:rPr lang="ru-RU" dirty="0">
                <a:solidFill>
                  <a:srgbClr val="FF0000"/>
                </a:solidFill>
                <a:effectLst>
                  <a:outerShdw blurRad="38100" dist="38100" dir="2700000" algn="tl">
                    <a:srgbClr val="000000">
                      <a:alpha val="43137"/>
                    </a:srgbClr>
                  </a:outerShdw>
                </a:effectLst>
              </a:rPr>
              <a:t>с ними </a:t>
            </a:r>
            <a:r>
              <a:rPr lang="ru-RU" dirty="0" smtClean="0">
                <a:solidFill>
                  <a:srgbClr val="FF0000"/>
                </a:solidFill>
                <a:effectLst>
                  <a:outerShdw blurRad="38100" dist="38100" dir="2700000" algn="tl">
                    <a:srgbClr val="000000">
                      <a:alpha val="43137"/>
                    </a:srgbClr>
                  </a:outerShdw>
                </a:effectLst>
              </a:rPr>
              <a:t>сотрудников</a:t>
            </a:r>
            <a:r>
              <a:rPr lang="ru-RU" dirty="0">
                <a:solidFill>
                  <a:srgbClr val="FF0000"/>
                </a:solidFill>
                <a:effectLst>
                  <a:outerShdw blurRad="38100" dist="38100" dir="2700000" algn="tl">
                    <a:srgbClr val="000000">
                      <a:alpha val="43137"/>
                    </a:srgbClr>
                  </a:outerShdw>
                </a:effectLst>
              </a:rPr>
              <a:t>, которых назначили ответственными за организацию </a:t>
            </a:r>
            <a:r>
              <a:rPr lang="ru-RU" dirty="0" smtClean="0">
                <a:solidFill>
                  <a:srgbClr val="FF0000"/>
                </a:solidFill>
                <a:effectLst>
                  <a:outerShdw blurRad="38100" dist="38100" dir="2700000" algn="tl">
                    <a:srgbClr val="000000">
                      <a:alpha val="43137"/>
                    </a:srgbClr>
                  </a:outerShdw>
                </a:effectLst>
              </a:rPr>
              <a:t>медосмотров.</a:t>
            </a:r>
          </a:p>
          <a:p>
            <a:pPr marL="0" indent="0" algn="ctr">
              <a:buNone/>
            </a:pPr>
            <a:endParaRPr lang="ru-RU" dirty="0">
              <a:solidFill>
                <a:srgbClr val="FF0000"/>
              </a:solidFill>
              <a:effectLst>
                <a:outerShdw blurRad="38100" dist="38100" dir="2700000" algn="tl">
                  <a:srgbClr val="000000">
                    <a:alpha val="43137"/>
                  </a:srgbClr>
                </a:outerShdw>
              </a:effectLst>
            </a:endParaRPr>
          </a:p>
          <a:p>
            <a:pPr marL="0" indent="0" algn="just">
              <a:buNone/>
            </a:pPr>
            <a:r>
              <a:rPr lang="ru-RU" dirty="0" smtClean="0"/>
              <a:t> </a:t>
            </a:r>
            <a:r>
              <a:rPr lang="ru-RU" dirty="0"/>
              <a:t>Это необходимо сделать для того, чтобы правильно организовать профилактический осмотр работников и заполнить документы в соответствии с новыми </a:t>
            </a:r>
            <a:r>
              <a:rPr lang="ru-RU" dirty="0" smtClean="0"/>
              <a:t>требованиями.</a:t>
            </a:r>
            <a:endParaRPr lang="ru-RU" dirty="0"/>
          </a:p>
        </p:txBody>
      </p:sp>
    </p:spTree>
    <p:extLst>
      <p:ext uri="{BB962C8B-B14F-4D97-AF65-F5344CB8AC3E}">
        <p14:creationId xmlns:p14="http://schemas.microsoft.com/office/powerpoint/2010/main" val="334715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Медицинский осмотр объединили с первым этапом диспансеризации.</a:t>
            </a:r>
            <a:endParaRPr lang="ru-RU" dirty="0"/>
          </a:p>
        </p:txBody>
      </p:sp>
      <p:sp>
        <p:nvSpPr>
          <p:cNvPr id="3" name="Объект 2"/>
          <p:cNvSpPr>
            <a:spLocks noGrp="1"/>
          </p:cNvSpPr>
          <p:nvPr>
            <p:ph idx="1"/>
          </p:nvPr>
        </p:nvSpPr>
        <p:spPr/>
        <p:txBody>
          <a:bodyPr>
            <a:normAutofit/>
          </a:bodyPr>
          <a:lstStyle/>
          <a:p>
            <a:pPr marL="0" indent="0" algn="just">
              <a:buNone/>
            </a:pPr>
            <a:r>
              <a:rPr lang="ru-RU" sz="3200" dirty="0" smtClean="0"/>
              <a:t>Теперь организации отдыха и оздоровления детей вправе </a:t>
            </a:r>
            <a:r>
              <a:rPr lang="ru-RU" sz="3200" dirty="0"/>
              <a:t>организовать первый этап диспансеризации или профилактический осмотр для своих работников. Результаты лягут в основу предварительного или периодического осмотра и позволят сократить расходы за счет обследований, которые проводят по полисам ОМС.</a:t>
            </a:r>
          </a:p>
        </p:txBody>
      </p:sp>
    </p:spTree>
    <p:extLst>
      <p:ext uri="{BB962C8B-B14F-4D97-AF65-F5344CB8AC3E}">
        <p14:creationId xmlns:p14="http://schemas.microsoft.com/office/powerpoint/2010/main" val="78282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Направлять работников на медосмотр надо только по СОУТ.</a:t>
            </a: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sz="4000" dirty="0"/>
              <a:t>По новым правилам отправить работника на медосмотр можно только по результатам СОУТ. Раньше обследования назначали по результатам лабораторных исследований и на основании эксплуатационной документации на оборудование</a:t>
            </a:r>
            <a:r>
              <a:rPr lang="ru-RU" dirty="0"/>
              <a:t>.</a:t>
            </a:r>
          </a:p>
        </p:txBody>
      </p:sp>
    </p:spTree>
    <p:extLst>
      <p:ext uri="{BB962C8B-B14F-4D97-AF65-F5344CB8AC3E}">
        <p14:creationId xmlns:p14="http://schemas.microsoft.com/office/powerpoint/2010/main" val="3824816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Можно учитывать результаты прошлых медосмотров. </a:t>
            </a:r>
            <a:endParaRPr lang="ru-RU" dirty="0"/>
          </a:p>
        </p:txBody>
      </p:sp>
      <p:sp>
        <p:nvSpPr>
          <p:cNvPr id="3" name="Объект 2"/>
          <p:cNvSpPr>
            <a:spLocks noGrp="1"/>
          </p:cNvSpPr>
          <p:nvPr>
            <p:ph idx="1"/>
          </p:nvPr>
        </p:nvSpPr>
        <p:spPr/>
        <p:txBody>
          <a:bodyPr>
            <a:normAutofit/>
          </a:bodyPr>
          <a:lstStyle/>
          <a:p>
            <a:pPr marL="0" indent="0" algn="just">
              <a:buNone/>
            </a:pPr>
            <a:r>
              <a:rPr lang="ru-RU" sz="2800" dirty="0"/>
              <a:t>Результаты медосмотра действительны при условии, что с момента последнего обследования прошло не больше одного года. Если в учреждении есть сотрудники, которые работают по совместительству, они могут принести данные о прохождении медосмотра с основного места работы. Информацию о диспансеризации поликлиника запрашивает самостоятельно в результате электронного обмена данными. Отправить запрос следует до начала медосмотра.</a:t>
            </a:r>
          </a:p>
        </p:txBody>
      </p:sp>
    </p:spTree>
    <p:extLst>
      <p:ext uri="{BB962C8B-B14F-4D97-AF65-F5344CB8AC3E}">
        <p14:creationId xmlns:p14="http://schemas.microsoft.com/office/powerpoint/2010/main" val="2740925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ВНИМАНИЕ!!!</a:t>
            </a:r>
            <a:endParaRPr lang="ru-RU" dirty="0"/>
          </a:p>
        </p:txBody>
      </p:sp>
      <p:sp>
        <p:nvSpPr>
          <p:cNvPr id="3" name="Объект 2"/>
          <p:cNvSpPr>
            <a:spLocks noGrp="1"/>
          </p:cNvSpPr>
          <p:nvPr>
            <p:ph idx="1"/>
          </p:nvPr>
        </p:nvSpPr>
        <p:spPr/>
        <p:txBody>
          <a:bodyPr/>
          <a:lstStyle/>
          <a:p>
            <a:pPr marL="0" indent="0" algn="just">
              <a:buNone/>
            </a:pPr>
            <a:r>
              <a:rPr lang="ru-RU" sz="3600" dirty="0"/>
              <a:t>При этом врачи имеют право не учитывать результаты прошлых медосмотров. Например, если в результате обследования выявили признаки заболеваний, которые требуют повторной диагностики</a:t>
            </a:r>
            <a:r>
              <a:rPr lang="ru-RU" dirty="0"/>
              <a:t>.</a:t>
            </a:r>
          </a:p>
        </p:txBody>
      </p:sp>
    </p:spTree>
    <p:extLst>
      <p:ext uri="{BB962C8B-B14F-4D97-AF65-F5344CB8AC3E}">
        <p14:creationId xmlns:p14="http://schemas.microsoft.com/office/powerpoint/2010/main" val="2995149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Работников обязали иметь при себе полис ОМС.</a:t>
            </a:r>
            <a:endParaRPr lang="ru-RU" dirty="0"/>
          </a:p>
        </p:txBody>
      </p:sp>
      <p:sp>
        <p:nvSpPr>
          <p:cNvPr id="3" name="Объект 2"/>
          <p:cNvSpPr>
            <a:spLocks noGrp="1"/>
          </p:cNvSpPr>
          <p:nvPr>
            <p:ph idx="1"/>
          </p:nvPr>
        </p:nvSpPr>
        <p:spPr/>
        <p:txBody>
          <a:bodyPr>
            <a:normAutofit/>
          </a:bodyPr>
          <a:lstStyle/>
          <a:p>
            <a:pPr marL="0" indent="0" algn="just">
              <a:buNone/>
            </a:pPr>
            <a:r>
              <a:rPr lang="ru-RU" sz="3600" dirty="0"/>
              <a:t>Наряду с направлением из образовательной организации при прохождении медосмотра работник дополнительно должен предоставить полис обязательного медицинского страхования. Раньше такого требования не было.</a:t>
            </a:r>
          </a:p>
        </p:txBody>
      </p:sp>
    </p:spTree>
    <p:extLst>
      <p:ext uri="{BB962C8B-B14F-4D97-AF65-F5344CB8AC3E}">
        <p14:creationId xmlns:p14="http://schemas.microsoft.com/office/powerpoint/2010/main" val="1502890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sz="3600" b="1" dirty="0"/>
              <a:t>Закрепили возможность обмениваться электронными документами</a:t>
            </a:r>
            <a:r>
              <a:rPr lang="ru-RU" b="1" dirty="0"/>
              <a:t>.</a:t>
            </a:r>
            <a:endParaRPr lang="ru-RU" dirty="0"/>
          </a:p>
        </p:txBody>
      </p:sp>
      <p:sp>
        <p:nvSpPr>
          <p:cNvPr id="3" name="Объект 2"/>
          <p:cNvSpPr>
            <a:spLocks noGrp="1"/>
          </p:cNvSpPr>
          <p:nvPr>
            <p:ph idx="1"/>
          </p:nvPr>
        </p:nvSpPr>
        <p:spPr/>
        <p:txBody>
          <a:bodyPr>
            <a:normAutofit/>
          </a:bodyPr>
          <a:lstStyle/>
          <a:p>
            <a:pPr marL="0" indent="0" algn="just">
              <a:buNone/>
            </a:pPr>
            <a:r>
              <a:rPr lang="ru-RU" sz="3600" dirty="0"/>
              <a:t>Получить результаты предыдущих исследований, оформить направления на медосмотр и заключения после него можно в электронном виде. Но при условии, что у работодателя и работника есть электронные подписи.</a:t>
            </a:r>
          </a:p>
        </p:txBody>
      </p:sp>
    </p:spTree>
    <p:extLst>
      <p:ext uri="{BB962C8B-B14F-4D97-AF65-F5344CB8AC3E}">
        <p14:creationId xmlns:p14="http://schemas.microsoft.com/office/powerpoint/2010/main" val="3515240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Медосмотр могут проводить мобильные бригады.</a:t>
            </a:r>
            <a:endParaRPr lang="ru-RU" dirty="0"/>
          </a:p>
        </p:txBody>
      </p:sp>
      <p:sp>
        <p:nvSpPr>
          <p:cNvPr id="3" name="Объект 2"/>
          <p:cNvSpPr>
            <a:spLocks noGrp="1"/>
          </p:cNvSpPr>
          <p:nvPr>
            <p:ph idx="1"/>
          </p:nvPr>
        </p:nvSpPr>
        <p:spPr/>
        <p:txBody>
          <a:bodyPr>
            <a:normAutofit/>
          </a:bodyPr>
          <a:lstStyle/>
          <a:p>
            <a:pPr marL="0" indent="0" algn="just">
              <a:buNone/>
            </a:pPr>
            <a:r>
              <a:rPr lang="ru-RU" sz="3200" dirty="0"/>
              <a:t>Еще одно новшество, которое поможет сэкономить время. Периодический осмотр вправе проводить мобильная бригада врачей-специалистов </a:t>
            </a:r>
            <a:r>
              <a:rPr lang="ru-RU" sz="3200" dirty="0" err="1"/>
              <a:t>медорганизации</a:t>
            </a:r>
            <a:r>
              <a:rPr lang="ru-RU" sz="3200" dirty="0"/>
              <a:t>. Перед началом осмотра работникам достаточно пройти только диагностические исследования.</a:t>
            </a:r>
          </a:p>
        </p:txBody>
      </p:sp>
    </p:spTree>
    <p:extLst>
      <p:ext uri="{BB962C8B-B14F-4D97-AF65-F5344CB8AC3E}">
        <p14:creationId xmlns:p14="http://schemas.microsoft.com/office/powerpoint/2010/main" val="2696977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r"/>
            <a:r>
              <a:rPr lang="ru-RU" sz="2800" b="1" dirty="0"/>
              <a:t>Появилось дополнительное основание для внеочередного медосмотра. </a:t>
            </a:r>
            <a:endParaRPr lang="ru-RU" sz="2800" dirty="0"/>
          </a:p>
        </p:txBody>
      </p:sp>
      <p:sp>
        <p:nvSpPr>
          <p:cNvPr id="3" name="Объект 2"/>
          <p:cNvSpPr>
            <a:spLocks noGrp="1"/>
          </p:cNvSpPr>
          <p:nvPr>
            <p:ph idx="1"/>
          </p:nvPr>
        </p:nvSpPr>
        <p:spPr/>
        <p:txBody>
          <a:bodyPr>
            <a:normAutofit/>
          </a:bodyPr>
          <a:lstStyle/>
          <a:p>
            <a:pPr marL="0" indent="0" algn="just">
              <a:buNone/>
            </a:pPr>
            <a:r>
              <a:rPr lang="ru-RU" sz="3200" dirty="0"/>
              <a:t>Направить работника на такой осмотр можно на основании медицинских показаний после болезни. Если врач после больничного направил работника на медосмотр, то образовательная организация обязана его организовать. До этого основанием служили показания после очередного медосмотра.</a:t>
            </a:r>
          </a:p>
        </p:txBody>
      </p:sp>
    </p:spTree>
    <p:extLst>
      <p:ext uri="{BB962C8B-B14F-4D97-AF65-F5344CB8AC3E}">
        <p14:creationId xmlns:p14="http://schemas.microsoft.com/office/powerpoint/2010/main" val="1993405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b="1" dirty="0"/>
              <a:t>К СВЕДЕНИЮ</a:t>
            </a:r>
            <a:endParaRPr lang="ru-RU" dirty="0"/>
          </a:p>
        </p:txBody>
      </p:sp>
      <p:sp>
        <p:nvSpPr>
          <p:cNvPr id="3" name="Объект 2"/>
          <p:cNvSpPr>
            <a:spLocks noGrp="1"/>
          </p:cNvSpPr>
          <p:nvPr>
            <p:ph idx="1"/>
          </p:nvPr>
        </p:nvSpPr>
        <p:spPr/>
        <p:txBody>
          <a:bodyPr/>
          <a:lstStyle/>
          <a:p>
            <a:pPr marL="0" indent="0" algn="ctr">
              <a:buNone/>
            </a:pPr>
            <a:r>
              <a:rPr lang="ru-RU" b="1" dirty="0">
                <a:solidFill>
                  <a:srgbClr val="FF0000"/>
                </a:solidFill>
                <a:effectLst>
                  <a:outerShdw blurRad="38100" dist="38100" dir="2700000" algn="tl">
                    <a:srgbClr val="000000">
                      <a:alpha val="43137"/>
                    </a:srgbClr>
                  </a:outerShdw>
                </a:effectLst>
              </a:rPr>
              <a:t>Данные о медосмотрах внесут в единую информационную систему</a:t>
            </a:r>
          </a:p>
          <a:p>
            <a:pPr marL="0" indent="0" algn="just">
              <a:buNone/>
            </a:pPr>
            <a:r>
              <a:rPr lang="ru-RU" dirty="0"/>
              <a:t>С 31 октября 2021 года вступили в силу поправки в </a:t>
            </a:r>
            <a:r>
              <a:rPr lang="ru-RU" dirty="0">
                <a:hlinkClick r:id="rId2"/>
              </a:rPr>
              <a:t>закон</a:t>
            </a:r>
            <a:r>
              <a:rPr lang="ru-RU" dirty="0"/>
              <a:t> «О санитарно-эпидемиологическом благополучии населения». Теперь все санитарные данные внесут в федеральную информационную систему (ФГИС). В том числе новая система сохранит информацию обо всех предварительных и периодических медосмотрах. Факт прохождения медосмотра достаточно подтвердить медкнижкой работника в бумажном или электронном формате (Федеральный закон от 21.07.2021 № 52-ФЗ).</a:t>
            </a:r>
          </a:p>
          <a:p>
            <a:pPr marL="0" indent="0">
              <a:buNone/>
            </a:pPr>
            <a:endParaRPr lang="ru-RU" dirty="0"/>
          </a:p>
        </p:txBody>
      </p:sp>
    </p:spTree>
    <p:extLst>
      <p:ext uri="{BB962C8B-B14F-4D97-AF65-F5344CB8AC3E}">
        <p14:creationId xmlns:p14="http://schemas.microsoft.com/office/powerpoint/2010/main" val="414756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r"/>
            <a:r>
              <a:rPr lang="ru-RU" sz="2400" b="1" dirty="0" smtClean="0"/>
              <a:t/>
            </a:r>
            <a:br>
              <a:rPr lang="ru-RU" sz="2400" b="1" dirty="0" smtClean="0"/>
            </a:br>
            <a:r>
              <a:rPr lang="ru-RU" sz="2400" b="1" dirty="0"/>
              <a:t/>
            </a:r>
            <a:br>
              <a:rPr lang="ru-RU" sz="2400" b="1" dirty="0"/>
            </a:br>
            <a:r>
              <a:rPr lang="ru-RU" sz="2400" b="1" dirty="0" smtClean="0"/>
              <a:t/>
            </a:r>
            <a:br>
              <a:rPr lang="ru-RU" sz="2400" b="1" dirty="0" smtClean="0"/>
            </a:br>
            <a:r>
              <a:rPr lang="ru-RU" sz="2400" b="1" dirty="0" smtClean="0"/>
              <a:t>Медицинские </a:t>
            </a:r>
            <a:r>
              <a:rPr lang="ru-RU" sz="2400" b="1" dirty="0"/>
              <a:t>осмотры работников с 2021 года: кто должен проходить, как часто и в каких целях — новый приказ 29н</a:t>
            </a:r>
            <a:r>
              <a:rPr lang="ru-RU" b="1" dirty="0"/>
              <a:t/>
            </a:r>
            <a:br>
              <a:rPr lang="ru-RU" b="1" dirty="0"/>
            </a:br>
            <a:endParaRPr lang="ru-RU" dirty="0"/>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1748750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РАЗБЕРЕМСЯ ЕЩЕ РАЗ!!!</a:t>
            </a:r>
            <a:endParaRPr lang="ru-RU" dirty="0"/>
          </a:p>
        </p:txBody>
      </p:sp>
      <p:sp>
        <p:nvSpPr>
          <p:cNvPr id="3" name="Объект 2"/>
          <p:cNvSpPr>
            <a:spLocks noGrp="1"/>
          </p:cNvSpPr>
          <p:nvPr>
            <p:ph idx="1"/>
          </p:nvPr>
        </p:nvSpPr>
        <p:spPr/>
        <p:txBody>
          <a:bodyPr/>
          <a:lstStyle/>
          <a:p>
            <a:pPr marL="0" indent="0" algn="just">
              <a:buNone/>
            </a:pPr>
            <a:r>
              <a:rPr lang="ru-RU" dirty="0"/>
              <a:t>С 1 апреля 2021 года действует новый порядок медосмотров при трудоустройстве (приказ Минздрава </a:t>
            </a:r>
            <a:r>
              <a:rPr lang="ru-RU" dirty="0">
                <a:hlinkClick r:id="rId2"/>
              </a:rPr>
              <a:t>от 28.01.21 № 29н</a:t>
            </a:r>
            <a:r>
              <a:rPr lang="ru-RU" dirty="0"/>
              <a:t>). Согласно порядку, некоторые категории сотрудников по-прежнему должны проходить медосмотры как перед трудоустройством, так и в период работы. А на работодателя возложены обязанности организовать и оплатить такие медосмотры, а также отследить их результаты. Кроме того, он должен передать данные о медосмотрах в ФСС. </a:t>
            </a:r>
          </a:p>
        </p:txBody>
      </p:sp>
    </p:spTree>
    <p:extLst>
      <p:ext uri="{BB962C8B-B14F-4D97-AF65-F5344CB8AC3E}">
        <p14:creationId xmlns:p14="http://schemas.microsoft.com/office/powerpoint/2010/main" val="1775983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Новый приказ по медосмотрам 29н</a:t>
            </a:r>
            <a:br>
              <a:rPr lang="ru-RU" b="1" dirty="0"/>
            </a:br>
            <a:endParaRPr lang="ru-RU" dirty="0"/>
          </a:p>
        </p:txBody>
      </p:sp>
      <p:sp>
        <p:nvSpPr>
          <p:cNvPr id="3" name="Объект 2"/>
          <p:cNvSpPr>
            <a:spLocks noGrp="1"/>
          </p:cNvSpPr>
          <p:nvPr>
            <p:ph idx="1"/>
          </p:nvPr>
        </p:nvSpPr>
        <p:spPr/>
        <p:txBody>
          <a:bodyPr/>
          <a:lstStyle/>
          <a:p>
            <a:pPr marL="0" indent="0" algn="just">
              <a:buNone/>
            </a:pPr>
            <a:r>
              <a:rPr lang="ru-RU" dirty="0"/>
              <a:t>С 1 апреля 2021 года вступил в силу новый порядок проведения обязательных предварительных и периодических медицинских осмотров работников. Он утвержден приказом Минздрава от 28.01.21 № 29н, и будет действовать до 1 апреля 2027 года (далее — Порядок № 29н).</a:t>
            </a:r>
          </a:p>
        </p:txBody>
      </p:sp>
    </p:spTree>
    <p:extLst>
      <p:ext uri="{BB962C8B-B14F-4D97-AF65-F5344CB8AC3E}">
        <p14:creationId xmlns:p14="http://schemas.microsoft.com/office/powerpoint/2010/main" val="3514891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smtClean="0"/>
              <a:t/>
            </a:r>
            <a:br>
              <a:rPr lang="ru-RU" b="1" dirty="0" smtClean="0"/>
            </a:br>
            <a:r>
              <a:rPr lang="ru-RU" b="1" dirty="0" smtClean="0"/>
              <a:t>Виды </a:t>
            </a:r>
            <a:r>
              <a:rPr lang="ru-RU" b="1" dirty="0"/>
              <a:t>медицинских осмотров работников</a:t>
            </a:r>
            <a:br>
              <a:rPr lang="ru-RU" b="1" dirty="0"/>
            </a:br>
            <a:endParaRPr lang="ru-RU" dirty="0"/>
          </a:p>
        </p:txBody>
      </p:sp>
      <p:sp>
        <p:nvSpPr>
          <p:cNvPr id="3" name="Объект 2"/>
          <p:cNvSpPr>
            <a:spLocks noGrp="1"/>
          </p:cNvSpPr>
          <p:nvPr>
            <p:ph idx="1"/>
          </p:nvPr>
        </p:nvSpPr>
        <p:spPr/>
        <p:txBody>
          <a:bodyPr>
            <a:normAutofit fontScale="92500" lnSpcReduction="20000"/>
          </a:bodyPr>
          <a:lstStyle/>
          <a:p>
            <a:pPr marL="0" indent="0" algn="ctr">
              <a:buNone/>
            </a:pPr>
            <a:r>
              <a:rPr lang="ru-RU" b="1" dirty="0">
                <a:solidFill>
                  <a:srgbClr val="FF0000"/>
                </a:solidFill>
                <a:effectLst>
                  <a:outerShdw blurRad="38100" dist="38100" dir="2700000" algn="tl">
                    <a:srgbClr val="000000">
                      <a:alpha val="43137"/>
                    </a:srgbClr>
                  </a:outerShdw>
                </a:effectLst>
              </a:rPr>
              <a:t>Трудовое законодательство выделяет </a:t>
            </a:r>
            <a:endParaRPr lang="ru-RU" b="1" dirty="0" smtClean="0">
              <a:solidFill>
                <a:srgbClr val="FF0000"/>
              </a:solidFill>
              <a:effectLst>
                <a:outerShdw blurRad="38100" dist="38100" dir="2700000" algn="tl">
                  <a:srgbClr val="000000">
                    <a:alpha val="43137"/>
                  </a:srgbClr>
                </a:outerShdw>
              </a:effectLst>
            </a:endParaRPr>
          </a:p>
          <a:p>
            <a:pPr marL="0" indent="0" algn="ctr">
              <a:buNone/>
            </a:pPr>
            <a:r>
              <a:rPr lang="ru-RU" b="1" dirty="0" smtClean="0">
                <a:solidFill>
                  <a:srgbClr val="FF0000"/>
                </a:solidFill>
                <a:effectLst>
                  <a:outerShdw blurRad="38100" dist="38100" dir="2700000" algn="tl">
                    <a:srgbClr val="000000">
                      <a:alpha val="43137"/>
                    </a:srgbClr>
                  </a:outerShdw>
                </a:effectLst>
              </a:rPr>
              <a:t>три </a:t>
            </a:r>
            <a:r>
              <a:rPr lang="ru-RU" b="1" dirty="0">
                <a:solidFill>
                  <a:srgbClr val="FF0000"/>
                </a:solidFill>
                <a:effectLst>
                  <a:outerShdw blurRad="38100" dist="38100" dir="2700000" algn="tl">
                    <a:srgbClr val="000000">
                      <a:alpha val="43137"/>
                    </a:srgbClr>
                  </a:outerShdw>
                </a:effectLst>
              </a:rPr>
              <a:t>вида медосмотров</a:t>
            </a:r>
            <a:r>
              <a:rPr lang="ru-RU" b="1" dirty="0" smtClean="0">
                <a:solidFill>
                  <a:srgbClr val="FF0000"/>
                </a:solidFill>
                <a:effectLst>
                  <a:outerShdw blurRad="38100" dist="38100" dir="2700000" algn="tl">
                    <a:srgbClr val="000000">
                      <a:alpha val="43137"/>
                    </a:srgbClr>
                  </a:outerShdw>
                </a:effectLst>
              </a:rPr>
              <a:t>.</a:t>
            </a:r>
          </a:p>
          <a:p>
            <a:pPr marL="457200" indent="-457200" algn="just">
              <a:buAutoNum type="arabicPeriod"/>
            </a:pPr>
            <a:r>
              <a:rPr lang="ru-RU" u="sng" dirty="0" smtClean="0">
                <a:solidFill>
                  <a:srgbClr val="FF0000"/>
                </a:solidFill>
              </a:rPr>
              <a:t>Предварительные</a:t>
            </a:r>
            <a:r>
              <a:rPr lang="ru-RU" u="sng" dirty="0">
                <a:solidFill>
                  <a:srgbClr val="FF0000"/>
                </a:solidFill>
              </a:rPr>
              <a:t>.</a:t>
            </a:r>
            <a:r>
              <a:rPr lang="ru-RU" dirty="0"/>
              <a:t> Их проходят при поступлении на работу, еще до заключения </a:t>
            </a:r>
            <a:r>
              <a:rPr lang="ru-RU" dirty="0">
                <a:hlinkClick r:id="rId2"/>
              </a:rPr>
              <a:t>трудового договора</a:t>
            </a:r>
            <a:r>
              <a:rPr lang="ru-RU" dirty="0" smtClean="0"/>
              <a:t>.</a:t>
            </a:r>
          </a:p>
          <a:p>
            <a:pPr marL="457200" indent="-457200" algn="just">
              <a:buAutoNum type="arabicPeriod"/>
            </a:pPr>
            <a:r>
              <a:rPr lang="ru-RU" dirty="0" smtClean="0"/>
              <a:t> </a:t>
            </a:r>
            <a:r>
              <a:rPr lang="ru-RU" u="sng" dirty="0">
                <a:solidFill>
                  <a:srgbClr val="FF0000"/>
                </a:solidFill>
              </a:rPr>
              <a:t>Периодические.</a:t>
            </a:r>
            <a:r>
              <a:rPr lang="ru-RU" dirty="0"/>
              <a:t> Они проводятся с определенной частотой в период работы. К этой категории обследований относятся также медицинские осмотры в начале и в конце рабочего дня (смены). Их устанавливают для некоторых категорий работников (например, для </a:t>
            </a:r>
            <a:r>
              <a:rPr lang="ru-RU" dirty="0" smtClean="0"/>
              <a:t>водителей).</a:t>
            </a:r>
          </a:p>
          <a:p>
            <a:pPr marL="457200" indent="-457200" algn="just">
              <a:buAutoNum type="arabicPeriod"/>
            </a:pPr>
            <a:r>
              <a:rPr lang="ru-RU" u="sng" dirty="0" smtClean="0">
                <a:solidFill>
                  <a:srgbClr val="FF0000"/>
                </a:solidFill>
              </a:rPr>
              <a:t>Внеочередные</a:t>
            </a:r>
            <a:r>
              <a:rPr lang="ru-RU" u="sng" dirty="0">
                <a:solidFill>
                  <a:srgbClr val="FF0000"/>
                </a:solidFill>
              </a:rPr>
              <a:t>.</a:t>
            </a:r>
            <a:r>
              <a:rPr lang="ru-RU" dirty="0"/>
              <a:t> Они необходимы при наличии соответствующих медицинских рекомендаций (ч. 1 ст. </a:t>
            </a:r>
            <a:r>
              <a:rPr lang="ru-RU" dirty="0">
                <a:hlinkClick r:id="rId3"/>
              </a:rPr>
              <a:t>213</a:t>
            </a:r>
            <a:r>
              <a:rPr lang="ru-RU" dirty="0"/>
              <a:t> ТК РФ). Такие рекомендации могут быть даны, например, после болезни работника или по результатам регулярного медосмотра (п. 19 Порядка № 29н).</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71736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smtClean="0"/>
              <a:t/>
            </a:r>
            <a:br>
              <a:rPr lang="ru-RU" b="1" dirty="0" smtClean="0"/>
            </a:br>
            <a:r>
              <a:rPr lang="ru-RU" b="1" dirty="0" smtClean="0"/>
              <a:t>Для</a:t>
            </a:r>
            <a:r>
              <a:rPr lang="ru-RU" b="1" dirty="0"/>
              <a:t> чего необходимо проходить медицинские осмотры</a:t>
            </a:r>
            <a:br>
              <a:rPr lang="ru-RU" b="1" dirty="0"/>
            </a:br>
            <a:endParaRPr lang="ru-RU" dirty="0"/>
          </a:p>
        </p:txBody>
      </p:sp>
      <p:sp>
        <p:nvSpPr>
          <p:cNvPr id="3" name="Объект 2"/>
          <p:cNvSpPr>
            <a:spLocks noGrp="1"/>
          </p:cNvSpPr>
          <p:nvPr>
            <p:ph idx="1"/>
          </p:nvPr>
        </p:nvSpPr>
        <p:spPr/>
        <p:txBody>
          <a:bodyPr/>
          <a:lstStyle/>
          <a:p>
            <a:pPr marL="0" indent="0" algn="just">
              <a:buNone/>
            </a:pPr>
            <a:r>
              <a:rPr lang="ru-RU" u="sng" dirty="0">
                <a:solidFill>
                  <a:srgbClr val="FF0000"/>
                </a:solidFill>
                <a:effectLst>
                  <a:outerShdw blurRad="38100" dist="38100" dir="2700000" algn="tl">
                    <a:srgbClr val="000000">
                      <a:alpha val="43137"/>
                    </a:srgbClr>
                  </a:outerShdw>
                </a:effectLst>
              </a:rPr>
              <a:t>Цель любого медосмотра</a:t>
            </a:r>
            <a:r>
              <a:rPr lang="ru-RU" dirty="0"/>
              <a:t> — определить пригодность человека для выполнения поручаемой ему работы и предупредить профзаболевания путем выявления их на начальной стадии. Также медосмотры нужны, чтобы установить медицинские противопоказания к осуществлению отдельных видов работ и обнаружить ранние признаки воздействия вредных и (или) опасных производственных факторов рабочей среды, трудового процесса на состояние здоровья работников. На основе этих данных формируются группы риска развития профессиональных заболеваний.</a:t>
            </a:r>
          </a:p>
        </p:txBody>
      </p:sp>
    </p:spTree>
    <p:extLst>
      <p:ext uri="{BB962C8B-B14F-4D97-AF65-F5344CB8AC3E}">
        <p14:creationId xmlns:p14="http://schemas.microsoft.com/office/powerpoint/2010/main" val="1773080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sz="6700" b="1" dirty="0" smtClean="0"/>
              <a:t/>
            </a:r>
            <a:br>
              <a:rPr lang="ru-RU" sz="6700" b="1" dirty="0" smtClean="0"/>
            </a:br>
            <a:r>
              <a:rPr lang="ru-RU" sz="6700" b="1" dirty="0" smtClean="0"/>
              <a:t>ВАЖНО</a:t>
            </a:r>
            <a:r>
              <a:rPr lang="ru-RU" b="1" dirty="0"/>
              <a:t/>
            </a:r>
            <a:br>
              <a:rPr lang="ru-RU" b="1" dirty="0"/>
            </a:br>
            <a:endParaRPr lang="ru-RU" dirty="0"/>
          </a:p>
        </p:txBody>
      </p:sp>
      <p:sp>
        <p:nvSpPr>
          <p:cNvPr id="3" name="Объект 2"/>
          <p:cNvSpPr>
            <a:spLocks noGrp="1"/>
          </p:cNvSpPr>
          <p:nvPr>
            <p:ph idx="1"/>
          </p:nvPr>
        </p:nvSpPr>
        <p:spPr/>
        <p:txBody>
          <a:bodyPr>
            <a:normAutofit/>
          </a:bodyPr>
          <a:lstStyle/>
          <a:p>
            <a:pPr marL="0" indent="0" algn="ctr">
              <a:buNone/>
            </a:pPr>
            <a:r>
              <a:rPr lang="ru-RU" sz="4000" b="1" dirty="0">
                <a:solidFill>
                  <a:srgbClr val="FF0000"/>
                </a:solidFill>
              </a:rPr>
              <a:t>Работодатель не вправе допускать к выполнению трудовых обязанностей сотрудников, не прошедших обязательный медосмотр (ст. </a:t>
            </a:r>
            <a:r>
              <a:rPr lang="ru-RU" sz="4000" b="1" dirty="0">
                <a:solidFill>
                  <a:srgbClr val="FF0000"/>
                </a:solidFill>
                <a:hlinkClick r:id="rId2"/>
              </a:rPr>
              <a:t>76</a:t>
            </a:r>
            <a:r>
              <a:rPr lang="ru-RU" sz="4000" b="1" dirty="0">
                <a:solidFill>
                  <a:srgbClr val="FF0000"/>
                </a:solidFill>
              </a:rPr>
              <a:t> ТК РФ).</a:t>
            </a:r>
          </a:p>
        </p:txBody>
      </p:sp>
    </p:spTree>
    <p:extLst>
      <p:ext uri="{BB962C8B-B14F-4D97-AF65-F5344CB8AC3E}">
        <p14:creationId xmlns:p14="http://schemas.microsoft.com/office/powerpoint/2010/main" val="3624274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А ЕЩЕ!!!</a:t>
            </a: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sz="3200" dirty="0"/>
              <a:t>Еще одно назначение медосмотра — обеспечение охраны здоровья населения, предупреждение возникновения и распространения заболеваний. В частности, с этой целью обследуются </a:t>
            </a:r>
            <a:r>
              <a:rPr lang="ru-RU" sz="3200" dirty="0" smtClean="0"/>
              <a:t>педагоги, медицинские работники, работники привлечённые к работе с детьми, </a:t>
            </a:r>
            <a:r>
              <a:rPr lang="ru-RU" sz="3200" dirty="0"/>
              <a:t>работники предприятий общепита и других организаций, указанных в части 2 статьи </a:t>
            </a:r>
            <a:r>
              <a:rPr lang="ru-RU" sz="3200" dirty="0">
                <a:hlinkClick r:id="rId2"/>
              </a:rPr>
              <a:t>213</a:t>
            </a:r>
            <a:r>
              <a:rPr lang="ru-RU" sz="3200" dirty="0"/>
              <a:t> ТК РФ.</a:t>
            </a:r>
          </a:p>
        </p:txBody>
      </p:sp>
    </p:spTree>
    <p:extLst>
      <p:ext uri="{BB962C8B-B14F-4D97-AF65-F5344CB8AC3E}">
        <p14:creationId xmlns:p14="http://schemas.microsoft.com/office/powerpoint/2010/main" val="3887941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Основания для медосмотров сотрудников</a:t>
            </a:r>
            <a:br>
              <a:rPr lang="ru-RU" b="1" dirty="0"/>
            </a:br>
            <a:endParaRPr lang="ru-RU" dirty="0"/>
          </a:p>
        </p:txBody>
      </p:sp>
      <p:sp>
        <p:nvSpPr>
          <p:cNvPr id="3" name="Объект 2"/>
          <p:cNvSpPr>
            <a:spLocks noGrp="1"/>
          </p:cNvSpPr>
          <p:nvPr>
            <p:ph idx="1"/>
          </p:nvPr>
        </p:nvSpPr>
        <p:spPr/>
        <p:txBody>
          <a:bodyPr>
            <a:normAutofit fontScale="92500"/>
          </a:bodyPr>
          <a:lstStyle/>
          <a:p>
            <a:pPr marL="0" indent="0" algn="just">
              <a:buNone/>
            </a:pPr>
            <a:r>
              <a:rPr lang="ru-RU" dirty="0"/>
              <a:t>Такие основания перечислены в статьях </a:t>
            </a:r>
            <a:r>
              <a:rPr lang="ru-RU" dirty="0">
                <a:hlinkClick r:id="rId2"/>
              </a:rPr>
              <a:t>213</a:t>
            </a:r>
            <a:r>
              <a:rPr lang="ru-RU" dirty="0"/>
              <a:t>, </a:t>
            </a:r>
            <a:r>
              <a:rPr lang="ru-RU" dirty="0">
                <a:hlinkClick r:id="rId3"/>
              </a:rPr>
              <a:t>298</a:t>
            </a:r>
            <a:r>
              <a:rPr lang="ru-RU" dirty="0"/>
              <a:t> и </a:t>
            </a:r>
            <a:r>
              <a:rPr lang="ru-RU" dirty="0">
                <a:hlinkClick r:id="rId4"/>
              </a:rPr>
              <a:t>324</a:t>
            </a:r>
            <a:r>
              <a:rPr lang="ru-RU" dirty="0"/>
              <a:t>  ТК РФ и в пункте 20 Порядка № 29н. Так, в обязательном порядке проходят медосмотры работники организаций пищевой промышленности, общественного питания и торговли, водопроводных сооружений, медицинских организаций и детских учреждений</a:t>
            </a:r>
            <a:r>
              <a:rPr lang="ru-RU" dirty="0" smtClean="0"/>
              <a:t>.</a:t>
            </a:r>
          </a:p>
          <a:p>
            <a:pPr marL="0" indent="0" algn="just">
              <a:buNone/>
            </a:pPr>
            <a:r>
              <a:rPr lang="ru-RU" dirty="0"/>
              <a:t>Также медосмотры предусмотрены для лиц, занятых на работах с вредными и (или) опасными условиями труда, на подземных работах и работах, связанных с движением транспорта. Перечень таких вредных и (или) опасных производственных факторов, а также работ, при выполнении которых проводятся медосмотры, утвержден приказом Минтруда и Минздрава </a:t>
            </a:r>
            <a:r>
              <a:rPr lang="ru-RU" dirty="0">
                <a:hlinkClick r:id="rId5"/>
              </a:rPr>
              <a:t>от 31.12.20 № 988н/1420н</a:t>
            </a:r>
            <a:r>
              <a:rPr lang="ru-RU" dirty="0"/>
              <a:t>.</a:t>
            </a:r>
          </a:p>
        </p:txBody>
      </p:sp>
    </p:spTree>
    <p:extLst>
      <p:ext uri="{BB962C8B-B14F-4D97-AF65-F5344CB8AC3E}">
        <p14:creationId xmlns:p14="http://schemas.microsoft.com/office/powerpoint/2010/main" val="1866033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А ЕЩЕ?</a:t>
            </a:r>
            <a:endParaRPr lang="ru-RU" dirty="0"/>
          </a:p>
        </p:txBody>
      </p:sp>
      <p:sp>
        <p:nvSpPr>
          <p:cNvPr id="3" name="Объект 2"/>
          <p:cNvSpPr>
            <a:spLocks noGrp="1"/>
          </p:cNvSpPr>
          <p:nvPr>
            <p:ph idx="1"/>
          </p:nvPr>
        </p:nvSpPr>
        <p:spPr/>
        <p:txBody>
          <a:bodyPr/>
          <a:lstStyle/>
          <a:p>
            <a:pPr marL="0" indent="0" algn="just">
              <a:buNone/>
            </a:pPr>
            <a:r>
              <a:rPr lang="ru-RU" dirty="0"/>
              <a:t>Помимо тех, кто занят на работах, указанных в Перечне, проходить медосмотры должны сотрудники, выполняющие работы, предусмотренные Приложением к Порядку № 29н. В частности, в этом Приложении перечислены работы на высоте; работы, связанные с техобслуживанием электроустановок или оборудования под давлением; и др.</a:t>
            </a:r>
          </a:p>
        </p:txBody>
      </p:sp>
    </p:spTree>
    <p:extLst>
      <p:ext uri="{BB962C8B-B14F-4D97-AF65-F5344CB8AC3E}">
        <p14:creationId xmlns:p14="http://schemas.microsoft.com/office/powerpoint/2010/main" val="331956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b="1" dirty="0" smtClean="0"/>
              <a:t/>
            </a:r>
            <a:br>
              <a:rPr lang="ru-RU" b="1" dirty="0" smtClean="0"/>
            </a:br>
            <a:r>
              <a:rPr lang="ru-RU" b="1" dirty="0" smtClean="0"/>
              <a:t>ВНИМАНИЕ</a:t>
            </a:r>
            <a:r>
              <a:rPr lang="ru-RU" b="1" dirty="0"/>
              <a:t/>
            </a:r>
            <a:br>
              <a:rPr lang="ru-RU" b="1" dirty="0"/>
            </a:br>
            <a:endParaRPr lang="ru-RU" dirty="0"/>
          </a:p>
        </p:txBody>
      </p:sp>
      <p:sp>
        <p:nvSpPr>
          <p:cNvPr id="3" name="Объект 2"/>
          <p:cNvSpPr>
            <a:spLocks noGrp="1"/>
          </p:cNvSpPr>
          <p:nvPr>
            <p:ph idx="1"/>
          </p:nvPr>
        </p:nvSpPr>
        <p:spPr/>
        <p:txBody>
          <a:bodyPr/>
          <a:lstStyle/>
          <a:p>
            <a:pPr marL="0" indent="0" algn="just">
              <a:buNone/>
            </a:pPr>
            <a:r>
              <a:rPr lang="ru-RU" dirty="0"/>
              <a:t>Лица в возрасте до 18 лет могут поступить на работу (вне зависимости от ее вида) только после предварительного медосмотра. В дальнейшем, до достижения совершеннолетия, они обязаны проходить ежегодные медосмотры (ст. </a:t>
            </a:r>
            <a:r>
              <a:rPr lang="ru-RU" dirty="0">
                <a:hlinkClick r:id="rId2"/>
              </a:rPr>
              <a:t>266</a:t>
            </a:r>
            <a:r>
              <a:rPr lang="ru-RU" dirty="0"/>
              <a:t> ТК РФ).</a:t>
            </a:r>
          </a:p>
        </p:txBody>
      </p:sp>
    </p:spTree>
    <p:extLst>
      <p:ext uri="{BB962C8B-B14F-4D97-AF65-F5344CB8AC3E}">
        <p14:creationId xmlns:p14="http://schemas.microsoft.com/office/powerpoint/2010/main" val="3123251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r"/>
            <a:r>
              <a:rPr lang="ru-RU" sz="2800" b="1" dirty="0"/>
              <a:t>Кто должен проходить предварительный медицинский осмотр</a:t>
            </a:r>
            <a:br>
              <a:rPr lang="ru-RU" sz="2800" b="1" dirty="0"/>
            </a:br>
            <a:endParaRPr lang="ru-RU" sz="2800" dirty="0"/>
          </a:p>
        </p:txBody>
      </p:sp>
      <p:sp>
        <p:nvSpPr>
          <p:cNvPr id="3" name="Объект 2"/>
          <p:cNvSpPr>
            <a:spLocks noGrp="1"/>
          </p:cNvSpPr>
          <p:nvPr>
            <p:ph idx="1"/>
          </p:nvPr>
        </p:nvSpPr>
        <p:spPr/>
        <p:txBody>
          <a:bodyPr>
            <a:normAutofit fontScale="92500"/>
          </a:bodyPr>
          <a:lstStyle/>
          <a:p>
            <a:pPr marL="0" indent="0" algn="just">
              <a:buNone/>
            </a:pPr>
            <a:r>
              <a:rPr lang="ru-RU" dirty="0"/>
              <a:t>При определении категорий лиц, которых можно взять на работу только при наличии медицинского заключения, нужно ориентироваться на указанные выше критерии. Так, до оформления трудового договора показаться врачам обязаны все работники в возрасте до 18 лет, а также лица, поступающие на работу с вредными и (или) опасными условиями труда, включая подземные работы (ст. 69, ч. 1 ст. 213, ч. 1 ст. </a:t>
            </a:r>
            <a:r>
              <a:rPr lang="ru-RU" dirty="0">
                <a:hlinkClick r:id="rId2"/>
              </a:rPr>
              <a:t>330.3</a:t>
            </a:r>
            <a:r>
              <a:rPr lang="ru-RU" dirty="0"/>
              <a:t> ТК РФ). Перечень таких факторов и работ приведен в упомянутом приказе № 988н/1420н. Также они перечислены в Приложении к Порядку № 29н</a:t>
            </a:r>
            <a:r>
              <a:rPr lang="ru-RU" dirty="0" smtClean="0"/>
              <a:t>.</a:t>
            </a:r>
          </a:p>
          <a:p>
            <a:pPr marL="0" indent="0" algn="just">
              <a:buNone/>
            </a:pPr>
            <a:r>
              <a:rPr lang="ru-RU" dirty="0"/>
              <a:t>Пройти медосмотр перед подписанием трудового договора придется и тем, кто претендует на работу, непосредственно связанную с движением транспортных средств (ч. 1 ст. </a:t>
            </a:r>
            <a:r>
              <a:rPr lang="ru-RU" dirty="0">
                <a:hlinkClick r:id="rId3"/>
              </a:rPr>
              <a:t>213</a:t>
            </a:r>
            <a:r>
              <a:rPr lang="ru-RU" dirty="0"/>
              <a:t>, ч. 2 ст. </a:t>
            </a:r>
            <a:r>
              <a:rPr lang="ru-RU" dirty="0">
                <a:hlinkClick r:id="rId4"/>
              </a:rPr>
              <a:t>328</a:t>
            </a:r>
            <a:r>
              <a:rPr lang="ru-RU" dirty="0"/>
              <a:t> ТК РФ).</a:t>
            </a:r>
          </a:p>
        </p:txBody>
      </p:sp>
    </p:spTree>
    <p:extLst>
      <p:ext uri="{BB962C8B-B14F-4D97-AF65-F5344CB8AC3E}">
        <p14:creationId xmlns:p14="http://schemas.microsoft.com/office/powerpoint/2010/main" val="3800664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ДАЛЕЕ</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a:t>Следующая категория работников, для которых предусмотрены обязательные предварительные медосмотры, — лица, принимаемые на работу в организации пищевой промышленности, общепита и торговли, водопроводных сооружений, медицинские организации и детские учреждения (ч. 2 ст. </a:t>
            </a:r>
            <a:r>
              <a:rPr lang="ru-RU" dirty="0">
                <a:hlinkClick r:id="rId2"/>
              </a:rPr>
              <a:t>213</a:t>
            </a:r>
            <a:r>
              <a:rPr lang="ru-RU" dirty="0"/>
              <a:t> ТК РФ).</a:t>
            </a:r>
          </a:p>
          <a:p>
            <a:pPr marL="0" indent="0" algn="just">
              <a:buNone/>
            </a:pPr>
            <a:r>
              <a:rPr lang="ru-RU" dirty="0"/>
              <a:t>Еще один случай, когда претендента на трудоустройство нужно направить к врачу, связан с планируемой работой вахтовым методом (ст. </a:t>
            </a:r>
            <a:r>
              <a:rPr lang="ru-RU" dirty="0">
                <a:hlinkClick r:id="rId3"/>
              </a:rPr>
              <a:t>298</a:t>
            </a:r>
            <a:r>
              <a:rPr lang="ru-RU" dirty="0"/>
              <a:t> ТК РФ).</a:t>
            </a:r>
          </a:p>
          <a:p>
            <a:pPr marL="0" indent="0" algn="just">
              <a:buNone/>
            </a:pPr>
            <a:r>
              <a:rPr lang="ru-RU" dirty="0"/>
              <a:t>И, наконец, последнее упоминание в Трудовом кодексе предварительного медосмотра касается лиц, привлекаемых на работу в районы Крайнего Севера и приравненные к ним местности, если эти лица переезжают туда из других регионов (ст. </a:t>
            </a:r>
            <a:r>
              <a:rPr lang="ru-RU" dirty="0">
                <a:hlinkClick r:id="rId4"/>
              </a:rPr>
              <a:t>324</a:t>
            </a:r>
            <a:r>
              <a:rPr lang="ru-RU" dirty="0"/>
              <a:t> ТК РФ).</a:t>
            </a:r>
          </a:p>
          <a:p>
            <a:pPr marL="0" indent="0" algn="just">
              <a:buNone/>
            </a:pPr>
            <a:endParaRPr lang="ru-RU" dirty="0"/>
          </a:p>
        </p:txBody>
      </p:sp>
    </p:spTree>
    <p:extLst>
      <p:ext uri="{BB962C8B-B14F-4D97-AF65-F5344CB8AC3E}">
        <p14:creationId xmlns:p14="http://schemas.microsoft.com/office/powerpoint/2010/main" val="3095530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smtClean="0"/>
              <a:t/>
            </a:r>
            <a:br>
              <a:rPr lang="ru-RU" b="1" dirty="0" smtClean="0"/>
            </a:br>
            <a:r>
              <a:rPr lang="ru-RU" b="1" dirty="0" smtClean="0"/>
              <a:t>ВАЖНО</a:t>
            </a:r>
            <a:r>
              <a:rPr lang="ru-RU" b="1" dirty="0"/>
              <a:t/>
            </a:r>
            <a:br>
              <a:rPr lang="ru-RU" b="1" dirty="0"/>
            </a:br>
            <a:endParaRPr lang="ru-RU" dirty="0"/>
          </a:p>
        </p:txBody>
      </p:sp>
      <p:sp>
        <p:nvSpPr>
          <p:cNvPr id="3" name="Объект 2"/>
          <p:cNvSpPr>
            <a:spLocks noGrp="1"/>
          </p:cNvSpPr>
          <p:nvPr>
            <p:ph idx="1"/>
          </p:nvPr>
        </p:nvSpPr>
        <p:spPr/>
        <p:txBody>
          <a:bodyPr/>
          <a:lstStyle/>
          <a:p>
            <a:pPr marL="0" indent="0" algn="just">
              <a:buNone/>
            </a:pPr>
            <a:r>
              <a:rPr lang="ru-RU" dirty="0"/>
              <a:t>Медосмотр, пройденный в период деятельности в другой организации или при обстоятельствах, не связанных с трудоустройством, не может заменить предварительный медосмотр при приеме на работу (письмо </a:t>
            </a:r>
            <a:r>
              <a:rPr lang="ru-RU" dirty="0" err="1"/>
              <a:t>Госинспекции</a:t>
            </a:r>
            <a:r>
              <a:rPr lang="ru-RU" dirty="0"/>
              <a:t> труда в г. Москве от 12.02.20 № 77/10-3961-20-ОБ/18-1299).</a:t>
            </a:r>
          </a:p>
        </p:txBody>
      </p:sp>
    </p:spTree>
    <p:extLst>
      <p:ext uri="{BB962C8B-B14F-4D97-AF65-F5344CB8AC3E}">
        <p14:creationId xmlns:p14="http://schemas.microsoft.com/office/powerpoint/2010/main" val="2188453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r"/>
            <a:r>
              <a:rPr lang="ru-RU" sz="2400" b="1" dirty="0"/>
              <a:t>Порядок проведения предварительных медосмотров. Пошаговая инструкция</a:t>
            </a:r>
            <a:br>
              <a:rPr lang="ru-RU" sz="2400" b="1" dirty="0"/>
            </a:br>
            <a:endParaRPr lang="ru-RU" sz="2400" dirty="0"/>
          </a:p>
        </p:txBody>
      </p:sp>
      <p:sp>
        <p:nvSpPr>
          <p:cNvPr id="3" name="Объект 2"/>
          <p:cNvSpPr>
            <a:spLocks noGrp="1"/>
          </p:cNvSpPr>
          <p:nvPr>
            <p:ph idx="1"/>
          </p:nvPr>
        </p:nvSpPr>
        <p:spPr/>
        <p:txBody>
          <a:bodyPr/>
          <a:lstStyle/>
          <a:p>
            <a:pPr marL="0" indent="0" algn="ctr">
              <a:buNone/>
            </a:pPr>
            <a:r>
              <a:rPr lang="ru-RU" b="1" dirty="0">
                <a:solidFill>
                  <a:srgbClr val="FF0000"/>
                </a:solidFill>
              </a:rPr>
              <a:t>Можно выделить три стадии </a:t>
            </a:r>
            <a:r>
              <a:rPr lang="ru-RU" b="1" dirty="0" smtClean="0">
                <a:solidFill>
                  <a:srgbClr val="FF0000"/>
                </a:solidFill>
              </a:rPr>
              <a:t>проведения</a:t>
            </a:r>
          </a:p>
          <a:p>
            <a:pPr marL="0" indent="0" algn="ctr">
              <a:buNone/>
            </a:pPr>
            <a:r>
              <a:rPr lang="ru-RU" b="1" dirty="0" smtClean="0">
                <a:solidFill>
                  <a:srgbClr val="FF0000"/>
                </a:solidFill>
              </a:rPr>
              <a:t> </a:t>
            </a:r>
            <a:r>
              <a:rPr lang="ru-RU" b="1" dirty="0">
                <a:solidFill>
                  <a:srgbClr val="FF0000"/>
                </a:solidFill>
              </a:rPr>
              <a:t>такого медосмотра. </a:t>
            </a:r>
            <a:endParaRPr lang="ru-RU" b="1" dirty="0" smtClean="0">
              <a:solidFill>
                <a:srgbClr val="FF0000"/>
              </a:solidFill>
            </a:endParaRPr>
          </a:p>
          <a:p>
            <a:pPr marL="0" indent="0" algn="just">
              <a:buNone/>
            </a:pPr>
            <a:r>
              <a:rPr lang="ru-RU" dirty="0"/>
              <a:t>На первой — предварительной — составляется список поступающих на работу лиц, для которых обязателен медосмотр. Этот список носит обобщенный, а не поименный характер: в нем указываются должности (профессии) или работы, при поступлении на которые нужно иметь медицинское заключение, и соответствующие вредные производственные факторы (п. 9 и 10 Порядка № 29н).</a:t>
            </a:r>
            <a:endParaRPr lang="ru-RU" b="1" dirty="0">
              <a:solidFill>
                <a:srgbClr val="FF0000"/>
              </a:solidFill>
            </a:endParaRPr>
          </a:p>
        </p:txBody>
      </p:sp>
    </p:spTree>
    <p:extLst>
      <p:ext uri="{BB962C8B-B14F-4D97-AF65-F5344CB8AC3E}">
        <p14:creationId xmlns:p14="http://schemas.microsoft.com/office/powerpoint/2010/main" val="3104801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ДАЛЕЕ</a:t>
            </a:r>
            <a:endParaRPr lang="ru-RU" dirty="0"/>
          </a:p>
        </p:txBody>
      </p:sp>
      <p:sp>
        <p:nvSpPr>
          <p:cNvPr id="3" name="Объект 2"/>
          <p:cNvSpPr>
            <a:spLocks noGrp="1"/>
          </p:cNvSpPr>
          <p:nvPr>
            <p:ph idx="1"/>
          </p:nvPr>
        </p:nvSpPr>
        <p:spPr/>
        <p:txBody>
          <a:bodyPr/>
          <a:lstStyle/>
          <a:p>
            <a:pPr marL="0" indent="0" algn="just">
              <a:buNone/>
            </a:pPr>
            <a:r>
              <a:rPr lang="ru-RU" dirty="0" smtClean="0"/>
              <a:t>С</a:t>
            </a:r>
            <a:r>
              <a:rPr lang="ru-RU" dirty="0"/>
              <a:t> учетом этого списка работодатель заключает договор на проведение медосмотров с медицинским учреждением (последний </a:t>
            </a:r>
            <a:r>
              <a:rPr lang="ru-RU" dirty="0" err="1"/>
              <a:t>абз</a:t>
            </a:r>
            <a:r>
              <a:rPr lang="ru-RU" dirty="0"/>
              <a:t>. п. 12.4 и п. 14 Порядка № 29н). Здесь заметим, что проводить медосмотры может любая медицинская организация, имеющая соответствующую лицензию (п. 4 Порядка № 29н).</a:t>
            </a:r>
          </a:p>
        </p:txBody>
      </p:sp>
    </p:spTree>
    <p:extLst>
      <p:ext uri="{BB962C8B-B14F-4D97-AF65-F5344CB8AC3E}">
        <p14:creationId xmlns:p14="http://schemas.microsoft.com/office/powerpoint/2010/main" val="3428716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Второй этап</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a:t>Вторая стадия — непосредственно проведение медосмотра. Она начинается с выдачи работодателем лицу, поступающему на работу, направления на медосмотр (п. 8 и 9 Порядка № 29н). В направлении нужно указать целый ряд сведений. А именно: информацию о работодателе (наименование, адрес электронной почты, контактный телефон, форму собственности и код по ОКВЭД) и его структурном подразделении, если таковое имеется; данные о </a:t>
            </a:r>
            <a:r>
              <a:rPr lang="ru-RU" dirty="0" err="1"/>
              <a:t>медорганизации</a:t>
            </a:r>
            <a:r>
              <a:rPr lang="ru-RU" dirty="0"/>
              <a:t> (фактический адрес ее местонахождения и код по ОГРН, электронную почту, контактный телефон); вид медосмотра (предварительный); сведения о лице, поступающем на работу (фамилию, имя, отчество (при наличии), дату рождения и пол); наименование должности (профессии) или вида работы, а также вредные и (или) опасные производственные факторы (заполняется в соответствии с утвержденным на первой стадии списком); номер полиса ОМС и (или) ДМС.</a:t>
            </a:r>
          </a:p>
        </p:txBody>
      </p:sp>
    </p:spTree>
    <p:extLst>
      <p:ext uri="{BB962C8B-B14F-4D97-AF65-F5344CB8AC3E}">
        <p14:creationId xmlns:p14="http://schemas.microsoft.com/office/powerpoint/2010/main" val="198378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sz="6000" b="1" dirty="0" smtClean="0"/>
              <a:t/>
            </a:r>
            <a:br>
              <a:rPr lang="ru-RU" sz="6000" b="1" dirty="0" smtClean="0"/>
            </a:br>
            <a:r>
              <a:rPr lang="ru-RU" sz="6000" b="1" dirty="0" smtClean="0"/>
              <a:t>СОВЕТ</a:t>
            </a:r>
            <a:r>
              <a:rPr lang="ru-RU" b="1" dirty="0"/>
              <a:t/>
            </a:r>
            <a:br>
              <a:rPr lang="ru-RU" b="1" dirty="0"/>
            </a:br>
            <a:endParaRPr lang="ru-RU" dirty="0"/>
          </a:p>
        </p:txBody>
      </p:sp>
      <p:sp>
        <p:nvSpPr>
          <p:cNvPr id="3" name="Объект 2"/>
          <p:cNvSpPr>
            <a:spLocks noGrp="1"/>
          </p:cNvSpPr>
          <p:nvPr>
            <p:ph idx="1"/>
          </p:nvPr>
        </p:nvSpPr>
        <p:spPr/>
        <p:txBody>
          <a:bodyPr>
            <a:normAutofit fontScale="92500"/>
          </a:bodyPr>
          <a:lstStyle/>
          <a:p>
            <a:pPr marL="0" indent="0" algn="just">
              <a:buNone/>
            </a:pPr>
            <a:r>
              <a:rPr lang="ru-RU" dirty="0"/>
              <a:t>Рекомендуем дополнительно сообщить работнику в письменной форме (например, указать в справке), что для прохождения медосмотра необходимы:</a:t>
            </a:r>
          </a:p>
          <a:p>
            <a:r>
              <a:rPr lang="ru-RU" dirty="0"/>
              <a:t>направление;</a:t>
            </a:r>
          </a:p>
          <a:p>
            <a:r>
              <a:rPr lang="ru-RU" dirty="0"/>
              <a:t>паспорт;</a:t>
            </a:r>
          </a:p>
          <a:p>
            <a:r>
              <a:rPr lang="ru-RU" dirty="0"/>
              <a:t>СНИЛС;</a:t>
            </a:r>
          </a:p>
          <a:p>
            <a:r>
              <a:rPr lang="ru-RU" dirty="0"/>
              <a:t>полис ОМС или ДМС.</a:t>
            </a:r>
          </a:p>
          <a:p>
            <a:pPr marL="0" indent="0" algn="just">
              <a:buNone/>
            </a:pPr>
            <a:r>
              <a:rPr lang="ru-RU" b="1" dirty="0" smtClean="0">
                <a:solidFill>
                  <a:srgbClr val="FF0000"/>
                </a:solidFill>
              </a:rPr>
              <a:t>ВНИМАНИЕ!!! Направление </a:t>
            </a:r>
            <a:r>
              <a:rPr lang="ru-RU" b="1" dirty="0">
                <a:solidFill>
                  <a:srgbClr val="FF0000"/>
                </a:solidFill>
              </a:rPr>
              <a:t>подписывается уполномоченным представителем работодателя. Указываются должность и ФИО этого лица (п. 9 Порядка № 29н). Сведения о выданном направлении заносятся в специальный журнал или иную форму учета, которую ведет работодатель.</a:t>
            </a:r>
          </a:p>
        </p:txBody>
      </p:sp>
    </p:spTree>
    <p:extLst>
      <p:ext uri="{BB962C8B-B14F-4D97-AF65-F5344CB8AC3E}">
        <p14:creationId xmlns:p14="http://schemas.microsoft.com/office/powerpoint/2010/main" val="666244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РЕЗУЛЬТАТ!!!</a:t>
            </a:r>
            <a:endParaRPr lang="ru-RU" dirty="0"/>
          </a:p>
        </p:txBody>
      </p:sp>
      <p:sp>
        <p:nvSpPr>
          <p:cNvPr id="3" name="Объект 2"/>
          <p:cNvSpPr>
            <a:spLocks noGrp="1"/>
          </p:cNvSpPr>
          <p:nvPr>
            <p:ph idx="1"/>
          </p:nvPr>
        </p:nvSpPr>
        <p:spPr/>
        <p:txBody>
          <a:bodyPr/>
          <a:lstStyle/>
          <a:p>
            <a:pPr marL="0" indent="0" algn="just">
              <a:buNone/>
            </a:pPr>
            <a:r>
              <a:rPr lang="ru-RU" dirty="0"/>
              <a:t>С этим направлением, а также комплектом личных документов (паспорт, СНИЛС, полис) кандидат на работу отправляется в медицинское учреждение для прохождения комиссии. По ее результатам оформляется заключение в трех экземплярах. Один из них получает сам будущий работник, второй остается в </a:t>
            </a:r>
            <a:r>
              <a:rPr lang="ru-RU" dirty="0" err="1"/>
              <a:t>медорганизации</a:t>
            </a:r>
            <a:r>
              <a:rPr lang="ru-RU" dirty="0"/>
              <a:t> и приобщается к амбулаторной карте, а третий направляется работодателю (п. 15 и 17 Порядка № 29н).</a:t>
            </a:r>
          </a:p>
        </p:txBody>
      </p:sp>
    </p:spTree>
    <p:extLst>
      <p:ext uri="{BB962C8B-B14F-4D97-AF65-F5344CB8AC3E}">
        <p14:creationId xmlns:p14="http://schemas.microsoft.com/office/powerpoint/2010/main" val="250987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b="1" dirty="0" smtClean="0"/>
              <a:t/>
            </a:r>
            <a:br>
              <a:rPr lang="ru-RU" b="1" dirty="0" smtClean="0"/>
            </a:br>
            <a:r>
              <a:rPr lang="ru-RU" b="1" dirty="0" smtClean="0"/>
              <a:t>ВНИМАНИЕ</a:t>
            </a:r>
            <a:r>
              <a:rPr lang="ru-RU" b="1" dirty="0"/>
              <a:t/>
            </a:r>
            <a:br>
              <a:rPr lang="ru-RU" b="1" dirty="0"/>
            </a:b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dirty="0"/>
              <a:t>В ряде случаев данные о прохождении медосмотра заносятся в личную медицинскую книжку (п. 5 ст. </a:t>
            </a:r>
            <a:r>
              <a:rPr lang="ru-RU" dirty="0">
                <a:hlinkClick r:id="rId2"/>
              </a:rPr>
              <a:t>34</a:t>
            </a:r>
            <a:r>
              <a:rPr lang="ru-RU" dirty="0"/>
              <a:t> Федерального закона от 30.03.99 № 52-ФЗ «О санитарно-эпидемиологическом благополучии населения»). К примеру, такой документ выдается работникам организаций, деятельность которых связана с производством, хранением, транспортировкой и реализацией пищевых продуктов и питьевой воды; воспитанием и обучением детей; коммунальным и бытовым обслуживанием населения. Личная медицинская книжка работника должна содержать печать организации </a:t>
            </a:r>
            <a:r>
              <a:rPr lang="ru-RU" dirty="0" err="1"/>
              <a:t>Роспотребнадзора</a:t>
            </a:r>
            <a:r>
              <a:rPr lang="ru-RU" dirty="0"/>
              <a:t>, выдавшей ее, и подпись владельца. Медкнижка хранится у работодателя.</a:t>
            </a:r>
          </a:p>
        </p:txBody>
      </p:sp>
    </p:spTree>
    <p:extLst>
      <p:ext uri="{BB962C8B-B14F-4D97-AF65-F5344CB8AC3E}">
        <p14:creationId xmlns:p14="http://schemas.microsoft.com/office/powerpoint/2010/main" val="2813593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ТРЕТИЙ ЭТАП</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a:t>На третьей стадии работодатель принимает решение по итогам медосмотра и оформляет соответствующую документацию. Если в медицинском заключении указаны противопоказания для выполнения работы по определенной должности, профессии или для выполнения определенного вида работы, работодатель не может допустить кандидата к соответствующей работе. А значит, нужно отказать соискателю в заключении трудового договора. Аналогичным образом следует поступить, если по результатам медосмотра выдана справка о необходимости дополнительного </a:t>
            </a:r>
            <a:r>
              <a:rPr lang="ru-RU" dirty="0" err="1"/>
              <a:t>медобследования</a:t>
            </a:r>
            <a:r>
              <a:rPr lang="ru-RU" dirty="0"/>
              <a:t> (п. 14 Порядка № 29н).</a:t>
            </a:r>
          </a:p>
          <a:p>
            <a:pPr marL="0" indent="0" algn="just">
              <a:buNone/>
            </a:pPr>
            <a:r>
              <a:rPr lang="ru-RU" dirty="0"/>
              <a:t>Если же противопоказаний нет, то с кандидатом оформляется трудовой договор. А информацию о проведенном медосмотре нужно включить в состав 4-ФСС (таблица 5). Эти сведения будут учтены при расчете скидок и надбавок к страховому тарифу по взносам на «травматизм».</a:t>
            </a:r>
          </a:p>
          <a:p>
            <a:pPr marL="0" indent="0">
              <a:buNone/>
            </a:pPr>
            <a:endParaRPr lang="ru-RU" dirty="0"/>
          </a:p>
        </p:txBody>
      </p:sp>
    </p:spTree>
    <p:extLst>
      <p:ext uri="{BB962C8B-B14F-4D97-AF65-F5344CB8AC3E}">
        <p14:creationId xmlns:p14="http://schemas.microsoft.com/office/powerpoint/2010/main" val="3404606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sz="3100" b="1" dirty="0" smtClean="0"/>
              <a:t/>
            </a:r>
            <a:br>
              <a:rPr lang="ru-RU" sz="3100" b="1" dirty="0" smtClean="0"/>
            </a:br>
            <a:r>
              <a:rPr lang="ru-RU" sz="3100" b="1" dirty="0" smtClean="0"/>
              <a:t>Как </a:t>
            </a:r>
            <a:r>
              <a:rPr lang="ru-RU" sz="3100" b="1" dirty="0"/>
              <a:t>провести периодический медосмотр работников: пошаговая инструкция</a:t>
            </a:r>
            <a:r>
              <a:rPr lang="ru-RU" b="1" dirty="0"/>
              <a:t/>
            </a:r>
            <a:br>
              <a:rPr lang="ru-RU" b="1" dirty="0"/>
            </a:b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dirty="0"/>
              <a:t>В этом случае на предварительной стадии работодатель также сначала составляет обобщенный список работников, которые обязаны посетить медкомиссию (п. 20 Порядка № 29н). На основании этого списка заключается договор с медицинской организацией.</a:t>
            </a:r>
          </a:p>
          <a:p>
            <a:pPr marL="0" indent="0" algn="just">
              <a:buNone/>
            </a:pPr>
            <a:r>
              <a:rPr lang="ru-RU" dirty="0"/>
              <a:t>Потом формируется второй, уже поименный, список работников, направляемых на медосмотр (п. 24 Порядка № 29н). В нем указываются данные о каждом работнике: ФИО, профессия или должность, стаж работы в компании, повод для медосмотра (вредные факторы) и структурное подразделение организации, если таковое имеется (п. 23 Порядка № 29н).</a:t>
            </a:r>
          </a:p>
          <a:p>
            <a:pPr marL="0" indent="0" algn="just">
              <a:buNone/>
            </a:pPr>
            <a:endParaRPr lang="ru-RU" dirty="0"/>
          </a:p>
        </p:txBody>
      </p:sp>
    </p:spTree>
    <p:extLst>
      <p:ext uri="{BB962C8B-B14F-4D97-AF65-F5344CB8AC3E}">
        <p14:creationId xmlns:p14="http://schemas.microsoft.com/office/powerpoint/2010/main" val="1186680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ДАЛЕЕ</a:t>
            </a:r>
            <a:endParaRPr lang="ru-RU" dirty="0"/>
          </a:p>
        </p:txBody>
      </p:sp>
      <p:sp>
        <p:nvSpPr>
          <p:cNvPr id="3" name="Объект 2"/>
          <p:cNvSpPr>
            <a:spLocks noGrp="1"/>
          </p:cNvSpPr>
          <p:nvPr>
            <p:ph idx="1"/>
          </p:nvPr>
        </p:nvSpPr>
        <p:spPr/>
        <p:txBody>
          <a:bodyPr/>
          <a:lstStyle/>
          <a:p>
            <a:pPr marL="0" indent="0" algn="just">
              <a:buNone/>
            </a:pPr>
            <a:r>
              <a:rPr lang="ru-RU" dirty="0"/>
              <a:t>Поименный список не позднее чем за два месяца до согласованной в договоре даты начала проведения периодического медосмотра направляется в </a:t>
            </a:r>
            <a:r>
              <a:rPr lang="ru-RU" dirty="0" err="1"/>
              <a:t>медорганизацию</a:t>
            </a:r>
            <a:r>
              <a:rPr lang="ru-RU" dirty="0"/>
              <a:t>. На основе этого списка формируется календарный план-график медосмотров (п. 24 и 26 Порядка № 29н). Подготовленный медучреждением план-график согласовывается с работодателем и утверждается руководителем </a:t>
            </a:r>
            <a:r>
              <a:rPr lang="ru-RU" dirty="0" err="1"/>
              <a:t>медорганизации</a:t>
            </a:r>
            <a:r>
              <a:rPr lang="ru-RU" dirty="0"/>
              <a:t> (п. 26 Порядка № 29н). С утвержденным планом нужно ознакомить всех указанных в нем работников не позднее чем за 10 рабочих дней до согласованной даты начала проведения осмотра (п. 27 Порядка № 29н).</a:t>
            </a:r>
          </a:p>
        </p:txBody>
      </p:sp>
    </p:spTree>
    <p:extLst>
      <p:ext uri="{BB962C8B-B14F-4D97-AF65-F5344CB8AC3E}">
        <p14:creationId xmlns:p14="http://schemas.microsoft.com/office/powerpoint/2010/main" val="3841457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ВНИМАНИЕ</a:t>
            </a:r>
            <a:endParaRPr lang="ru-RU" dirty="0"/>
          </a:p>
        </p:txBody>
      </p:sp>
      <p:sp>
        <p:nvSpPr>
          <p:cNvPr id="3" name="Объект 2"/>
          <p:cNvSpPr>
            <a:spLocks noGrp="1"/>
          </p:cNvSpPr>
          <p:nvPr>
            <p:ph idx="1"/>
          </p:nvPr>
        </p:nvSpPr>
        <p:spPr/>
        <p:txBody>
          <a:bodyPr/>
          <a:lstStyle/>
          <a:p>
            <a:pPr marL="0" indent="0" algn="just">
              <a:buNone/>
            </a:pPr>
            <a:r>
              <a:rPr lang="ru-RU" dirty="0"/>
              <a:t>На этом подготовительная стадия заканчивается и начинается основной этап проведения медосмотра. Так же, как и в случае с предварительным медосмотром, работодатель выдает работникам (под подпись) соответствующие направления (п. 9 и 25 Порядка № 29н), а сведения о них вносит в журнал учета.</a:t>
            </a:r>
          </a:p>
        </p:txBody>
      </p:sp>
    </p:spTree>
    <p:extLst>
      <p:ext uri="{BB962C8B-B14F-4D97-AF65-F5344CB8AC3E}">
        <p14:creationId xmlns:p14="http://schemas.microsoft.com/office/powerpoint/2010/main" val="1792639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b="1" dirty="0" smtClean="0"/>
              <a:t/>
            </a:r>
            <a:br>
              <a:rPr lang="ru-RU" b="1" dirty="0" smtClean="0"/>
            </a:br>
            <a:r>
              <a:rPr lang="ru-RU" b="1" dirty="0" smtClean="0"/>
              <a:t>ВАЖНО</a:t>
            </a:r>
            <a:r>
              <a:rPr lang="ru-RU" b="1" dirty="0"/>
              <a:t/>
            </a:r>
            <a:br>
              <a:rPr lang="ru-RU" b="1" dirty="0"/>
            </a:br>
            <a:endParaRPr lang="ru-RU" dirty="0"/>
          </a:p>
        </p:txBody>
      </p:sp>
      <p:sp>
        <p:nvSpPr>
          <p:cNvPr id="3" name="Объект 2"/>
          <p:cNvSpPr>
            <a:spLocks noGrp="1"/>
          </p:cNvSpPr>
          <p:nvPr>
            <p:ph idx="1"/>
          </p:nvPr>
        </p:nvSpPr>
        <p:spPr/>
        <p:txBody>
          <a:bodyPr/>
          <a:lstStyle/>
          <a:p>
            <a:pPr marL="0" indent="0" algn="just">
              <a:buNone/>
            </a:pPr>
            <a:r>
              <a:rPr lang="ru-RU" dirty="0"/>
              <a:t>Необходимо проинформировать работника, что для прохождения периодического медосмотра надо прибыть в медицинскую организацию в день, установленный календарным планом. Если эта </a:t>
            </a:r>
            <a:r>
              <a:rPr lang="ru-RU" dirty="0" err="1"/>
              <a:t>медорганизация</a:t>
            </a:r>
            <a:r>
              <a:rPr lang="ru-RU" dirty="0"/>
              <a:t> удалена от места нахождения работодателя, последний оплачивает проезд и проживание сотрудника в месте проведения медосмотра (письмо Минтруда </a:t>
            </a:r>
            <a:r>
              <a:rPr lang="ru-RU" dirty="0">
                <a:hlinkClick r:id="rId2"/>
              </a:rPr>
              <a:t>от 22.01.20 № 15-2/В-137</a:t>
            </a:r>
            <a:r>
              <a:rPr lang="ru-RU" dirty="0"/>
              <a:t>).</a:t>
            </a:r>
          </a:p>
        </p:txBody>
      </p:sp>
    </p:spTree>
    <p:extLst>
      <p:ext uri="{BB962C8B-B14F-4D97-AF65-F5344CB8AC3E}">
        <p14:creationId xmlns:p14="http://schemas.microsoft.com/office/powerpoint/2010/main" val="1271087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a:t>С данным направлением и личными документами (паспорт, СНИЛС, полис) работник посещает медучреждение и проходит комиссию. По результатам обследования составляется </a:t>
            </a:r>
            <a:r>
              <a:rPr lang="ru-RU" dirty="0" err="1"/>
              <a:t>медзаключение</a:t>
            </a:r>
            <a:r>
              <a:rPr lang="ru-RU" dirty="0"/>
              <a:t>. Один экземпляр передается работодателю.</a:t>
            </a:r>
          </a:p>
          <a:p>
            <a:pPr marL="0" indent="0" algn="just">
              <a:buNone/>
            </a:pPr>
            <a:r>
              <a:rPr lang="ru-RU" dirty="0"/>
              <a:t>На последнем этапе работодатель принимает организационные решения по итогам медосмотра. Так, если в заключении указаны противопоказания для выполнения определенной работы, следует незамедлительно отстранить сотрудника от такой деятельности. Отстранение оформляется приказом или распоряжением.</a:t>
            </a:r>
          </a:p>
          <a:p>
            <a:pPr marL="0" indent="0">
              <a:buNone/>
            </a:pPr>
            <a:endParaRPr lang="ru-RU" dirty="0"/>
          </a:p>
        </p:txBody>
      </p:sp>
    </p:spTree>
    <p:extLst>
      <p:ext uri="{BB962C8B-B14F-4D97-AF65-F5344CB8AC3E}">
        <p14:creationId xmlns:p14="http://schemas.microsoft.com/office/powerpoint/2010/main" val="4245286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ИСКЛЮЧЕНИЕ</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a:t>В </a:t>
            </a:r>
            <a:r>
              <a:rPr lang="ru-RU" dirty="0" err="1"/>
              <a:t>медзаключении</a:t>
            </a:r>
            <a:r>
              <a:rPr lang="ru-RU" dirty="0"/>
              <a:t> может быть сказано, что работник нуждается в переводе на другую работу. Документы на перевод оформляются только при наличии письменного согласия работника. Если работник не готов сменить вид деятельности, либо в компании нет подходящий вакансии, уволить его можно лишь в том случае, если в соответствии с медицинским заключением он нуждается во временном переводе на срок более 4-х месяцев или в постоянном переводе. В такой ситуации трудовой договор прекращается на основании пункта 8 части 1 статьи </a:t>
            </a:r>
            <a:r>
              <a:rPr lang="ru-RU" dirty="0">
                <a:hlinkClick r:id="rId2"/>
              </a:rPr>
              <a:t>77</a:t>
            </a:r>
            <a:r>
              <a:rPr lang="ru-RU" dirty="0"/>
              <a:t> ТК РФ. Если же установленный врачами срок перевода составляет менее 4 месяцев, то уволить по данному основанию работника, не согласного на перевод, нельзя. Необходимо отстранить его от неподходящей по </a:t>
            </a:r>
            <a:r>
              <a:rPr lang="ru-RU" dirty="0" err="1"/>
              <a:t>медпоказаниям</a:t>
            </a:r>
            <a:r>
              <a:rPr lang="ru-RU" dirty="0"/>
              <a:t> работы на весь указанный в заключении срок перевода. Зарплата за этот период не выплачивается.</a:t>
            </a:r>
          </a:p>
        </p:txBody>
      </p:sp>
    </p:spTree>
    <p:extLst>
      <p:ext uri="{BB962C8B-B14F-4D97-AF65-F5344CB8AC3E}">
        <p14:creationId xmlns:p14="http://schemas.microsoft.com/office/powerpoint/2010/main" val="981698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r"/>
            <a:r>
              <a:rPr lang="ru-RU" dirty="0" smtClean="0"/>
              <a:t>ИТОГ</a:t>
            </a:r>
            <a:endParaRPr lang="ru-RU" dirty="0"/>
          </a:p>
        </p:txBody>
      </p:sp>
      <p:sp>
        <p:nvSpPr>
          <p:cNvPr id="3" name="Объект 2"/>
          <p:cNvSpPr>
            <a:spLocks noGrp="1"/>
          </p:cNvSpPr>
          <p:nvPr>
            <p:ph idx="1"/>
          </p:nvPr>
        </p:nvSpPr>
        <p:spPr/>
        <p:txBody>
          <a:bodyPr>
            <a:normAutofit/>
          </a:bodyPr>
          <a:lstStyle/>
          <a:p>
            <a:pPr marL="0" indent="0" algn="just">
              <a:buNone/>
            </a:pPr>
            <a:r>
              <a:rPr lang="ru-RU" dirty="0"/>
              <a:t>Если же противопоказаний не выявлено, отдельных организационных решений не принимается, и сотрудник продолжает выполнять свою трудовую функцию.</a:t>
            </a:r>
          </a:p>
          <a:p>
            <a:pPr marL="0" indent="0" algn="just">
              <a:buNone/>
            </a:pPr>
            <a:r>
              <a:rPr lang="ru-RU" dirty="0"/>
              <a:t>Завершается этот этап тем, что </a:t>
            </a:r>
            <a:r>
              <a:rPr lang="ru-RU" dirty="0" err="1"/>
              <a:t>медорганизация</a:t>
            </a:r>
            <a:r>
              <a:rPr lang="ru-RU" dirty="0"/>
              <a:t> составляет специальный заключительный акт. Он содержит данные о лицах, прошедших медосмотр, не прошедших медосмотр и не завершивших его. Также в акте указываются сведения о тех работниках, которым предварительно диагностировано профессиональное заболевание. Наконец, в этом документе даются рекомендации работодателю по реализации комплекса оздоровительных мероприятий.</a:t>
            </a:r>
          </a:p>
          <a:p>
            <a:pPr marL="0" indent="0">
              <a:buNone/>
            </a:pPr>
            <a:endParaRPr lang="ru-RU" dirty="0"/>
          </a:p>
        </p:txBody>
      </p:sp>
    </p:spTree>
    <p:extLst>
      <p:ext uri="{BB962C8B-B14F-4D97-AF65-F5344CB8AC3E}">
        <p14:creationId xmlns:p14="http://schemas.microsoft.com/office/powerpoint/2010/main" val="35730880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sz="5300" b="1" dirty="0" smtClean="0"/>
              <a:t/>
            </a:r>
            <a:br>
              <a:rPr lang="ru-RU" sz="5300" b="1" dirty="0" smtClean="0"/>
            </a:br>
            <a:r>
              <a:rPr lang="ru-RU" sz="5300" b="1" dirty="0" smtClean="0"/>
              <a:t>ВАЖНО</a:t>
            </a:r>
            <a:r>
              <a:rPr lang="ru-RU" b="1" dirty="0"/>
              <a:t/>
            </a:r>
            <a:br>
              <a:rPr lang="ru-RU" b="1" dirty="0"/>
            </a:br>
            <a:endParaRPr lang="ru-RU" dirty="0"/>
          </a:p>
        </p:txBody>
      </p:sp>
      <p:sp>
        <p:nvSpPr>
          <p:cNvPr id="3" name="Объект 2"/>
          <p:cNvSpPr>
            <a:spLocks noGrp="1"/>
          </p:cNvSpPr>
          <p:nvPr>
            <p:ph idx="1"/>
          </p:nvPr>
        </p:nvSpPr>
        <p:spPr/>
        <p:txBody>
          <a:bodyPr/>
          <a:lstStyle/>
          <a:p>
            <a:pPr marL="0" indent="0" algn="ctr">
              <a:buNone/>
            </a:pPr>
            <a:r>
              <a:rPr lang="ru-RU" dirty="0">
                <a:solidFill>
                  <a:srgbClr val="FF0000"/>
                </a:solidFill>
              </a:rPr>
              <a:t>Указанный акт может содержать рекомендации, являющиеся основанием для проведения внеочередных медосмотров работников (п. 19 и 45 Порядка № 29н).</a:t>
            </a:r>
          </a:p>
          <a:p>
            <a:pPr marL="0" indent="0" algn="just">
              <a:buNone/>
            </a:pPr>
            <a:r>
              <a:rPr lang="ru-RU" dirty="0"/>
              <a:t>После завершения всей процедуры данные о проведенном периодическом медосмотре включаются в форму 4-ФСС.</a:t>
            </a:r>
          </a:p>
          <a:p>
            <a:pPr marL="0" indent="0">
              <a:buNone/>
            </a:pPr>
            <a:endParaRPr lang="ru-RU" dirty="0"/>
          </a:p>
        </p:txBody>
      </p:sp>
    </p:spTree>
    <p:extLst>
      <p:ext uri="{BB962C8B-B14F-4D97-AF65-F5344CB8AC3E}">
        <p14:creationId xmlns:p14="http://schemas.microsoft.com/office/powerpoint/2010/main" val="899018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Расходы на прохождение работниками медосмотра</a:t>
            </a:r>
            <a:br>
              <a:rPr lang="ru-RU" b="1" dirty="0"/>
            </a:br>
            <a:endParaRPr lang="ru-RU" dirty="0"/>
          </a:p>
        </p:txBody>
      </p:sp>
      <p:sp>
        <p:nvSpPr>
          <p:cNvPr id="3" name="Объект 2"/>
          <p:cNvSpPr>
            <a:spLocks noGrp="1"/>
          </p:cNvSpPr>
          <p:nvPr>
            <p:ph idx="1"/>
          </p:nvPr>
        </p:nvSpPr>
        <p:spPr/>
        <p:txBody>
          <a:bodyPr>
            <a:normAutofit fontScale="85000" lnSpcReduction="10000"/>
          </a:bodyPr>
          <a:lstStyle/>
          <a:p>
            <a:pPr marL="0" indent="0" algn="just">
              <a:buNone/>
            </a:pPr>
            <a:r>
              <a:rPr lang="ru-RU" dirty="0"/>
              <a:t>Такие расходы всегда несет работодатель. При этом Порядок № 29н предусматривает, что медосмотры проводятся исключительно на основании договора, который работодатель заключил с </a:t>
            </a:r>
            <a:r>
              <a:rPr lang="ru-RU" dirty="0" err="1"/>
              <a:t>медорганизацией</a:t>
            </a:r>
            <a:r>
              <a:rPr lang="ru-RU" dirty="0"/>
              <a:t>, и по направлению, выданному в рамках этого договора. Это следует из последнего абзаца пункта 12.4 и пункта 14 Порядка № 29н.</a:t>
            </a:r>
          </a:p>
          <a:p>
            <a:pPr marL="0" indent="0" algn="just">
              <a:buNone/>
            </a:pPr>
            <a:r>
              <a:rPr lang="ru-RU" dirty="0"/>
              <a:t>В связи с этим практика прохождения работниками медосмотров за свой счет с последующей компенсацией расходов может стать поводом для привлечения работодателя к ответственности за нарушение трудового законодательства. Также есть большая вероятность, что ИФНС «снимет» соответствующие расходы. Кроме того, на данную компенсация придется начислить страховые взносы (письмо ФНС </a:t>
            </a:r>
            <a:r>
              <a:rPr lang="ru-RU" dirty="0">
                <a:hlinkClick r:id="rId2"/>
              </a:rPr>
              <a:t>от 27.01.20 № БС-4-11/1082@</a:t>
            </a:r>
            <a:r>
              <a:rPr lang="ru-RU" dirty="0"/>
              <a:t>). Заметим, что компаниям удается отстоять в суде право не платить взносы с сумм возмещения работникам расходов на </a:t>
            </a:r>
            <a:r>
              <a:rPr lang="ru-RU" dirty="0" smtClean="0"/>
              <a:t>медосмотр.</a:t>
            </a:r>
            <a:endParaRPr lang="ru-RU" dirty="0"/>
          </a:p>
        </p:txBody>
      </p:sp>
    </p:spTree>
    <p:extLst>
      <p:ext uri="{BB962C8B-B14F-4D97-AF65-F5344CB8AC3E}">
        <p14:creationId xmlns:p14="http://schemas.microsoft.com/office/powerpoint/2010/main" val="2278751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r"/>
            <a:r>
              <a:rPr lang="ru-RU" b="1" dirty="0"/>
              <a:t>Последствия отсутствия медицинского осмотра</a:t>
            </a:r>
            <a:br>
              <a:rPr lang="ru-RU" b="1" dirty="0"/>
            </a:br>
            <a:endParaRPr lang="ru-RU" dirty="0"/>
          </a:p>
        </p:txBody>
      </p:sp>
      <p:sp>
        <p:nvSpPr>
          <p:cNvPr id="3" name="Объект 2"/>
          <p:cNvSpPr>
            <a:spLocks noGrp="1"/>
          </p:cNvSpPr>
          <p:nvPr>
            <p:ph idx="1"/>
          </p:nvPr>
        </p:nvSpPr>
        <p:spPr/>
        <p:txBody>
          <a:bodyPr>
            <a:normAutofit fontScale="85000" lnSpcReduction="10000"/>
          </a:bodyPr>
          <a:lstStyle/>
          <a:p>
            <a:pPr marL="0" indent="0" algn="just">
              <a:buNone/>
            </a:pPr>
            <a:r>
              <a:rPr lang="ru-RU" dirty="0"/>
              <a:t>Если работник отказался пройти медосмотр или уклонился от обследования (в </a:t>
            </a:r>
            <a:r>
              <a:rPr lang="ru-RU" dirty="0" err="1"/>
              <a:t>т.ч</a:t>
            </a:r>
            <a:r>
              <a:rPr lang="ru-RU" dirty="0"/>
              <a:t>. не завершил необходимые исследования и осмотры), работодатель не вправе допустить его к работе. В этом случае сотрудник отстраняется от работы на весь период до момента прохождения медосмотра. Заработная плата на это время не сохраняется (ст. </a:t>
            </a:r>
            <a:r>
              <a:rPr lang="ru-RU" dirty="0">
                <a:hlinkClick r:id="rId2"/>
              </a:rPr>
              <a:t>76</a:t>
            </a:r>
            <a:r>
              <a:rPr lang="ru-RU" dirty="0"/>
              <a:t> ТК РФ).</a:t>
            </a:r>
          </a:p>
          <a:p>
            <a:pPr marL="0" indent="0" algn="just">
              <a:buNone/>
            </a:pPr>
            <a:r>
              <a:rPr lang="ru-RU" dirty="0"/>
              <a:t>Также отказ пройти обязательный медицинский осмотр может стать поводом для применения дисциплинарного взыскания, в том числе увольнения (п. 1 ст. </a:t>
            </a:r>
            <a:r>
              <a:rPr lang="ru-RU" dirty="0">
                <a:hlinkClick r:id="rId3"/>
              </a:rPr>
              <a:t>192</a:t>
            </a:r>
            <a:r>
              <a:rPr lang="ru-RU" dirty="0"/>
              <a:t> ТК РФ). Кроме того, имеющего дисциплинарное взыскание работника, который неоднократно не исполнял без уважительных причин трудовые обязанности, можно уволить по пункту 5 части 1 статьи </a:t>
            </a:r>
            <a:r>
              <a:rPr lang="ru-RU" dirty="0">
                <a:hlinkClick r:id="rId4"/>
              </a:rPr>
              <a:t>81</a:t>
            </a:r>
            <a:r>
              <a:rPr lang="ru-RU" dirty="0"/>
              <a:t> ТК РФ (подп. «в» п. 35 постановления Пленума Верховного суда от 17.03.04 № 2</a:t>
            </a:r>
            <a:r>
              <a:rPr lang="ru-RU" dirty="0" smtClean="0"/>
              <a:t>).</a:t>
            </a:r>
          </a:p>
          <a:p>
            <a:pPr marL="0" indent="0" algn="just">
              <a:buNone/>
            </a:pPr>
            <a:r>
              <a:rPr lang="ru-RU" dirty="0"/>
              <a:t>Если же обследование должен был пройти кандидат на работу, но он этого не сделал, то данный факт является препятствием для оформления трудового договора. Такому претенденту нужно отказать в трудоустройстве (ст. </a:t>
            </a:r>
            <a:r>
              <a:rPr lang="ru-RU" dirty="0">
                <a:hlinkClick r:id="rId5"/>
              </a:rPr>
              <a:t>69</a:t>
            </a:r>
            <a:r>
              <a:rPr lang="ru-RU" dirty="0"/>
              <a:t> ТК РФ).</a:t>
            </a:r>
          </a:p>
          <a:p>
            <a:pPr marL="0" indent="0">
              <a:buNone/>
            </a:pPr>
            <a:endParaRPr lang="ru-RU" dirty="0"/>
          </a:p>
        </p:txBody>
      </p:sp>
    </p:spTree>
    <p:extLst>
      <p:ext uri="{BB962C8B-B14F-4D97-AF65-F5344CB8AC3E}">
        <p14:creationId xmlns:p14="http://schemas.microsoft.com/office/powerpoint/2010/main" val="3917140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b="1" dirty="0" smtClean="0"/>
              <a:t/>
            </a:r>
            <a:br>
              <a:rPr lang="ru-RU" b="1" dirty="0" smtClean="0"/>
            </a:br>
            <a:r>
              <a:rPr lang="ru-RU" b="1" dirty="0" smtClean="0"/>
              <a:t>ВНИМАНИЕ</a:t>
            </a:r>
            <a:r>
              <a:rPr lang="ru-RU" b="1" dirty="0"/>
              <a:t/>
            </a:r>
            <a:br>
              <a:rPr lang="ru-RU" b="1" dirty="0"/>
            </a:br>
            <a:endParaRPr lang="ru-RU" dirty="0"/>
          </a:p>
        </p:txBody>
      </p:sp>
      <p:sp>
        <p:nvSpPr>
          <p:cNvPr id="3" name="Объект 2"/>
          <p:cNvSpPr>
            <a:spLocks noGrp="1"/>
          </p:cNvSpPr>
          <p:nvPr>
            <p:ph idx="1"/>
          </p:nvPr>
        </p:nvSpPr>
        <p:spPr/>
        <p:txBody>
          <a:bodyPr>
            <a:noAutofit/>
          </a:bodyPr>
          <a:lstStyle/>
          <a:p>
            <a:pPr marL="0" indent="0" algn="just">
              <a:buNone/>
            </a:pPr>
            <a:r>
              <a:rPr lang="ru-RU" dirty="0"/>
              <a:t>Допуск к работе сотрудника, который не прошел обязательный предварительный или периодический медосмотр, является административным правонарушением. За него предусмотрена ответственность в виде штрафа: на </a:t>
            </a:r>
            <a:r>
              <a:rPr lang="ru-RU" dirty="0" err="1"/>
              <a:t>юрлиц</a:t>
            </a:r>
            <a:r>
              <a:rPr lang="ru-RU" dirty="0"/>
              <a:t> — от 110 000 до 130 000 руб., на ИП-работодателя и на должностных лиц организации — от 15 000 до 25 000 руб. (ч. 3 ст. </a:t>
            </a:r>
            <a:r>
              <a:rPr lang="ru-RU" dirty="0">
                <a:hlinkClick r:id="rId2"/>
              </a:rPr>
              <a:t>5.27.1</a:t>
            </a:r>
            <a:r>
              <a:rPr lang="ru-RU" dirty="0"/>
              <a:t> КоАП).</a:t>
            </a:r>
          </a:p>
        </p:txBody>
      </p:sp>
    </p:spTree>
    <p:extLst>
      <p:ext uri="{BB962C8B-B14F-4D97-AF65-F5344CB8AC3E}">
        <p14:creationId xmlns:p14="http://schemas.microsoft.com/office/powerpoint/2010/main" val="2550035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ПОДВЕДЕМ ВАЖНЫЕ ИТОГИ!!!</a:t>
            </a:r>
            <a:endParaRPr lang="ru-RU" dirty="0"/>
          </a:p>
        </p:txBody>
      </p:sp>
      <p:sp>
        <p:nvSpPr>
          <p:cNvPr id="3" name="Объект 2"/>
          <p:cNvSpPr>
            <a:spLocks noGrp="1"/>
          </p:cNvSpPr>
          <p:nvPr>
            <p:ph idx="1"/>
          </p:nvPr>
        </p:nvSpPr>
        <p:spPr/>
        <p:txBody>
          <a:bodyPr>
            <a:normAutofit fontScale="92500" lnSpcReduction="10000"/>
          </a:bodyPr>
          <a:lstStyle/>
          <a:p>
            <a:pPr algn="just" fontAlgn="base"/>
            <a:r>
              <a:rPr lang="ru-RU" dirty="0" smtClean="0"/>
              <a:t>За </a:t>
            </a:r>
            <a:r>
              <a:rPr lang="ru-RU" dirty="0"/>
              <a:t>2 месяца до даты начала проведения периодических МО вам нужно предоставить поименный список в лечебное заведение (п. 24).</a:t>
            </a:r>
          </a:p>
          <a:p>
            <a:pPr algn="just" fontAlgn="base"/>
            <a:r>
              <a:rPr lang="ru-RU" dirty="0"/>
              <a:t>В течение 10 дней медицинское учреждение разрабатывает календарный план проведения периодического медосмотра и передают его вам на согласование (п. 26).</a:t>
            </a:r>
          </a:p>
          <a:p>
            <a:pPr algn="just" fontAlgn="base"/>
            <a:r>
              <a:rPr lang="ru-RU" dirty="0"/>
              <a:t>Не менее чем за 14 дней до начала проведения медосмотров календарный план должен быть согласован и утвержден (п.26).</a:t>
            </a:r>
          </a:p>
          <a:p>
            <a:pPr algn="just" fontAlgn="base"/>
            <a:r>
              <a:rPr lang="ru-RU" dirty="0"/>
              <a:t>Не позднее чем за 10 дней до даты проведения медосмотров персонал должен быть ознакомлен с календарным планом, лучше это делать приказом по </a:t>
            </a:r>
            <a:r>
              <a:rPr lang="ru-RU" dirty="0" smtClean="0"/>
              <a:t>учреждению </a:t>
            </a:r>
            <a:r>
              <a:rPr lang="ru-RU" dirty="0"/>
              <a:t>с указанием периода проведения медосмотра и списка сотрудников, которые подлежат прохождению периодического медосмотра.</a:t>
            </a:r>
          </a:p>
          <a:p>
            <a:pPr marL="0" indent="0">
              <a:buNone/>
            </a:pPr>
            <a:endParaRPr lang="ru-RU" dirty="0"/>
          </a:p>
        </p:txBody>
      </p:sp>
    </p:spTree>
    <p:extLst>
      <p:ext uri="{BB962C8B-B14F-4D97-AF65-F5344CB8AC3E}">
        <p14:creationId xmlns:p14="http://schemas.microsoft.com/office/powerpoint/2010/main" val="1061397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ЕЩЕ!!!</a:t>
            </a:r>
            <a:endParaRPr lang="ru-RU" dirty="0"/>
          </a:p>
        </p:txBody>
      </p:sp>
      <p:sp>
        <p:nvSpPr>
          <p:cNvPr id="3" name="Объект 2"/>
          <p:cNvSpPr>
            <a:spLocks noGrp="1"/>
          </p:cNvSpPr>
          <p:nvPr>
            <p:ph idx="1"/>
          </p:nvPr>
        </p:nvSpPr>
        <p:spPr/>
        <p:txBody>
          <a:bodyPr/>
          <a:lstStyle/>
          <a:p>
            <a:pPr marL="0" indent="0" algn="just" fontAlgn="base">
              <a:buNone/>
            </a:pPr>
            <a:r>
              <a:rPr lang="ru-RU" dirty="0"/>
              <a:t>Начиная с 1 апреля 2021 года, список работников, подлежащих периодическому медосмотру, нужно направлять не позднее 10 рабочих дней в территориальный </a:t>
            </a:r>
            <a:r>
              <a:rPr lang="ru-RU" dirty="0" err="1"/>
              <a:t>Роспотребнадзор</a:t>
            </a:r>
            <a:r>
              <a:rPr lang="ru-RU" dirty="0"/>
              <a:t> (</a:t>
            </a:r>
            <a:r>
              <a:rPr lang="ru-RU" dirty="0">
                <a:hlinkClick r:id="rId2"/>
              </a:rPr>
              <a:t>п.22 Приказа №29н</a:t>
            </a:r>
            <a:r>
              <a:rPr lang="ru-RU" dirty="0"/>
              <a:t>).</a:t>
            </a:r>
          </a:p>
          <a:p>
            <a:pPr marL="0" indent="0" algn="just" fontAlgn="base">
              <a:buNone/>
            </a:pPr>
            <a:r>
              <a:rPr lang="ru-RU" dirty="0"/>
              <a:t>Но не все, а только определенный перечень организаций, который должен направлять списки. Это организации, которые проходят медосмотр в целях охраны здоровья населения предупреждения возникновения и распространения заболеваний. Если просто сказать, это те, кто получает и оформляет медкнижки. </a:t>
            </a:r>
          </a:p>
          <a:p>
            <a:pPr marL="0" indent="0">
              <a:buNone/>
            </a:pPr>
            <a:endParaRPr lang="ru-RU" dirty="0"/>
          </a:p>
        </p:txBody>
      </p:sp>
    </p:spTree>
    <p:extLst>
      <p:ext uri="{BB962C8B-B14F-4D97-AF65-F5344CB8AC3E}">
        <p14:creationId xmlns:p14="http://schemas.microsoft.com/office/powerpoint/2010/main" val="3425898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КОНТРОЛЬ В 10 ШАГОВ</a:t>
            </a:r>
            <a:endParaRPr lang="ru-RU" dirty="0"/>
          </a:p>
        </p:txBody>
      </p:sp>
      <p:sp>
        <p:nvSpPr>
          <p:cNvPr id="3" name="Объект 2"/>
          <p:cNvSpPr>
            <a:spLocks noGrp="1"/>
          </p:cNvSpPr>
          <p:nvPr>
            <p:ph idx="1"/>
          </p:nvPr>
        </p:nvSpPr>
        <p:spPr/>
        <p:txBody>
          <a:bodyPr>
            <a:normAutofit fontScale="92500" lnSpcReduction="20000"/>
          </a:bodyPr>
          <a:lstStyle/>
          <a:p>
            <a:pPr marL="457200" indent="-457200" algn="just">
              <a:buAutoNum type="arabicPeriod"/>
            </a:pPr>
            <a:r>
              <a:rPr lang="ru-RU" dirty="0" smtClean="0"/>
              <a:t>Составьте </a:t>
            </a:r>
            <a:r>
              <a:rPr lang="ru-RU" dirty="0"/>
              <a:t>список работников, которые должны пройти плановый медосмотр. Укажите должности сотрудников и кандидатов в соответствии со штатным расписанием, а также стаж, как того требует новый Порядок. </a:t>
            </a:r>
            <a:endParaRPr lang="ru-RU" dirty="0" smtClean="0"/>
          </a:p>
          <a:p>
            <a:pPr marL="457200" indent="-457200" algn="just">
              <a:buAutoNum type="arabicPeriod"/>
            </a:pPr>
            <a:r>
              <a:rPr lang="ru-RU" dirty="0"/>
              <a:t>Направьте список в территориальный орган </a:t>
            </a:r>
            <a:r>
              <a:rPr lang="ru-RU" dirty="0" err="1"/>
              <a:t>Роспотребнадзора</a:t>
            </a:r>
            <a:r>
              <a:rPr lang="ru-RU" dirty="0"/>
              <a:t>. Документ направьте по месту нахождения </a:t>
            </a:r>
            <a:r>
              <a:rPr lang="ru-RU" dirty="0" smtClean="0"/>
              <a:t>организации </a:t>
            </a:r>
            <a:r>
              <a:rPr lang="ru-RU" dirty="0"/>
              <a:t>в течение десяти рабочих дней с </a:t>
            </a:r>
            <a:r>
              <a:rPr lang="ru-RU" dirty="0" smtClean="0"/>
              <a:t>момента </a:t>
            </a:r>
            <a:r>
              <a:rPr lang="ru-RU" dirty="0"/>
              <a:t>утверждения</a:t>
            </a:r>
            <a:r>
              <a:rPr lang="ru-RU" dirty="0" smtClean="0"/>
              <a:t>.</a:t>
            </a:r>
          </a:p>
          <a:p>
            <a:pPr marL="457200" indent="-457200" algn="just">
              <a:buAutoNum type="arabicPeriod"/>
            </a:pPr>
            <a:r>
              <a:rPr lang="ru-RU" dirty="0"/>
              <a:t>Заключите договор с </a:t>
            </a:r>
            <a:r>
              <a:rPr lang="ru-RU" dirty="0" err="1"/>
              <a:t>медорганизацией</a:t>
            </a:r>
            <a:r>
              <a:rPr lang="ru-RU" dirty="0"/>
              <a:t> на проведение медосмотров. У организации </a:t>
            </a:r>
            <a:r>
              <a:rPr lang="ru-RU" dirty="0" err="1"/>
              <a:t>должна</a:t>
            </a:r>
            <a:r>
              <a:rPr lang="ru-RU" dirty="0"/>
              <a:t> быть лицензия на проведение предварительных и периодических медосмотров. Форма собственности значения не имеет</a:t>
            </a:r>
            <a:r>
              <a:rPr lang="ru-RU" dirty="0" smtClean="0"/>
              <a:t>.</a:t>
            </a:r>
          </a:p>
          <a:p>
            <a:pPr marL="457200" indent="-457200" algn="just">
              <a:buAutoNum type="arabicPeriod"/>
            </a:pPr>
            <a:r>
              <a:rPr lang="ru-RU" dirty="0" smtClean="0"/>
              <a:t>Составьте </a:t>
            </a:r>
            <a:r>
              <a:rPr lang="ru-RU" dirty="0"/>
              <a:t>поименные списки работников. В документе, помимо данных сотрудника, </a:t>
            </a:r>
            <a:r>
              <a:rPr lang="ru-RU" dirty="0" err="1"/>
              <a:t>укажите</a:t>
            </a:r>
            <a:r>
              <a:rPr lang="ru-RU" dirty="0"/>
              <a:t> наименование структурного подразделения, вредные производственные факторы или виды работ.</a:t>
            </a:r>
          </a:p>
        </p:txBody>
      </p:sp>
    </p:spTree>
    <p:extLst>
      <p:ext uri="{BB962C8B-B14F-4D97-AF65-F5344CB8AC3E}">
        <p14:creationId xmlns:p14="http://schemas.microsoft.com/office/powerpoint/2010/main" val="771692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ДАЛЕЕ</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dirty="0"/>
              <a:t>5. Направьте поименные списки в </a:t>
            </a:r>
            <a:r>
              <a:rPr lang="ru-RU" dirty="0" err="1"/>
              <a:t>медорганизацию</a:t>
            </a:r>
            <a:r>
              <a:rPr lang="ru-RU" dirty="0"/>
              <a:t>. Списки необходимо отправить за два месяца до начала </a:t>
            </a:r>
            <a:r>
              <a:rPr lang="ru-RU" dirty="0" smtClean="0"/>
              <a:t>медосмотра.</a:t>
            </a:r>
          </a:p>
          <a:p>
            <a:pPr marL="0" indent="0" algn="just">
              <a:buNone/>
            </a:pPr>
            <a:r>
              <a:rPr lang="ru-RU" dirty="0"/>
              <a:t>6. </a:t>
            </a:r>
            <a:r>
              <a:rPr lang="ru-RU" dirty="0" smtClean="0"/>
              <a:t>Календарный </a:t>
            </a:r>
            <a:r>
              <a:rPr lang="ru-RU" dirty="0"/>
              <a:t>план. За две недели до согласованной даты </a:t>
            </a:r>
            <a:r>
              <a:rPr lang="ru-RU" dirty="0" err="1"/>
              <a:t>медосмотра</a:t>
            </a:r>
            <a:r>
              <a:rPr lang="ru-RU" dirty="0"/>
              <a:t> медицинская организация направит план в </a:t>
            </a:r>
            <a:r>
              <a:rPr lang="ru-RU" dirty="0" smtClean="0"/>
              <a:t>вашу организацию.</a:t>
            </a:r>
          </a:p>
          <a:p>
            <a:pPr marL="0" indent="0" algn="just">
              <a:buNone/>
            </a:pPr>
            <a:r>
              <a:rPr lang="ru-RU" dirty="0"/>
              <a:t>7. Ознакомьте работников с календарным планом. Попросите ответственного ознакомить работников с планом минимум за 10 рабочих дней до начала </a:t>
            </a:r>
            <a:r>
              <a:rPr lang="ru-RU" dirty="0" smtClean="0"/>
              <a:t>медосмотра.</a:t>
            </a:r>
          </a:p>
          <a:p>
            <a:pPr marL="0" indent="0" algn="just">
              <a:buNone/>
            </a:pPr>
            <a:r>
              <a:rPr lang="ru-RU" dirty="0"/>
              <a:t>8. Выдайте направления на медосмотр. Требования к содержанию направления установлены новым Порядком. Сотрудник должен получить документ под </a:t>
            </a:r>
            <a:r>
              <a:rPr lang="ru-RU" dirty="0" smtClean="0"/>
              <a:t>подпись.</a:t>
            </a:r>
          </a:p>
          <a:p>
            <a:pPr marL="0" indent="0" algn="just">
              <a:buNone/>
            </a:pPr>
            <a:r>
              <a:rPr lang="ru-RU" dirty="0"/>
              <a:t>9. Получите документы по итогам медосмотра. </a:t>
            </a:r>
            <a:r>
              <a:rPr lang="ru-RU" dirty="0" err="1"/>
              <a:t>Медорганизация</a:t>
            </a:r>
            <a:r>
              <a:rPr lang="ru-RU" dirty="0"/>
              <a:t> предоставит заключение в течение месяца. По результатам осмотра примите решение о допуске сотрудников к </a:t>
            </a:r>
            <a:r>
              <a:rPr lang="ru-RU" dirty="0" smtClean="0"/>
              <a:t>работе.</a:t>
            </a:r>
          </a:p>
          <a:p>
            <a:pPr marL="0" indent="0" algn="just">
              <a:buNone/>
            </a:pPr>
            <a:r>
              <a:rPr lang="ru-RU" dirty="0"/>
              <a:t>10. Занесите результаты в медицинские книжки работников. Укажите результаты всех </a:t>
            </a:r>
            <a:r>
              <a:rPr lang="ru-RU" dirty="0" err="1"/>
              <a:t>пройденных</a:t>
            </a:r>
            <a:r>
              <a:rPr lang="ru-RU" dirty="0"/>
              <a:t> медосмотров: периодического, предварительного и </a:t>
            </a:r>
            <a:r>
              <a:rPr lang="ru-RU" dirty="0" smtClean="0"/>
              <a:t>внеочередного.</a:t>
            </a:r>
            <a:endParaRPr lang="ru-RU" dirty="0"/>
          </a:p>
        </p:txBody>
      </p:sp>
    </p:spTree>
    <p:extLst>
      <p:ext uri="{BB962C8B-B14F-4D97-AF65-F5344CB8AC3E}">
        <p14:creationId xmlns:p14="http://schemas.microsoft.com/office/powerpoint/2010/main" val="8278685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Чек лист</a:t>
            </a:r>
            <a:endParaRPr lang="ru-RU" dirty="0"/>
          </a:p>
        </p:txBody>
      </p:sp>
      <p:sp>
        <p:nvSpPr>
          <p:cNvPr id="3" name="Объект 2"/>
          <p:cNvSpPr>
            <a:spLocks noGrp="1"/>
          </p:cNvSpPr>
          <p:nvPr>
            <p:ph idx="1"/>
          </p:nvPr>
        </p:nvSpPr>
        <p:spPr/>
        <p:txBody>
          <a:bodyPr/>
          <a:lstStyle/>
          <a:p>
            <a:endParaRPr lang="ru-RU" dirty="0"/>
          </a:p>
        </p:txBody>
      </p:sp>
      <p:graphicFrame>
        <p:nvGraphicFramePr>
          <p:cNvPr id="4" name="Объект 3"/>
          <p:cNvGraphicFramePr>
            <a:graphicFrameLocks noChangeAspect="1"/>
          </p:cNvGraphicFramePr>
          <p:nvPr>
            <p:extLst>
              <p:ext uri="{D42A27DB-BD31-4B8C-83A1-F6EECF244321}">
                <p14:modId xmlns:p14="http://schemas.microsoft.com/office/powerpoint/2010/main" val="2500318953"/>
              </p:ext>
            </p:extLst>
          </p:nvPr>
        </p:nvGraphicFramePr>
        <p:xfrm>
          <a:off x="2699792" y="1556792"/>
          <a:ext cx="4038600" cy="5013325"/>
        </p:xfrm>
        <a:graphic>
          <a:graphicData uri="http://schemas.openxmlformats.org/presentationml/2006/ole">
            <mc:AlternateContent xmlns:mc="http://schemas.openxmlformats.org/markup-compatibility/2006">
              <mc:Choice xmlns:v="urn:schemas-microsoft-com:vml" Requires="v">
                <p:oleObj spid="_x0000_s1036" name="Acrobat Document" r:id="rId3" imgW="4038246" imgH="5013660" progId="AcroExch.Document.11">
                  <p:embed/>
                </p:oleObj>
              </mc:Choice>
              <mc:Fallback>
                <p:oleObj name="Acrobat Document" r:id="rId3" imgW="4038246" imgH="5013660" progId="AcroExch.Document.11">
                  <p:embed/>
                  <p:pic>
                    <p:nvPicPr>
                      <p:cNvPr id="0" name=""/>
                      <p:cNvPicPr/>
                      <p:nvPr/>
                    </p:nvPicPr>
                    <p:blipFill>
                      <a:blip r:embed="rId4"/>
                      <a:stretch>
                        <a:fillRect/>
                      </a:stretch>
                    </p:blipFill>
                    <p:spPr>
                      <a:xfrm>
                        <a:off x="2699792" y="1556792"/>
                        <a:ext cx="4038600" cy="5013325"/>
                      </a:xfrm>
                      <a:prstGeom prst="rect">
                        <a:avLst/>
                      </a:prstGeom>
                    </p:spPr>
                  </p:pic>
                </p:oleObj>
              </mc:Fallback>
            </mc:AlternateContent>
          </a:graphicData>
        </a:graphic>
      </p:graphicFrame>
    </p:spTree>
    <p:extLst>
      <p:ext uri="{BB962C8B-B14F-4D97-AF65-F5344CB8AC3E}">
        <p14:creationId xmlns:p14="http://schemas.microsoft.com/office/powerpoint/2010/main" val="19176792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Что взять с собой на медосмотр</a:t>
            </a:r>
          </a:p>
        </p:txBody>
      </p:sp>
      <p:sp>
        <p:nvSpPr>
          <p:cNvPr id="3" name="Объект 2"/>
          <p:cNvSpPr>
            <a:spLocks noGrp="1"/>
          </p:cNvSpPr>
          <p:nvPr>
            <p:ph idx="1"/>
          </p:nvPr>
        </p:nvSpPr>
        <p:spPr/>
        <p:txBody>
          <a:bodyPr/>
          <a:lstStyle/>
          <a:p>
            <a:r>
              <a:rPr lang="ru-RU" dirty="0"/>
              <a:t>Направление, которое выдал работодатель </a:t>
            </a:r>
            <a:endParaRPr lang="ru-RU" dirty="0" smtClean="0"/>
          </a:p>
          <a:p>
            <a:r>
              <a:rPr lang="ru-RU" dirty="0" smtClean="0"/>
              <a:t>СНИЛС</a:t>
            </a:r>
          </a:p>
          <a:p>
            <a:r>
              <a:rPr lang="ru-RU" dirty="0"/>
              <a:t>Паспорт </a:t>
            </a:r>
            <a:endParaRPr lang="ru-RU" dirty="0" smtClean="0"/>
          </a:p>
          <a:p>
            <a:r>
              <a:rPr lang="ru-RU" dirty="0"/>
              <a:t>Полис обязательного или добровольного медицинского страхования </a:t>
            </a:r>
            <a:endParaRPr lang="ru-RU" dirty="0" smtClean="0"/>
          </a:p>
          <a:p>
            <a:r>
              <a:rPr lang="ru-RU" dirty="0"/>
              <a:t>Справку о психиатрическом </a:t>
            </a:r>
            <a:r>
              <a:rPr lang="ru-RU" dirty="0" smtClean="0"/>
              <a:t>освидетельствовании</a:t>
            </a:r>
          </a:p>
          <a:p>
            <a:r>
              <a:rPr lang="ru-RU" dirty="0"/>
              <a:t>Выписку из медкарты с результатами диспансеризации, которым не больше года</a:t>
            </a:r>
          </a:p>
        </p:txBody>
      </p:sp>
    </p:spTree>
    <p:extLst>
      <p:ext uri="{BB962C8B-B14F-4D97-AF65-F5344CB8AC3E}">
        <p14:creationId xmlns:p14="http://schemas.microsoft.com/office/powerpoint/2010/main" val="22119520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Чек-лист</a:t>
            </a:r>
            <a:endParaRPr lang="ru-RU" dirty="0"/>
          </a:p>
        </p:txBody>
      </p:sp>
      <p:sp>
        <p:nvSpPr>
          <p:cNvPr id="3" name="Объект 2"/>
          <p:cNvSpPr>
            <a:spLocks noGrp="1"/>
          </p:cNvSpPr>
          <p:nvPr>
            <p:ph idx="1"/>
          </p:nvPr>
        </p:nvSpPr>
        <p:spPr/>
        <p:txBody>
          <a:bodyPr/>
          <a:lstStyle/>
          <a:p>
            <a:pPr marL="0" indent="0">
              <a:buNone/>
            </a:pPr>
            <a:endParaRPr lang="ru-RU" dirty="0"/>
          </a:p>
        </p:txBody>
      </p:sp>
      <p:graphicFrame>
        <p:nvGraphicFramePr>
          <p:cNvPr id="4" name="Объект 3"/>
          <p:cNvGraphicFramePr>
            <a:graphicFrameLocks noChangeAspect="1"/>
          </p:cNvGraphicFramePr>
          <p:nvPr>
            <p:extLst>
              <p:ext uri="{D42A27DB-BD31-4B8C-83A1-F6EECF244321}">
                <p14:modId xmlns:p14="http://schemas.microsoft.com/office/powerpoint/2010/main" val="3695472151"/>
              </p:ext>
            </p:extLst>
          </p:nvPr>
        </p:nvGraphicFramePr>
        <p:xfrm>
          <a:off x="2627784" y="1556792"/>
          <a:ext cx="4038600" cy="5013325"/>
        </p:xfrm>
        <a:graphic>
          <a:graphicData uri="http://schemas.openxmlformats.org/presentationml/2006/ole">
            <mc:AlternateContent xmlns:mc="http://schemas.openxmlformats.org/markup-compatibility/2006">
              <mc:Choice xmlns:v="urn:schemas-microsoft-com:vml" Requires="v">
                <p:oleObj spid="_x0000_s2057" name="Acrobat Document" r:id="rId3" imgW="4038246" imgH="5013660" progId="AcroExch.Document.11">
                  <p:embed/>
                </p:oleObj>
              </mc:Choice>
              <mc:Fallback>
                <p:oleObj name="Acrobat Document" r:id="rId3" imgW="4038246" imgH="5013660" progId="AcroExch.Document.11">
                  <p:embed/>
                  <p:pic>
                    <p:nvPicPr>
                      <p:cNvPr id="0" name=""/>
                      <p:cNvPicPr/>
                      <p:nvPr/>
                    </p:nvPicPr>
                    <p:blipFill>
                      <a:blip r:embed="rId4"/>
                      <a:stretch>
                        <a:fillRect/>
                      </a:stretch>
                    </p:blipFill>
                    <p:spPr>
                      <a:xfrm>
                        <a:off x="2627784" y="1556792"/>
                        <a:ext cx="4038600" cy="5013325"/>
                      </a:xfrm>
                      <a:prstGeom prst="rect">
                        <a:avLst/>
                      </a:prstGeom>
                    </p:spPr>
                  </p:pic>
                </p:oleObj>
              </mc:Fallback>
            </mc:AlternateContent>
          </a:graphicData>
        </a:graphic>
      </p:graphicFrame>
    </p:spTree>
    <p:extLst>
      <p:ext uri="{BB962C8B-B14F-4D97-AF65-F5344CB8AC3E}">
        <p14:creationId xmlns:p14="http://schemas.microsoft.com/office/powerpoint/2010/main" val="733592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4000" dirty="0" smtClean="0"/>
              <a:t>Психиатрическое освидетельствование</a:t>
            </a:r>
            <a:endParaRPr lang="ru-RU" sz="4000" dirty="0"/>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21835996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marL="0" indent="0" algn="just">
              <a:buNone/>
            </a:pPr>
            <a:r>
              <a:rPr lang="ru-RU" sz="2000" dirty="0"/>
              <a:t>В соответствии с требованиями </a:t>
            </a:r>
            <a:r>
              <a:rPr lang="ru-RU" sz="2000" dirty="0">
                <a:hlinkClick r:id="rId2"/>
              </a:rPr>
              <a:t>части восьмой ст. 220</a:t>
            </a:r>
            <a:r>
              <a:rPr lang="ru-RU" sz="2000" dirty="0"/>
              <a:t> ТК РФ, работники, осуществляющие отдельные виды деятельности, проходят обязательное </a:t>
            </a:r>
            <a:r>
              <a:rPr lang="ru-RU" sz="2000" dirty="0" smtClean="0"/>
              <a:t>психиатрическое освидетельствование</a:t>
            </a:r>
            <a:r>
              <a:rPr lang="ru-RU" sz="2000" dirty="0"/>
              <a:t>. </a:t>
            </a:r>
            <a:r>
              <a:rPr lang="ru-RU" sz="2000" dirty="0">
                <a:hlinkClick r:id="rId3"/>
              </a:rPr>
              <a:t>Порядок</a:t>
            </a:r>
            <a:r>
              <a:rPr lang="ru-RU" sz="2000" dirty="0"/>
              <a:t> прохождения такого освидетельствования, его периодичность, а также </a:t>
            </a:r>
            <a:r>
              <a:rPr lang="ru-RU" sz="2000" dirty="0">
                <a:hlinkClick r:id="rId4"/>
              </a:rPr>
              <a:t>виды деятельности</a:t>
            </a:r>
            <a:r>
              <a:rPr lang="ru-RU" sz="2000" dirty="0"/>
              <a:t>, при осуществлении которых проводится психиатрическое освидетельствование, устанавливаются Минздравом РФ.</a:t>
            </a:r>
            <a:endParaRPr lang="ru-RU" sz="2000" dirty="0"/>
          </a:p>
        </p:txBody>
      </p:sp>
    </p:spTree>
    <p:extLst>
      <p:ext uri="{BB962C8B-B14F-4D97-AF65-F5344CB8AC3E}">
        <p14:creationId xmlns:p14="http://schemas.microsoft.com/office/powerpoint/2010/main" val="2692785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a:t>Соответствующий </a:t>
            </a:r>
            <a:r>
              <a:rPr lang="ru-RU" dirty="0">
                <a:hlinkClick r:id="rId2"/>
              </a:rPr>
              <a:t>Приказ</a:t>
            </a:r>
            <a:r>
              <a:rPr lang="ru-RU" dirty="0"/>
              <a:t> Минздрава РФ от 20.05.2022 N 342н "Об утверждении порядка прохождения обязательного психиатрического освидетельствования работниками, осуществляющими отдельные виды деятельности, его периодичности, а также виды деятельности, при осуществлении которых проводится психиатрическое освидетельствование" вступил в силу 1 сентября 2022 г. и действует до 1 сентября 2028 г.</a:t>
            </a:r>
            <a:endParaRPr lang="ru-RU" dirty="0"/>
          </a:p>
        </p:txBody>
      </p:sp>
    </p:spTree>
    <p:extLst>
      <p:ext uri="{BB962C8B-B14F-4D97-AF65-F5344CB8AC3E}">
        <p14:creationId xmlns:p14="http://schemas.microsoft.com/office/powerpoint/2010/main" val="17093035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a:t>К видам деятельности, при осуществлении которых проводится психиатрическое освидетельствование, относятся (</a:t>
            </a:r>
            <a:r>
              <a:rPr lang="ru-RU" dirty="0">
                <a:hlinkClick r:id="rId2"/>
              </a:rPr>
              <a:t>приложение N 2</a:t>
            </a:r>
            <a:r>
              <a:rPr lang="ru-RU" dirty="0"/>
              <a:t> к приказу. N 342н</a:t>
            </a:r>
            <a:r>
              <a:rPr lang="ru-RU" dirty="0" smtClean="0"/>
              <a:t>):</a:t>
            </a:r>
          </a:p>
          <a:p>
            <a:pPr marL="0" indent="0" algn="just">
              <a:buNone/>
            </a:pPr>
            <a:r>
              <a:rPr lang="ru-RU" dirty="0"/>
              <a:t>8. Педагогическая деятельность в организациях, осуществляющих образовательную деятельность.</a:t>
            </a:r>
          </a:p>
          <a:p>
            <a:pPr marL="0" indent="0" algn="just">
              <a:buNone/>
            </a:pPr>
            <a:r>
              <a:rPr lang="ru-RU" dirty="0"/>
              <a:t>9. Деятельность по присмотру и уходу за детьми.</a:t>
            </a:r>
          </a:p>
          <a:p>
            <a:pPr marL="0" indent="0" algn="just">
              <a:buNone/>
            </a:pPr>
            <a:endParaRPr lang="ru-RU" dirty="0"/>
          </a:p>
        </p:txBody>
      </p:sp>
    </p:spTree>
    <p:extLst>
      <p:ext uri="{BB962C8B-B14F-4D97-AF65-F5344CB8AC3E}">
        <p14:creationId xmlns:p14="http://schemas.microsoft.com/office/powerpoint/2010/main" val="22969438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ВУАЖНО!!!</a:t>
            </a:r>
            <a:endParaRPr lang="ru-RU" dirty="0"/>
          </a:p>
        </p:txBody>
      </p:sp>
      <p:sp>
        <p:nvSpPr>
          <p:cNvPr id="3" name="Объект 2"/>
          <p:cNvSpPr>
            <a:spLocks noGrp="1"/>
          </p:cNvSpPr>
          <p:nvPr>
            <p:ph idx="1"/>
          </p:nvPr>
        </p:nvSpPr>
        <p:spPr/>
        <p:txBody>
          <a:bodyPr/>
          <a:lstStyle/>
          <a:p>
            <a:pPr marL="0" indent="0" algn="just">
              <a:buNone/>
            </a:pPr>
            <a:r>
              <a:rPr lang="ru-RU" dirty="0"/>
              <a:t>Минздрав России в своем письме от 12.08.2022 N 30-7/3105 дал разъяснения некоторых аспектов прохождения психиатрических освидетельствований отдельных категорий работников. Как пояснили в ведомстве, виды деятельности, при осуществлении которых проводится психиатрическое освидетельствование (приложение N 2 к приказу Минздрава России от 20.05.2022 N 342н) содержат педагогическую деятельность в организациях, осуществляющих образовательную деятельность, деятельность по присмотру и уходу за детьми.</a:t>
            </a:r>
          </a:p>
        </p:txBody>
      </p:sp>
    </p:spTree>
    <p:extLst>
      <p:ext uri="{BB962C8B-B14F-4D97-AF65-F5344CB8AC3E}">
        <p14:creationId xmlns:p14="http://schemas.microsoft.com/office/powerpoint/2010/main" val="3892915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85000" lnSpcReduction="20000"/>
          </a:bodyPr>
          <a:lstStyle/>
          <a:p>
            <a:pPr marL="0" indent="0" algn="just">
              <a:buNone/>
            </a:pPr>
            <a:r>
              <a:rPr lang="ru-RU" dirty="0"/>
              <a:t>Понятие "педагогическая деятельность" законодательством непосредственно не определено. Под педагогической деятельностью обычно понимается деятельность лиц с особым статусом - педагогических работников, имеющих определенное образование и стаж, которые состоят в трудовых, служебных отношениях с образовательной организацией и выполняют обязанности по обучению, воспитанию обучающихся и (или) организации деятельности по реализации образовательных программ. Это следует из положений </a:t>
            </a:r>
            <a:r>
              <a:rPr lang="ru-RU" dirty="0">
                <a:hlinkClick r:id="rId2"/>
              </a:rPr>
              <a:t>статьи 331</a:t>
            </a:r>
            <a:r>
              <a:rPr lang="ru-RU" dirty="0"/>
              <a:t> Трудового кодекса и </a:t>
            </a:r>
            <a:r>
              <a:rPr lang="ru-RU" dirty="0">
                <a:hlinkClick r:id="rId3"/>
              </a:rPr>
              <a:t>пунктов 17</a:t>
            </a:r>
            <a:r>
              <a:rPr lang="ru-RU" dirty="0"/>
              <a:t>, </a:t>
            </a:r>
            <a:r>
              <a:rPr lang="ru-RU" dirty="0">
                <a:hlinkClick r:id="rId4"/>
              </a:rPr>
              <a:t>18</a:t>
            </a:r>
            <a:r>
              <a:rPr lang="ru-RU" dirty="0"/>
              <a:t>, </a:t>
            </a:r>
            <a:r>
              <a:rPr lang="ru-RU" dirty="0">
                <a:hlinkClick r:id="rId5"/>
              </a:rPr>
              <a:t>21 ч. 1 ст. 2</a:t>
            </a:r>
            <a:r>
              <a:rPr lang="ru-RU" dirty="0"/>
              <a:t> Федерального закона от 29.12.2012 N 273-ФЗ "Об образовании в Российской Федерации".</a:t>
            </a:r>
          </a:p>
          <a:p>
            <a:pPr marL="0" indent="0" algn="just">
              <a:buNone/>
            </a:pPr>
            <a:r>
              <a:rPr lang="ru-RU" dirty="0"/>
              <a:t>Учитывая, что </a:t>
            </a:r>
            <a:r>
              <a:rPr lang="ru-RU" dirty="0">
                <a:hlinkClick r:id="rId6"/>
              </a:rPr>
              <a:t>приказ</a:t>
            </a:r>
            <a:r>
              <a:rPr lang="ru-RU" dirty="0"/>
              <a:t> Минздрава от 20.05.2022 N 342н издан в соответствии со </a:t>
            </a:r>
            <a:r>
              <a:rPr lang="ru-RU" dirty="0">
                <a:hlinkClick r:id="rId7"/>
              </a:rPr>
              <a:t>ст. 220</a:t>
            </a:r>
            <a:r>
              <a:rPr lang="ru-RU" dirty="0"/>
              <a:t> ТК РФ, определяющей работника в качестве субъекта правоотношений, виды деятельности, при осуществлении которых проводится психиатрическое освидетельствование, </a:t>
            </a:r>
            <a:r>
              <a:rPr lang="ru-RU" u="sng" dirty="0">
                <a:solidFill>
                  <a:srgbClr val="FF0000"/>
                </a:solidFill>
                <a:effectLst>
                  <a:outerShdw blurRad="38100" dist="38100" dir="2700000" algn="tl">
                    <a:srgbClr val="000000">
                      <a:alpha val="43137"/>
                    </a:srgbClr>
                  </a:outerShdw>
                </a:effectLst>
              </a:rPr>
              <a:t>относятся к работникам, выполняющим определенный вид деятельности (трудовые обязанности), а не к виду деятельности организации.</a:t>
            </a:r>
          </a:p>
          <a:p>
            <a:pPr marL="0" indent="0">
              <a:buNone/>
            </a:pPr>
            <a:endParaRPr lang="ru-RU" dirty="0"/>
          </a:p>
        </p:txBody>
      </p:sp>
    </p:spTree>
    <p:extLst>
      <p:ext uri="{BB962C8B-B14F-4D97-AF65-F5344CB8AC3E}">
        <p14:creationId xmlns:p14="http://schemas.microsoft.com/office/powerpoint/2010/main" val="4099670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Желаю всем удачи!!!!</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35696" y="260648"/>
            <a:ext cx="4708227" cy="6280703"/>
          </a:xfrm>
        </p:spPr>
      </p:pic>
    </p:spTree>
    <p:extLst>
      <p:ext uri="{BB962C8B-B14F-4D97-AF65-F5344CB8AC3E}">
        <p14:creationId xmlns:p14="http://schemas.microsoft.com/office/powerpoint/2010/main" val="3949164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Ясность">
  <a:themeElements>
    <a:clrScheme name="Ясность">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Классическая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Ясность">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117</TotalTime>
  <Words>848</Words>
  <Application>Microsoft Office PowerPoint</Application>
  <PresentationFormat>Экран (4:3)</PresentationFormat>
  <Paragraphs>159</Paragraphs>
  <Slides>58</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1</vt:i4>
      </vt:variant>
      <vt:variant>
        <vt:lpstr>Заголовки слайдов</vt:lpstr>
      </vt:variant>
      <vt:variant>
        <vt:i4>58</vt:i4>
      </vt:variant>
    </vt:vector>
  </HeadingPairs>
  <TitlesOfParts>
    <vt:vector size="60" baseType="lpstr">
      <vt:lpstr>Ясность</vt:lpstr>
      <vt:lpstr>Acrobat Document</vt:lpstr>
      <vt:lpstr>       Новый порядок медосмотров на  ближайшие шесть лет.  Что изменилось и как это отразится на работе  </vt:lpstr>
      <vt:lpstr>Что изменилось?</vt:lpstr>
      <vt:lpstr>ЧТО МЫ СЕГОДНЯ РАЗБЕРЕМ?</vt:lpstr>
      <vt:lpstr>КАКИЕ НОВВЕЛЫ ПОЯВИЛИСЬ В НОВОМ ЗАКОНЕ? </vt:lpstr>
      <vt:lpstr>Медицинский осмотр объединили с первым этапом диспансеризации.</vt:lpstr>
      <vt:lpstr>Направлять работников на медосмотр надо только по СОУТ.</vt:lpstr>
      <vt:lpstr>Можно учитывать результаты прошлых медосмотров. </vt:lpstr>
      <vt:lpstr>ВНИМАНИЕ!!!</vt:lpstr>
      <vt:lpstr>Работников обязали иметь при себе полис ОМС.</vt:lpstr>
      <vt:lpstr>Закрепили возможность обмениваться электронными документами.</vt:lpstr>
      <vt:lpstr>Медосмотр могут проводить мобильные бригады.</vt:lpstr>
      <vt:lpstr>Появилось дополнительное основание для внеочередного медосмотра. </vt:lpstr>
      <vt:lpstr>К СВЕДЕНИЮ</vt:lpstr>
      <vt:lpstr>   Медицинские осмотры работников с 2021 года: кто должен проходить, как часто и в каких целях — новый приказ 29н </vt:lpstr>
      <vt:lpstr>РАЗБЕРЕМСЯ ЕЩЕ РАЗ!!!</vt:lpstr>
      <vt:lpstr>Новый приказ по медосмотрам 29н </vt:lpstr>
      <vt:lpstr> Виды медицинских осмотров работников </vt:lpstr>
      <vt:lpstr> Для чего необходимо проходить медицинские осмотры </vt:lpstr>
      <vt:lpstr> ВАЖНО </vt:lpstr>
      <vt:lpstr>А ЕЩЕ!!!</vt:lpstr>
      <vt:lpstr>Основания для медосмотров сотрудников </vt:lpstr>
      <vt:lpstr>А ЕЩЕ?</vt:lpstr>
      <vt:lpstr> ВНИМАНИЕ </vt:lpstr>
      <vt:lpstr>Кто должен проходить предварительный медицинский осмотр </vt:lpstr>
      <vt:lpstr>ДАЛЕЕ</vt:lpstr>
      <vt:lpstr> ВАЖНО </vt:lpstr>
      <vt:lpstr>Порядок проведения предварительных медосмотров. Пошаговая инструкция </vt:lpstr>
      <vt:lpstr>ДАЛЕЕ</vt:lpstr>
      <vt:lpstr>Второй этап</vt:lpstr>
      <vt:lpstr> СОВЕТ </vt:lpstr>
      <vt:lpstr>РЕЗУЛЬТАТ!!!</vt:lpstr>
      <vt:lpstr> ВНИМАНИЕ </vt:lpstr>
      <vt:lpstr>ТРЕТИЙ ЭТАП</vt:lpstr>
      <vt:lpstr> Как провести периодический медосмотр работников: пошаговая инструкция </vt:lpstr>
      <vt:lpstr>ДАЛЕЕ</vt:lpstr>
      <vt:lpstr>ВНИМАНИЕ</vt:lpstr>
      <vt:lpstr> ВАЖНО </vt:lpstr>
      <vt:lpstr>Презентация PowerPoint</vt:lpstr>
      <vt:lpstr>ИСКЛЮЧЕНИЕ</vt:lpstr>
      <vt:lpstr>ИТОГ</vt:lpstr>
      <vt:lpstr> ВАЖНО </vt:lpstr>
      <vt:lpstr>Расходы на прохождение работниками медосмотра </vt:lpstr>
      <vt:lpstr>Последствия отсутствия медицинского осмотра </vt:lpstr>
      <vt:lpstr> ВНИМАНИЕ </vt:lpstr>
      <vt:lpstr>ПОДВЕДЕМ ВАЖНЫЕ ИТОГИ!!!</vt:lpstr>
      <vt:lpstr>ЕЩЕ!!!</vt:lpstr>
      <vt:lpstr>КОНТРОЛЬ В 10 ШАГОВ</vt:lpstr>
      <vt:lpstr>ДАЛЕЕ</vt:lpstr>
      <vt:lpstr>Чек лист</vt:lpstr>
      <vt:lpstr>Что взять с собой на медосмотр</vt:lpstr>
      <vt:lpstr>Чек-лист</vt:lpstr>
      <vt:lpstr>Психиатрическое освидетельствование</vt:lpstr>
      <vt:lpstr>Презентация PowerPoint</vt:lpstr>
      <vt:lpstr>Презентация PowerPoint</vt:lpstr>
      <vt:lpstr>Презентация PowerPoint</vt:lpstr>
      <vt:lpstr>ВУАЖНО!!!</vt:lpstr>
      <vt:lpstr>Презентация PowerPoint</vt:lpstr>
      <vt:lpstr>Желаю всем удачи!!!!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Новый порядок медосмотров на  ближайшие шесть лет.  Что изменилось и как это отразится на работе</dc:title>
  <dc:creator>Admin</dc:creator>
  <cp:lastModifiedBy>Admin</cp:lastModifiedBy>
  <cp:revision>58</cp:revision>
  <dcterms:created xsi:type="dcterms:W3CDTF">2022-02-11T05:47:49Z</dcterms:created>
  <dcterms:modified xsi:type="dcterms:W3CDTF">2023-03-15T06:48:33Z</dcterms:modified>
</cp:coreProperties>
</file>