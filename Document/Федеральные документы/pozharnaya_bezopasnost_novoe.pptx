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80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internet.garant.ru/document/redirect/405714167/0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bi-file.ru/archive/pp1479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важных изменений в Правилах противопожарного режима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smtClean="0"/>
              <a:t>Фонд развития детских лагерей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735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Что за документ появился?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Постановление Правительства Российской Федерации от 24 октября 2022 г. № 1885 “О внесении изменений в Правила </a:t>
            </a:r>
            <a:r>
              <a:rPr lang="ru-RU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противопожарного </a:t>
            </a: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режима в Российской Федерации</a:t>
            </a:r>
            <a:r>
              <a:rPr lang="ru-RU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”.</a:t>
            </a:r>
          </a:p>
          <a:p>
            <a:pPr marL="0" indent="0" algn="ctr">
              <a:buNone/>
            </a:pPr>
            <a:endParaRPr lang="ru-RU" sz="2800" b="1" dirty="0" smtClean="0"/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Постановление 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вступает в силу </a:t>
            </a:r>
            <a:endParaRPr lang="ru-RU" sz="2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марта 2023 г., </a:t>
            </a:r>
            <a:endParaRPr lang="ru-RU" sz="2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 За 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исключением п.29 изменений, который вступает в силу с 1 марта 2024 г.</a:t>
            </a:r>
            <a:endParaRPr lang="ru-RU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6891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 smtClean="0"/>
              <a:t>Что изменилось? </a:t>
            </a:r>
            <a:br>
              <a:rPr lang="ru-RU" dirty="0" smtClean="0"/>
            </a:br>
            <a:r>
              <a:rPr lang="ru-RU" dirty="0" smtClean="0"/>
              <a:t>На что обратить внимание?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4400" dirty="0" smtClean="0"/>
          </a:p>
          <a:p>
            <a:pPr marL="0" indent="0" algn="ctr">
              <a:buNone/>
            </a:pPr>
            <a:r>
              <a:rPr lang="ru-RU" sz="4400" dirty="0"/>
              <a:t> </a:t>
            </a:r>
            <a:r>
              <a:rPr lang="ru-RU" sz="4400" dirty="0" smtClean="0"/>
              <a:t>Выделяем 15 основных изменений в Правилах противопожарного режима!!!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70509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Первое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Установлена </a:t>
            </a:r>
            <a:r>
              <a:rPr lang="ru-RU" dirty="0"/>
              <a:t>возможность утверждать одну инструкцию о мерах пожарной безопасности для группы однотипных зданий или сооружений, расположенных по одному адресу (п.2 Правил</a:t>
            </a:r>
            <a:r>
              <a:rPr lang="ru-RU" dirty="0" smtClean="0"/>
              <a:t>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ru-RU" dirty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РАНЕЕ НУЖНО СОСТАВЛЯТЬ НА КАЖДОЕ ЗДАНИЕ ОТДЕЛЬНУЮ ИНСТРУКЦИЮ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071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Второе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В подпункт «б» пункта 16 Правил внесена оговорка, позволяющая использовать подвальные и цокольные этажи для хранения продукции и др. предметов, а также для организации производственных участков, если это не противоречит нормативным документам по ПБ.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9969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Третье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Подпункт «г» пункта 16 Правил теперь недвусмысленно устанавливает требование о запрете глухих решёток только в отношении окон подвалов, а также приямков у окон подвалов, являющихся аварийными выходами.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551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Четвертое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Конкретизировано</a:t>
            </a:r>
            <a:r>
              <a:rPr lang="ru-RU" dirty="0"/>
              <a:t>, что эксплуатационным испытаниям подлежат только металлические наружные открытые (эвакуационные) лестницы (п.17 «б» Правил).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626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Пятое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Уточнено</a:t>
            </a:r>
            <a:r>
              <a:rPr lang="ru-RU" dirty="0"/>
              <a:t>, что форма журнала эксплуатации систем противопожарной защиты устанавливается руководителем объекта, при этом допускается ведение данного журнала в электронном виде (п.17.1 Правил).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078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Шестое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Установлен перечень участков путей эвакуации и помещений, запоры на дверях которых должны открываться свободно изнутри без ключа (п.26 Правил).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939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Седьмое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Для мебели и предметов, запрещённых к размещению на путях эвакуации, добавлены исключения (например, сидячие места для ожидания) (п.27 «б» Правил), при этом п.28 устанавливает необходимость соблюдения геометрических параметров эвакуационных путей.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7109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Восьмое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Из п.48 Правил (проверка на водоотдачу) исключён внутренний противопожарный водопровод. Исправность, своевременное обслуживание и ремонт ВПВ перешли в п.50 Правил.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8827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Девятое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Увеличена до ширины 1,4 м (было 0,5 м) требуемая минерализованная полоса, отделяющая граничащие с лесом объекты защиты. Кроме того, вокруг населённых пунктов, подверженных угрозе лесных (ландшафтных) пожаров, должна быть создана минерализованная полоса шириной не менее 10 метров (п.70 Правил).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390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Десятое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Вводится требование о необходимости установки автономных дымовых пожарных </a:t>
            </a:r>
            <a:r>
              <a:rPr lang="ru-RU" dirty="0" err="1"/>
              <a:t>извещателей</a:t>
            </a:r>
            <a:r>
              <a:rPr lang="ru-RU" dirty="0"/>
              <a:t> в комнатах квартир и жилых домов некоторых категорий семей (многодетные и др.) (п.85.1 Правил).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830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Одиннадцатое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Требуемое время наблюдения за местом проведения огневых работ сокращено с 4 до 2 часов, при этом допускается дистанционное наблюдение, в </a:t>
            </a:r>
            <a:r>
              <a:rPr lang="ru-RU" dirty="0" err="1"/>
              <a:t>т.ч</a:t>
            </a:r>
            <a:r>
              <a:rPr lang="ru-RU" dirty="0"/>
              <a:t>. посредством видеонаблюдения (п.318, п.363 Правил).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9396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Двенадцатое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Установлена необходимость вносить в инструкцию о мерах пожарной безопасности перечень должностных лиц, являющихся дежурным персоналом (при их наличии) (п.393 «м» Правил).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594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Тринадцатое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Утрачивает силу п.411 Правил, определяющий необходимость установки ящиков с песком и их объём (но они остаются в нормах комплектации пожарных щитов).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823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Четырнадцатое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Изменены ранги тушения модельных очагов в нормах обеспечения объектов переносными огнетушителями (приложение №1), а также для вагонов перевозки пассажиров (приложение №3).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2609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Пятнадцатое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 приложении №4 «Порядок использования открытого огня и разведения костров…» конкретизированы требования при сжигании сухой травы, веток, листвы и др. горючей растительности на индивидуальных земельных участках населённых пунктов, а также на садовых или огородных земельных участках.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841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 smtClean="0"/>
              <a:t>Пожарная безопасность в учреждении ключевые изменения в 2022 году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132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3100" dirty="0" smtClean="0"/>
              <a:t/>
            </a:r>
            <a:br>
              <a:rPr lang="ru-RU" sz="3100" dirty="0" smtClean="0"/>
            </a:br>
            <a:r>
              <a:rPr lang="ru-RU" sz="3100" dirty="0" smtClean="0"/>
              <a:t>Пожарная </a:t>
            </a:r>
            <a:r>
              <a:rPr lang="ru-RU" sz="3100" dirty="0"/>
              <a:t>безопасность: новые правила пожарной безопасности 2022 года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Главные нормативные документы, регулирующие пожарную безопасность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754103"/>
              </p:ext>
            </p:extLst>
          </p:nvPr>
        </p:nvGraphicFramePr>
        <p:xfrm>
          <a:off x="683568" y="2262094"/>
          <a:ext cx="8064896" cy="4118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2016224"/>
                <a:gridCol w="2016224"/>
                <a:gridCol w="2016224"/>
              </a:tblGrid>
              <a:tr h="5223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Документ </a:t>
                      </a:r>
                      <a:r>
                        <a:rPr lang="ru-RU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Реквизиты </a:t>
                      </a:r>
                      <a:endParaRPr lang="ru-RU" sz="14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Суть </a:t>
                      </a:r>
                      <a:endParaRPr lang="ru-RU" sz="14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Срок действия</a:t>
                      </a:r>
                      <a:endParaRPr lang="ru-RU" sz="14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</a:tr>
              <a:tr h="855314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Правила противопожарного режима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Постановление Правительства </a:t>
                      </a:r>
                    </a:p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от 16.09.2020 № 1479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Организация пожарной безопасности на объекте защиты</a:t>
                      </a:r>
                    </a:p>
                    <a:p>
                      <a:pPr algn="ctr"/>
                      <a:endParaRPr lang="ru-RU" sz="11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algn="ctr"/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До 31.12.2026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  <a:tr h="100955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Типовые дополнительные профессиональные программы</a:t>
                      </a:r>
                    </a:p>
                    <a:p>
                      <a:pPr algn="ctr"/>
                      <a:endParaRPr lang="ru-RU" sz="11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algn="ctr"/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Приказ МЧС от 05.09.2021 № 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Обучение пожарной безопасности ответственных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До 01.03.2028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  <a:tr h="8553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Порядок обучения по программам противопожарного инструктажа</a:t>
                      </a:r>
                    </a:p>
                    <a:p>
                      <a:pPr algn="ctr"/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Приказ МЧС от 18.11.2021 № 806 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Порядок обучения по программам противопожарного инструктажа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До 01.03.2028</a:t>
                      </a:r>
                    </a:p>
                    <a:p>
                      <a:pPr algn="ctr"/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  <a:tr h="573322">
                <a:tc>
                  <a:txBody>
                    <a:bodyPr/>
                    <a:lstStyle/>
                    <a:p>
                      <a:pPr algn="ctr"/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Технический регламент о требованиях пожарной безопасности 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Федеральный закон от 22.07.2008 № 123-ФЗ 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Требование пожарной безопасности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Не установлен</a:t>
                      </a:r>
                      <a:endParaRPr lang="ru-RU" sz="11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142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ru-RU" sz="3200" dirty="0" smtClean="0"/>
              <a:t>Обучение мерам пожарной безопасности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С 1 марта 2022 года действуют новые программы обучения мерам пожарной безопасности. </a:t>
            </a:r>
            <a:endParaRPr lang="ru-RU" dirty="0" smtClean="0"/>
          </a:p>
          <a:p>
            <a:pPr marL="0" indent="0" algn="just">
              <a:buNone/>
            </a:pPr>
            <a:r>
              <a:rPr lang="ru-RU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Их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утвердило МЧС приказом от 05.09.2021 № 596</a:t>
            </a:r>
            <a:r>
              <a:rPr lang="ru-RU" dirty="0"/>
              <a:t>. Порядок, виды, сроки обучения, требования к содержанию программ и категории работников, которых нужно обучить,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определены в приказе МЧС от 18.11.2021 № 806. </a:t>
            </a:r>
            <a:endParaRPr lang="ru-RU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новым правилам ответственные за пожарную безопасность должны обучаться только в учебных центрах. </a:t>
            </a: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dirty="0" smtClean="0"/>
              <a:t>Раньше </a:t>
            </a:r>
            <a:r>
              <a:rPr lang="ru-RU" dirty="0"/>
              <a:t>обучение называли «пожарно-технический минимум», теперь — «дополнительное профессиональное образование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0823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dirty="0"/>
              <a:t>Перечень работников, которых нужно направить на обучение пожарной безопасности в учебном центре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 01.03.2022 года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Руководители и главные специалисты </a:t>
            </a:r>
            <a:r>
              <a:rPr lang="ru-RU" sz="1400" dirty="0" smtClean="0"/>
              <a:t>организации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Ответственные за пожарную </a:t>
            </a:r>
            <a:r>
              <a:rPr lang="ru-RU" sz="1400" dirty="0" smtClean="0"/>
              <a:t>безопасность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Лица, которые проводят противопожарный инструктаж</a:t>
            </a:r>
            <a:r>
              <a:rPr lang="ru-RU" sz="1400" dirty="0" smtClean="0"/>
              <a:t> 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Руководители организаций добровольной пожарной </a:t>
            </a:r>
            <a:r>
              <a:rPr lang="ru-RU" sz="1400" dirty="0" smtClean="0"/>
              <a:t>охраны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Руководители загородных оздоровительных учреждений для детей и подростков </a:t>
            </a:r>
            <a:r>
              <a:rPr lang="ru-RU" sz="1400" dirty="0" smtClean="0"/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Работники, которые выполняют огневые работы </a:t>
            </a:r>
            <a:endParaRPr lang="ru-RU" sz="1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Водители пожарных автомобилей </a:t>
            </a:r>
            <a:endParaRPr lang="ru-RU" sz="1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Мотористы мотопомп детских оздоровительных </a:t>
            </a:r>
            <a:r>
              <a:rPr lang="ru-RU" sz="1400" dirty="0" smtClean="0"/>
              <a:t>учреждений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Иные работники по решению руководителя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С 01.03.2022 года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Руководители организаций и ИП </a:t>
            </a:r>
            <a:endParaRPr lang="ru-RU" sz="1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Ответственные за пожарную </a:t>
            </a:r>
            <a:r>
              <a:rPr lang="ru-RU" sz="1400" dirty="0" smtClean="0"/>
              <a:t>безопасность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Лица, которые проводят противопожарный инструктаж </a:t>
            </a:r>
            <a:r>
              <a:rPr lang="ru-RU" sz="1400" dirty="0" smtClean="0"/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Руководители организаций, которые обеспечивают противопожарную </a:t>
            </a:r>
            <a:r>
              <a:rPr lang="ru-RU" sz="1400" dirty="0" smtClean="0"/>
              <a:t>безопасность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Главные технические специалисты объектов массового пребывания </a:t>
            </a:r>
            <a:r>
              <a:rPr lang="ru-RU" sz="1400" dirty="0" smtClean="0"/>
              <a:t>людей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Главные специалисты на объектах повышенной </a:t>
            </a:r>
            <a:r>
              <a:rPr lang="ru-RU" sz="1400" dirty="0" err="1"/>
              <a:t>взрывопожароопасности</a:t>
            </a:r>
            <a:r>
              <a:rPr lang="ru-RU" sz="1400" dirty="0"/>
              <a:t> </a:t>
            </a:r>
            <a:r>
              <a:rPr lang="ru-RU" sz="1400" dirty="0" smtClean="0"/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Специалисты по противопожарной профилактике </a:t>
            </a:r>
            <a:endParaRPr lang="ru-RU" sz="14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5526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ВАЖНО!!!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После того как ответственный за пожарную безопасность пройдет аттестацию но новой программе, он получит удостоверение о повышении квалификации или диплом о профессиональной переподготовке </a:t>
            </a: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ru-RU" dirty="0" smtClean="0"/>
              <a:t>(</a:t>
            </a:r>
            <a:r>
              <a:rPr lang="ru-RU" dirty="0"/>
              <a:t>п. 15 ст. 76 Федерального закона от 29.12.2012 № 273-ФЗ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255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Обеспечение </a:t>
            </a:r>
            <a:r>
              <a:rPr lang="ru-RU" dirty="0"/>
              <a:t>пожарной безопасности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Перечислим основные мероприятия по обеспечению пожарной безопасности, которые необходимо проводить с учетом новых </a:t>
            </a:r>
            <a:r>
              <a:rPr lang="ru-RU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правил</a:t>
            </a:r>
            <a:r>
              <a:rPr lang="ru-RU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200" dirty="0" smtClean="0"/>
              <a:t>Утвердите </a:t>
            </a:r>
            <a:r>
              <a:rPr lang="ru-RU" sz="1200" dirty="0"/>
              <a:t>Инструкцию о мерах пожарной безопасности. На каждый объект, в том числе отдельно для каждого </a:t>
            </a:r>
            <a:r>
              <a:rPr lang="ru-RU" sz="1200" dirty="0" err="1"/>
              <a:t>пожаровзрывоопасного</a:t>
            </a:r>
            <a:r>
              <a:rPr lang="ru-RU" sz="1200" dirty="0"/>
              <a:t> и пожароопасного помещения категории В1 производственного и складского назначения (п. 2 Правил</a:t>
            </a:r>
            <a:r>
              <a:rPr lang="ru-RU" sz="1200" dirty="0" smtClean="0"/>
              <a:t>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200" dirty="0"/>
              <a:t>Проведите противопожарные инструктажи (обучение противопожарной безопасности). К работе на объекте можно допускать только тех лиц, которые прошли обучение мерам пожарной безопасности (п. 3 Правил). Порядок и сроки обучения определяет руководитель </a:t>
            </a:r>
            <a:r>
              <a:rPr lang="ru-RU" sz="1200" dirty="0" smtClean="0"/>
              <a:t>учреждения.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200" dirty="0" smtClean="0"/>
              <a:t>Назначьте </a:t>
            </a:r>
            <a:r>
              <a:rPr lang="ru-RU" sz="1200" dirty="0"/>
              <a:t>ответственного за пожарную безопасность (п. 4 Правил), который будет обеспечивать соблюдение требований пожарной безопасности на </a:t>
            </a:r>
            <a:r>
              <a:rPr lang="ru-RU" sz="1200" dirty="0" smtClean="0"/>
              <a:t>объекте.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200" dirty="0" smtClean="0"/>
              <a:t>Разместите </a:t>
            </a:r>
            <a:r>
              <a:rPr lang="ru-RU" sz="1200" dirty="0"/>
              <a:t>инструкций на объектах. На объектах с массовым пребыванием людей, а также на объектах с рабочими местами на этаже для 10 и более человек руководитель организации размещает планы эвакуации людей при пожаре. На планах эвакуации людей при пожаре обозначают места хранения первичных средств пожаротушения (п. 5 Правил). На объекте с массовым пребыванием людей руководитель организации размещает инструкции о действиях персонала по эвакуации людей при пожаре, а также проводит не реже одного раза в полугодие практические тренировки работников (п. 9 Правил</a:t>
            </a:r>
            <a:r>
              <a:rPr lang="ru-RU" sz="1200" dirty="0" smtClean="0"/>
              <a:t>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200" dirty="0" smtClean="0"/>
              <a:t>Проверьте </a:t>
            </a:r>
            <a:r>
              <a:rPr lang="ru-RU" sz="1200" dirty="0"/>
              <a:t>содержание противопожарных объектов и оборудования. Перечислим ниже основные обязанности руководителя организации по обеспечению пожарной </a:t>
            </a:r>
            <a:r>
              <a:rPr lang="ru-RU" sz="1200" dirty="0" smtClean="0"/>
              <a:t>безопасности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57976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ЧТО ПРОВЕРИТЬ!!!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435280" cy="532859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Содержание </a:t>
            </a:r>
            <a:r>
              <a:rPr lang="ru-RU" sz="1100" dirty="0"/>
              <a:t>наружных пожарных лестниц и ограждений на крышах зданий и сооружений в исправном состоянии. Не реже одного раза в пять лет - эксплуатационные испытания пожарных лестниц и ограждений на крышах с составлением соответствующего протокола (п. 17 Правил); </a:t>
            </a:r>
            <a:endParaRPr lang="ru-RU" sz="11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Наличие </a:t>
            </a:r>
            <a:r>
              <a:rPr lang="ru-RU" sz="1100" dirty="0"/>
              <a:t>на дверях помещений производственного и складского назначения и наружных установках обозначения (п. 12 Правил): их категорий по взрывопожарной и пожарной опасности; класса зоны в соответствии с главами 5, 7 и 8 Закона № 123-ФЗ; </a:t>
            </a:r>
            <a:endParaRPr lang="ru-RU" sz="11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Проведение </a:t>
            </a:r>
            <a:r>
              <a:rPr lang="ru-RU" sz="1100" dirty="0"/>
              <a:t>не реже раза в год проверки состояние огнезащитной обработки в соответствии с инструкцией завода-изготовителя. По итогам проверки должен быть акт проверки и устраняют выявленные нарушения (п. 13 Правил</a:t>
            </a:r>
            <a:r>
              <a:rPr lang="ru-RU" sz="1100" dirty="0" smtClean="0"/>
              <a:t>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Соблюдение </a:t>
            </a:r>
            <a:r>
              <a:rPr lang="ru-RU" sz="1100" dirty="0"/>
              <a:t>проектных решений и требований нормативных документов по пожарной безопасности в соответствии с требованиями статьи 84 Закона № 123-ФЗ (п. 23 Правил). В частности, это касается освещенности; </a:t>
            </a:r>
            <a:endParaRPr lang="ru-RU" sz="11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Количества</a:t>
            </a:r>
            <a:r>
              <a:rPr lang="ru-RU" sz="1100" dirty="0"/>
              <a:t>, размеров и объемно-планировочных решений эвакуационных путей и выходов; </a:t>
            </a:r>
            <a:endParaRPr lang="ru-RU" sz="11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Наличия </a:t>
            </a:r>
            <a:r>
              <a:rPr lang="ru-RU" sz="1100" dirty="0"/>
              <a:t>на путях эвакуации знаков пожарной безопасности</a:t>
            </a:r>
            <a:r>
              <a:rPr lang="ru-RU" sz="1100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Очистка </a:t>
            </a:r>
            <a:r>
              <a:rPr lang="ru-RU" sz="1100" dirty="0"/>
              <a:t>вентиляционных камер, циклонов, фильтров и воздуховодов от горючих отходов. По итогам составляют соответствующий акт (п. 43 Правил); </a:t>
            </a:r>
            <a:endParaRPr lang="ru-RU" sz="11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Проверка </a:t>
            </a:r>
            <a:r>
              <a:rPr lang="ru-RU" sz="1100" dirty="0"/>
              <a:t>не реже двух раз в год исправности источников наружного противопожарного водоснабжения и внутреннего противопожарного водопровода. По итогам - внесение записи в журнал эксплуатации систем противопожарной защиты. При отключении участков водопроводной сети или пожарных гидрантов, а также при уменьшении давления в водопроводной сети ниже требуемого - извещение подразделение пожарной охраны. Руководитель организации обеспечивает исправное состояние пожарных гидрантов, их утепление и очистку от снега и льда в зимнее время, доступность подъезда пожарной техники к пожарным гидрантам в любое время года (п. 48 Правил</a:t>
            </a:r>
            <a:r>
              <a:rPr lang="ru-RU" sz="1100" dirty="0" smtClean="0"/>
              <a:t>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Укомплектованность </a:t>
            </a:r>
            <a:r>
              <a:rPr lang="ru-RU" sz="1100" dirty="0"/>
              <a:t>пожарных кранов внутреннего противопожарного водопровода пожарными рукавами, ручными пожарными стволами и вентилями. Не реже одного раза в год - перекатка пожарных рукавов (п. 43 Правил</a:t>
            </a:r>
            <a:r>
              <a:rPr lang="ru-RU" sz="1100" dirty="0" smtClean="0"/>
              <a:t>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Обеспечение </a:t>
            </a:r>
            <a:r>
              <a:rPr lang="ru-RU" sz="1100" dirty="0"/>
              <a:t>исправного состояния систем и средств противопожарной защиты объекта (п. 54 Правил). Не реже одного раза в квартал необходимо проверять работоспособность указанных систем и средств противопожарной защиты объекта, по итогам проверок составляют акт проверки. Кроме того, в соответствии с годовым планом-графиком на основе технической документации заводов-изготовителей проводят техническое обслуживание и планово-предупредительный ремонт (п. 55 Правил); </a:t>
            </a:r>
            <a:endParaRPr lang="ru-RU" sz="11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100" dirty="0" smtClean="0"/>
              <a:t>Снабжение </a:t>
            </a:r>
            <a:r>
              <a:rPr lang="ru-RU" sz="1100" dirty="0"/>
              <a:t>объекта огнетушителями по нормам согласно приложениям 1 и 2, а также соблюдение сроков их перезарядки, освидетельствования и своевременной замены, указанных в паспорте (п. 60 Правил</a:t>
            </a:r>
            <a:r>
              <a:rPr lang="ru-RU" sz="1100" dirty="0" smtClean="0"/>
              <a:t>).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53178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 smtClean="0"/>
              <a:t>Пожарная безопасность.</a:t>
            </a:r>
            <a:br>
              <a:rPr lang="ru-RU" dirty="0" smtClean="0"/>
            </a:br>
            <a:r>
              <a:rPr lang="ru-RU" dirty="0" smtClean="0"/>
              <a:t> Внутренние документы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Комплект локальных нормативных актов, приказов, графиков и других документов, устанавливающих правила пожарной безопасности, формируется с учетом размера, структуры и других характеристик конкретной компании. </a:t>
            </a:r>
            <a:endParaRPr lang="ru-RU" dirty="0" smtClean="0"/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Тем 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 менее существует общий набор документов, отсутствие которых грозит работодателю штрафом. </a:t>
            </a:r>
          </a:p>
        </p:txBody>
      </p:sp>
    </p:spTree>
    <p:extLst>
      <p:ext uri="{BB962C8B-B14F-4D97-AF65-F5344CB8AC3E}">
        <p14:creationId xmlns:p14="http://schemas.microsoft.com/office/powerpoint/2010/main" val="33287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Какие нужны документы!!!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Приказы. Распорядительные документы </a:t>
            </a:r>
            <a:r>
              <a:rPr lang="ru-RU" dirty="0"/>
              <a:t>необходимы, чтобы назначить ответственных за пожарную безопасность, регламентировать процесс подготовки и проведения инструктажей для персонала, утвердить перечень противопожарных мероприятий.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Перечислим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приказы, которые должны быть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учреждении: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о назначении ответственных за пожарную безопасность, за обеспечение и исправное состояние первичных средств пожаротушения, за пожарную безопасность при проведении пожароопасных работ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о порядке обесточивания электрооборудования в случае пожара и в конце рабочего дня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о порядке осмотра и закрытия помещений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о порядке уборки горючих отходов и пыли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об определении и оборудовании мест для курения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626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ИНСТРУКЦИИ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Инструкции. Регламентируют порядок действий </a:t>
            </a:r>
            <a:r>
              <a:rPr lang="ru-RU" dirty="0"/>
              <a:t>при пожаре и устанавливают правила, которые персонал обязан соблюдать</a:t>
            </a:r>
            <a:r>
              <a:rPr lang="ru-RU" dirty="0" smtClean="0"/>
              <a:t>.</a:t>
            </a:r>
          </a:p>
          <a:p>
            <a:pPr marL="0" indent="0" algn="ctr">
              <a:buNone/>
            </a:pPr>
            <a:r>
              <a:rPr lang="ru-RU" dirty="0" smtClean="0"/>
              <a:t>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Рекомендуем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разработать комплект инструкций, в который входят:  </a:t>
            </a: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инструкция </a:t>
            </a:r>
            <a:r>
              <a:rPr lang="ru-RU" dirty="0"/>
              <a:t>о мерах пожарной </a:t>
            </a:r>
            <a:r>
              <a:rPr lang="ru-RU" dirty="0" smtClean="0"/>
              <a:t>безопасности;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инструкция </a:t>
            </a:r>
            <a:r>
              <a:rPr lang="ru-RU" dirty="0"/>
              <a:t>для ответственного за пожарную безопасность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инструкция по эксплуатации противопожарного водопровода;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инструкция </a:t>
            </a:r>
            <a:r>
              <a:rPr lang="ru-RU" dirty="0"/>
              <a:t>по техническому обслуживанию огнетушителей. </a:t>
            </a:r>
          </a:p>
        </p:txBody>
      </p:sp>
    </p:spTree>
    <p:extLst>
      <p:ext uri="{BB962C8B-B14F-4D97-AF65-F5344CB8AC3E}">
        <p14:creationId xmlns:p14="http://schemas.microsoft.com/office/powerpoint/2010/main" val="132022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ВАЖНО!!!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Отдельно утвердите, распечатайте и разместите в общедоступном месте инструкцию о действиях персонала в случае пожара и эвакуации из помещений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793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ОБУЧЕНИЕ ПЕРСОНАЛА!!!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Документы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 обучению персонала. Все сотрудники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учреждения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должны проходить противопожарный инструктаж. </a:t>
            </a:r>
            <a:r>
              <a:rPr lang="ru-RU" dirty="0"/>
              <a:t>Пожарно-техническому минимуму обучают сотрудников, перечисленных в приложении 3 к приказу МЧС от 18.11.2021 № 806.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Порядок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обучения работников противопожарной безопасности необходимо закрепить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r>
              <a:rPr lang="ru-RU" dirty="0"/>
              <a:t>Для этого должны быть подготовлены: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программа </a:t>
            </a:r>
            <a:r>
              <a:rPr lang="ru-RU" dirty="0"/>
              <a:t>вводного и первичного противопожарных инструктажей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п</a:t>
            </a:r>
            <a:r>
              <a:rPr lang="ru-RU" dirty="0" smtClean="0"/>
              <a:t>рограмма проведения обучения для детей;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программа пожарно-технического минимума;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список </a:t>
            </a:r>
            <a:r>
              <a:rPr lang="ru-RU" dirty="0"/>
              <a:t>вопросов для проверки знаний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протоколы проверки знаний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удостоверения о прохождении пожарно-технического минимума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256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 smtClean="0"/>
              <a:t>Техническая </a:t>
            </a:r>
            <a:r>
              <a:rPr lang="ru-RU" dirty="0"/>
              <a:t>документация и знаки пожарной </a:t>
            </a:r>
            <a:r>
              <a:rPr lang="ru-RU" dirty="0" smtClean="0"/>
              <a:t>безопасности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организации должна быть следующая техническая документация и знаки пожарной безопасности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планы эвакуации при пожаре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таблички с указанием эвакуационных выходов и телефонов пожарной охраны, мест размещения огнетушителей;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регламенты </a:t>
            </a:r>
            <a:r>
              <a:rPr lang="ru-RU" dirty="0"/>
              <a:t>технического обслуживания систем пожарной автоматики, оповещения о пожаре, огнетушителей;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сертификаты </a:t>
            </a:r>
            <a:r>
              <a:rPr lang="ru-RU" dirty="0"/>
              <a:t>на материалы и вещества, которые используют в производстве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эксплуатационные паспорта огнетушителей;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графики </a:t>
            </a:r>
            <a:r>
              <a:rPr lang="ru-RU" dirty="0"/>
              <a:t>и акты проверки сопротивления заземляющих приборов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наряды-допуски на выполнение огневых работ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992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990600"/>
          </a:xfrm>
        </p:spPr>
        <p:txBody>
          <a:bodyPr>
            <a:noAutofit/>
          </a:bodyPr>
          <a:lstStyle/>
          <a:p>
            <a:pPr algn="r"/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>Ответственные </a:t>
            </a:r>
            <a:r>
              <a:rPr lang="ru-RU" sz="2800" dirty="0"/>
              <a:t>за пожарную безопасность </a:t>
            </a:r>
            <a:r>
              <a:rPr lang="ru-RU" sz="2800" dirty="0" smtClean="0"/>
              <a:t>в учреждении</a:t>
            </a:r>
            <a:r>
              <a:rPr lang="ru-RU" sz="2800" dirty="0"/>
              <a:t/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1600" dirty="0"/>
              <a:t>Ответственного за пожарную безопасность и за проведение инструктажей назначает руководитель </a:t>
            </a:r>
            <a:r>
              <a:rPr lang="ru-RU" sz="1600" dirty="0" smtClean="0"/>
              <a:t>учреждения. Руководитель </a:t>
            </a:r>
            <a:r>
              <a:rPr lang="ru-RU" sz="1600" dirty="0"/>
              <a:t>решает самостоятельно, сколько ответственных за пожарную безопасность назначить, исходя из специфики предприятия. Количество ответственных не регламентировано. Нужно назначить </a:t>
            </a:r>
            <a:r>
              <a:rPr lang="ru-RU" sz="1600" dirty="0" smtClean="0"/>
              <a:t>минимум </a:t>
            </a:r>
            <a:r>
              <a:rPr lang="ru-RU" sz="1600" dirty="0"/>
              <a:t>одного человека (п. 4 ППР). Таким лицом может быть любой сотрудник</a:t>
            </a:r>
            <a:r>
              <a:rPr lang="ru-RU" sz="1600" dirty="0" smtClean="0"/>
              <a:t>.</a:t>
            </a:r>
          </a:p>
          <a:p>
            <a:pPr marL="0" indent="0" algn="just">
              <a:buNone/>
            </a:pPr>
            <a:r>
              <a:rPr lang="ru-RU" sz="1600" b="1" u="sng" dirty="0" smtClean="0"/>
              <a:t>!!!При </a:t>
            </a:r>
            <a:r>
              <a:rPr lang="ru-RU" sz="1600" b="1" u="sng" dirty="0"/>
              <a:t>этом обязанности отвечающего за пожарную безопасность должны быть прописаны в должностной инструкции. Это указано в пункте 4 Правил противопожарного режима (далее — ППР), утвержденных постановлением Правительства от 16.09.2020 № 1479</a:t>
            </a:r>
            <a:r>
              <a:rPr lang="ru-RU" sz="1600" b="1" u="sng" dirty="0" smtClean="0"/>
              <a:t>.</a:t>
            </a:r>
          </a:p>
          <a:p>
            <a:pPr marL="0" indent="0" algn="just">
              <a:buNone/>
            </a:pPr>
            <a:r>
              <a:rPr lang="ru-RU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ВАЖНО!!!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600" dirty="0"/>
              <a:t>Отдельные здания — это отдельные объекты защиты. В отношении каждого объекта руководитель должен назначить ответственного за пожарную безопасность (п. 2 ППР</a:t>
            </a:r>
            <a:r>
              <a:rPr lang="ru-RU" sz="1600" dirty="0" smtClean="0"/>
              <a:t>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600" dirty="0" smtClean="0"/>
              <a:t>Обучить </a:t>
            </a:r>
            <a:r>
              <a:rPr lang="ru-RU" sz="1600" dirty="0"/>
              <a:t>ответственного необходимо по программе дополнительного профобразования в учебном центре. Это прописано в приложении 3 к Порядку обучения по программам противопожарного инструктажа, утвержденному приказом МЧС от 18.11.2021 № </a:t>
            </a:r>
            <a:r>
              <a:rPr lang="ru-RU" sz="1600" dirty="0" smtClean="0"/>
              <a:t>806.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600" dirty="0" smtClean="0"/>
              <a:t>Назначьте </a:t>
            </a:r>
            <a:r>
              <a:rPr lang="ru-RU" sz="1600" dirty="0"/>
              <a:t>приказом ответственного за проведение противопожарного инструктажа. Проводить противопожарные инструктажи может руководитель </a:t>
            </a:r>
            <a:r>
              <a:rPr lang="ru-RU" sz="1600" dirty="0" smtClean="0"/>
              <a:t>я</a:t>
            </a:r>
            <a:r>
              <a:rPr lang="ru-RU" sz="1600" dirty="0"/>
              <a:t>, ответственный за пожарную безопасность или другие работники, которых приказом назначили ответственными за проведение противопожарных инструктажей</a:t>
            </a:r>
            <a:r>
              <a:rPr lang="ru-RU" sz="1600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600" dirty="0" smtClean="0"/>
              <a:t> </a:t>
            </a:r>
            <a:r>
              <a:rPr lang="ru-RU" sz="1600" dirty="0"/>
              <a:t>Ответственных за проведение противопожарного инструктажа может быть несколько (п. 4 ППР). Например, в каждом структурном подразделении можно назначить ответственного за проведение противопожарного инструктажа</a:t>
            </a:r>
            <a:r>
              <a:rPr lang="ru-RU" sz="1600" dirty="0" smtClean="0"/>
              <a:t>.</a:t>
            </a:r>
            <a:endParaRPr lang="ru-RU" sz="1600" b="1" u="sng" dirty="0"/>
          </a:p>
        </p:txBody>
      </p:sp>
    </p:spTree>
    <p:extLst>
      <p:ext uri="{BB962C8B-B14F-4D97-AF65-F5344CB8AC3E}">
        <p14:creationId xmlns:p14="http://schemas.microsoft.com/office/powerpoint/2010/main" val="90011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ПРАКТИКА 2022 года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Инспектора смотрели: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организацию повседневной работы по обеспечению пожарной безопасности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эксплуатацию эвакуационных путей и выходов, электрооборудования объекта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обеспеченность первичными средствами пожаротушения;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организацию </a:t>
            </a:r>
            <a:r>
              <a:rPr lang="ru-RU" dirty="0"/>
              <a:t>выполнения пожароопасных </a:t>
            </a:r>
            <a:r>
              <a:rPr lang="ru-RU" dirty="0" smtClean="0"/>
              <a:t>работ;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наличие </a:t>
            </a:r>
            <a:r>
              <a:rPr lang="ru-RU" dirty="0"/>
              <a:t>внутренних актов по обеспечению пожарной безопасности, их соответствие </a:t>
            </a:r>
            <a:r>
              <a:rPr lang="ru-RU" dirty="0" smtClean="0"/>
              <a:t>требованиям;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организацию </a:t>
            </a:r>
            <a:r>
              <a:rPr lang="ru-RU" dirty="0"/>
              <a:t>обучения работников мерам пожарной безопасности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938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При </a:t>
            </a:r>
            <a:r>
              <a:rPr lang="ru-RU" dirty="0"/>
              <a:t>проверке основное внимание инспекторы </a:t>
            </a:r>
            <a:r>
              <a:rPr lang="ru-RU" dirty="0" smtClean="0"/>
              <a:t>обращали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на установленный на объекте противопожарный режим, его соблюдение работниками;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наличие </a:t>
            </a:r>
            <a:r>
              <a:rPr lang="ru-RU" dirty="0"/>
              <a:t>пожарно-технической комиссии и добровольного пожарного формирования (с учетом реальных возможностей и потребностей работодателя</a:t>
            </a:r>
            <a:r>
              <a:rPr lang="ru-RU" dirty="0" smtClean="0"/>
              <a:t>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наличие локальных актов по обеспечению пожарной безопасности (инструкций о мерах пожарной безопасности на объекте и по видам работ, выполняемых на объекте, инструкций и схем (планов) эвакуации при пожаре и т. п</a:t>
            </a:r>
            <a:r>
              <a:rPr lang="ru-RU" dirty="0" smtClean="0"/>
              <a:t>.);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наличие лиц, ответственных за обеспечение пожарной </a:t>
            </a:r>
            <a:r>
              <a:rPr lang="ru-RU" dirty="0" smtClean="0"/>
              <a:t>безопасности;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исправность </a:t>
            </a:r>
            <a:r>
              <a:rPr lang="ru-RU" dirty="0"/>
              <a:t>противопожарных систем и установок, а также исправность и достаточность наружного освещения объектов работодателя, устройств </a:t>
            </a:r>
            <a:r>
              <a:rPr lang="ru-RU" dirty="0" err="1"/>
              <a:t>самозакрывания</a:t>
            </a:r>
            <a:r>
              <a:rPr lang="ru-RU" dirty="0"/>
              <a:t> дверей (доводчиков); </a:t>
            </a: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наличие </a:t>
            </a:r>
            <a:r>
              <a:rPr lang="ru-RU" dirty="0"/>
              <a:t>предупредительных обозначений, надписей и т. п. в помещениях (на оборудовании и т. п.), имеющих повышенную пожарную </a:t>
            </a:r>
            <a:r>
              <a:rPr lang="ru-RU" dirty="0" smtClean="0"/>
              <a:t>опасность;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оборудование </a:t>
            </a:r>
            <a:r>
              <a:rPr lang="ru-RU" dirty="0"/>
              <a:t>и содержание мест для курения и сжигания отходов (тары), контейнеров для сбора использованных обтирочных материалов, кладовых для хранения спецодежды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dirty="0"/>
              <a:t>состояние противопожарных перекрытий, огнезащитных покрытий, чердачных помещений, цокольных и подвальных этажей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015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dirty="0">
                <a:hlinkClick r:id="rId2"/>
              </a:rPr>
              <a:t>Распоряжение МЧС России от 15 ноября 2022 г. N 1210 "Об утверждении официальных разъяснений обязательных требований, установленных приказом МЧС России от 18.11.2021 N 806"</a:t>
            </a:r>
            <a:endParaRPr lang="ru-RU" sz="3200" b="1" dirty="0"/>
          </a:p>
          <a:p>
            <a:pPr marL="0" indent="0" algn="ctr">
              <a:buNone/>
            </a:pP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523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b="1" dirty="0"/>
              <a:t>Этапы прохождения проверки Государственного пожарного надзора</a:t>
            </a:r>
            <a:br>
              <a:rPr lang="ru-RU" sz="3200" b="1" dirty="0"/>
            </a:b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1. </a:t>
            </a:r>
            <a:r>
              <a:rPr lang="ru-RU" dirty="0" smtClean="0"/>
              <a:t>Получите </a:t>
            </a:r>
            <a:r>
              <a:rPr lang="ru-RU" dirty="0"/>
              <a:t>уведомление о начале проведения проверки.</a:t>
            </a:r>
          </a:p>
          <a:p>
            <a:pPr marL="0" indent="0" algn="just">
              <a:buNone/>
            </a:pPr>
            <a:r>
              <a:rPr lang="ru-RU" dirty="0"/>
              <a:t>2. </a:t>
            </a:r>
            <a:r>
              <a:rPr lang="ru-RU" dirty="0" smtClean="0"/>
              <a:t>Созвонитесь </a:t>
            </a:r>
            <a:r>
              <a:rPr lang="ru-RU" dirty="0"/>
              <a:t>с инспектором, </a:t>
            </a:r>
            <a:r>
              <a:rPr lang="ru-RU" dirty="0" smtClean="0"/>
              <a:t>назначьте </a:t>
            </a:r>
            <a:r>
              <a:rPr lang="ru-RU" dirty="0"/>
              <a:t>день приезда (заранее, как например, в ГИТ никакую документацию не </a:t>
            </a:r>
            <a:r>
              <a:rPr lang="ru-RU" dirty="0" smtClean="0"/>
              <a:t>предоставляйте).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3. В день приезда у </a:t>
            </a:r>
            <a:r>
              <a:rPr lang="ru-RU" dirty="0" smtClean="0"/>
              <a:t>вас запросят </a:t>
            </a:r>
            <a:r>
              <a:rPr lang="ru-RU" dirty="0"/>
              <a:t>всю исполнительную документацию на все имеющиеся пожарные системы, план-схемы </a:t>
            </a:r>
            <a:r>
              <a:rPr lang="ru-RU" dirty="0" smtClean="0"/>
              <a:t>учреждения, </a:t>
            </a:r>
            <a:r>
              <a:rPr lang="ru-RU" dirty="0"/>
              <a:t>расчет категорий по пожарной и взрывопожарной опасности, расчет рисков, </a:t>
            </a:r>
            <a:r>
              <a:rPr lang="ru-RU" dirty="0" smtClean="0"/>
              <a:t>расспросят </a:t>
            </a:r>
            <a:r>
              <a:rPr lang="ru-RU" dirty="0"/>
              <a:t>про установленные системы, про периодичность </a:t>
            </a:r>
            <a:r>
              <a:rPr lang="ru-RU" dirty="0" smtClean="0"/>
              <a:t>испытаний.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17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b="1" dirty="0" smtClean="0"/>
              <a:t>Основные замечания </a:t>
            </a:r>
            <a:r>
              <a:rPr lang="ru-RU" sz="3200" b="1" dirty="0"/>
              <a:t>Государственного пожарного </a:t>
            </a:r>
            <a:r>
              <a:rPr lang="ru-RU" sz="3200" b="1" dirty="0" smtClean="0"/>
              <a:t>надзора по ТЕХ РЕГЛАМЕНТУ</a:t>
            </a:r>
            <a:endParaRPr lang="ru-RU" sz="3200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393947"/>
              </p:ext>
            </p:extLst>
          </p:nvPr>
        </p:nvGraphicFramePr>
        <p:xfrm>
          <a:off x="457200" y="1600200"/>
          <a:ext cx="82296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нарушения требований пожарной безопасности, с указанием конкретного места выявленного нарушения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 (абзац пункта) и наименование нормативного правового акта Российской Федерации и (или) нормативного документа по пожарной безопасности, требования которого (</a:t>
                      </a:r>
                      <a:r>
                        <a:rPr lang="ru-RU" sz="14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ых</a:t>
                      </a:r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нарушены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Допущено размещение дымовых пожарных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извещателей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расстоянии менее нормативного значения 1 м от вентиляционного отверстия.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п. 1, ч. 2, ст. 6; п. 2, ч. 1, ст. 6, ст. 83, ст. 91 Федерального закона № 123-ФЗ от 22.07.2008г. «Технический регламент о требованиях пожарной безопасности»; п. 6.6.32 Свода правил СП 484.1311500.2020 «Системы противопожарной защиты. Системы пожарной сигнализации и автоматизация систем противопожарной защиты. Нормы и правила проектирования».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6674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dirty="0"/>
              <a:t>Основные замечания Государственного пожарного надзора по ТЕХ РЕГЛАМЕНТУ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1362507"/>
              </p:ext>
            </p:extLst>
          </p:nvPr>
        </p:nvGraphicFramePr>
        <p:xfrm>
          <a:off x="457200" y="1600200"/>
          <a:ext cx="8229600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нарушения требований пожарной безопасности, с указанием конкретного места выявленного нарушения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 (абзац пункта) и наименование нормативного правового акта Российской Федерации и (или) нормативного документа по пожарной безопасности, требования которого (</a:t>
                      </a:r>
                      <a:r>
                        <a:rPr lang="ru-RU" sz="14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ых</a:t>
                      </a:r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нарушены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Допущена совместная прокладка кабельных линий систем противопожарной защиты с другими проводами в одном коробе.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п. 1, ч. 2, ст. 6; п. 2, ч. 1, ст. 6, ст. 83, ст. 91 Федерального закона № 123-ФЗ от 22.07.2008г. «Технический регламент о требованиях пожарной без-опасности»;  п. 4.14 СП 6.13130.2013 г. «Системы противопожарной защиты. Электрооборудование. Требования пожарной безопасности»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9451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/>
              <a:t>Основные замечания Государственного пожарного надзора по ТЕХ РЕГЛАМЕНТУ</a:t>
            </a:r>
            <a:endParaRPr lang="ru-RU" sz="32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335112"/>
              </p:ext>
            </p:extLst>
          </p:nvPr>
        </p:nvGraphicFramePr>
        <p:xfrm>
          <a:off x="457200" y="1600200"/>
          <a:ext cx="8229600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нарушения требований пожарной безопасности, с указанием конкретного места выявленного нарушения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 (абзац пункта) и наименование нормативного правового акта Российской Федерации и (или) нормативного документа по пожарной безопасности, требования которого (</a:t>
                      </a:r>
                      <a:r>
                        <a:rPr lang="ru-RU" sz="14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ых</a:t>
                      </a:r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нарушены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Ширина эвакуационного выхода из помещения для хранения уборочного инвентаря менее нормативного значения 0,6 м.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п. 1, ч. 2, ст. 6; п. 2, ч. 1, ст. 6, ст. 53 Федерального закона № 123-ФЗ от 22.07.2008г. «Технический регламент о требованиях пожарной без-опасности»;   п. 4.2.19. Свода правил СП 1. 13130.2020 г. «Системы противопожарной защиты. Эвакуационные пути и выходы».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567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b="1" dirty="0"/>
              <a:t>Основные замечания Государственного пожарного надзора по ТЕХ РЕГЛАМЕНТУ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3840596"/>
              </p:ext>
            </p:extLst>
          </p:nvPr>
        </p:nvGraphicFramePr>
        <p:xfrm>
          <a:off x="457200" y="1600200"/>
          <a:ext cx="822960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нарушения требований пожарной безопасности, с указанием конкретного места выявленного нарушения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 (абзац пункта) и наименование нормативного правового акта Российской Федерации и (или) нормативного документа по пожарной безопасности, требования которого (</a:t>
                      </a:r>
                      <a:r>
                        <a:rPr lang="ru-RU" sz="14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ых</a:t>
                      </a:r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нарушены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Звуковые сигналы СОУЭ в помещении не обеспечивают общий уровень звука не менее 75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дБА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расстоянии 3 м от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оповещателя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п. 1, ч. 2, ст. 6; п. 2, ч. 1, ст. 6, ст. 54, ст. 84, ст. 91 Федерального закона № 123-ФЗ от 22.07.2008г. «Технический регламент о требованиях пожарной без-опасности»;  п. 4.1. Свода правил СП  3.13130.2009 «Системы противопожарной защиты. Система оповещения и управления эвакуацией людей при пожаре».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2345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b="1" dirty="0"/>
              <a:t>Основные замечания Государственного пожарного надзора по ТЕХ РЕГЛАМЕНТУ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771644"/>
              </p:ext>
            </p:extLst>
          </p:nvPr>
        </p:nvGraphicFramePr>
        <p:xfrm>
          <a:off x="457200" y="1600200"/>
          <a:ext cx="8229600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нарушения требований пожарной безопасности, с указанием конкретного места выявленного нарушения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 (абзац пункта) и наименование нормативного правового акта Российской Федерации и (или) нормативного документа по пожарной безопасности, требования которого (</a:t>
                      </a:r>
                      <a:r>
                        <a:rPr lang="ru-RU" sz="14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ых</a:t>
                      </a:r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нарушены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Путь эвакуации из помещения не соответствует требованиям ст. 89 Федерального закона №123-ФЗ «Технический регламент о требованиях пожарной безопасности» (по факту путь эвакуации осуществляется из помещения в другое помещение, в коридор и на лестничную клетку).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ст. 89 Федерального закона ФЗ № 123 «Технический регламент о требованиях пожарной безопасности».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7463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b="1" dirty="0"/>
              <a:t>Основные замечания Государственного пожарного надзора по ТЕХ РЕГЛАМЕНТУ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059290"/>
              </p:ext>
            </p:extLst>
          </p:nvPr>
        </p:nvGraphicFramePr>
        <p:xfrm>
          <a:off x="457200" y="1600200"/>
          <a:ext cx="82296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нарушения требований пожарной безопасности, с указанием конкретного места выявленного нарушения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 (абзац пункта) и наименование нормативного правового акта Российской Федерации и (или) нормативного документа по пожарной безопасности, требования которого (</a:t>
                      </a:r>
                      <a:r>
                        <a:rPr lang="ru-RU" sz="14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ых</a:t>
                      </a:r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нарушены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высоте помещения до 3,5 м. допущена установка дымового пожарного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извещателя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расстоянии более нормативного значения 4,5 м. от стены.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п. 1, ч. 2, ст. 6; ч.4 ст. 4, п. 2, ч. 1, ст. 6 ст. 83, ст. 91 Федерального закона № 123-ФЗ от 22.07.2008г. «Технический регламент о требованиях пожарной безопасности»;  п. 13.4.1, таблица 13.3 СП 5.13130.2009  «Системы противопожарной защиты».</a:t>
                      </a:r>
                    </a:p>
                    <a:p>
                      <a:pPr algn="just"/>
                      <a:r>
                        <a:rPr lang="ru-RU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Установки пожарной сигнализации и пожаротушения автоматические. Нормы и правила проектирования». П. 54 Постановления Правительства РФ от 16 сентября 2020 г. № 1479 “Об утверждении </a:t>
                      </a:r>
                      <a:r>
                        <a:rPr lang="ru-RU" sz="1200" b="0" i="0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Правил противопожарного режима в Российской Федерации</a:t>
                      </a:r>
                      <a:r>
                        <a:rPr lang="ru-RU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“. Рабочая документация «Система пожарной сигнализации» Ц-03-13-ПС, ПРОЕКТИНЖСТРОЙ, разработанная для МБНПК «</a:t>
                      </a:r>
                      <a:r>
                        <a:rPr lang="ru-RU" sz="1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Цитомед</a:t>
                      </a:r>
                      <a:r>
                        <a:rPr lang="ru-RU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» в 2016 году.</a:t>
                      </a:r>
                    </a:p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902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b="1" dirty="0"/>
              <a:t>Основные замечания Государственного пожарного надзора по ТЕХ РЕГЛАМЕНТУ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860966"/>
              </p:ext>
            </p:extLst>
          </p:nvPr>
        </p:nvGraphicFramePr>
        <p:xfrm>
          <a:off x="457200" y="1600200"/>
          <a:ext cx="82296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нарушения требований пожарной безопасности, с указанием конкретного места выявленного нарушения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 (абзац пункта) и наименование нормативного правового акта Российской Федерации и (или) нормативного документа по пожарной безопасности, требования которого (</a:t>
                      </a:r>
                      <a:r>
                        <a:rPr lang="ru-RU" sz="14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ых</a:t>
                      </a:r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нарушены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помещении при до выступающим от уровня перекрытия на 0,10 м. электрическим светильником, допущена установка пожарного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извещателя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расстоянии менее нормативного значения 0,20 м.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п. 1, ч. 2, ст. 6; п. 2, ч. 1, ст. 6 Федерального закона № 123-ФЗ от 22.07.2008г. «Технический регламент о требованиях пожарной без-опасности»;  п. 6.6.36. Свода правил СП 484.1311500. 2020 «Системы противопожарной защиты. Системы пожарной сигнализации и автоматизация систем противопожарной защиты. Нормы и правила проектирования».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681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b="1" dirty="0"/>
              <a:t>Основные замечания Государственного пожарного надзора по ТЕХ РЕГЛАМЕНТУ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5815610"/>
              </p:ext>
            </p:extLst>
          </p:nvPr>
        </p:nvGraphicFramePr>
        <p:xfrm>
          <a:off x="457200" y="1600200"/>
          <a:ext cx="8229600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нарушения требований пожарной безопасности, с указанием конкретного места выявленного нарушения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 (абзац пункта) и наименование нормативного правового акта Российской Федерации и (или) нормативного документа по пожарной безопасности, требования которого (</a:t>
                      </a:r>
                      <a:r>
                        <a:rPr lang="ru-RU" sz="14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ых</a:t>
                      </a:r>
                      <a:r>
                        <a:rPr lang="ru-R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нарушены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Допущено хранение горючих материалов (деревянный стол, мусор) в</a:t>
                      </a:r>
                      <a:r>
                        <a:rPr lang="ru-RU" sz="16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помещении  </a:t>
                      </a:r>
                      <a:r>
                        <a:rPr lang="ru-RU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электрощитовой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п. 16 (б). Постановления Правительства РФ от 16 сентября 2020 г. № 1479 “Об утверждении Правил противопожарного режима в Российской Федерации”.</a:t>
                      </a:r>
                    </a:p>
                    <a:p>
                      <a:pPr algn="just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497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endParaRPr lang="ru-RU" sz="32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pPr marL="0" indent="0" algn="ctr">
              <a:buNone/>
            </a:pPr>
            <a:r>
              <a:rPr lang="ru-RU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ЛУЧШИЕ ДОКУМЕНТЫ ПО ПОЖАРНОЙ БЕЗОПАСНОСТИ ТОЛЬКО В ФОНДЕ РАЗВИТИЯ ДЕТСКИХ ЛАГЕРЕЙ</a:t>
            </a:r>
            <a:endParaRPr lang="ru-RU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988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сность">
  <a:themeElements>
    <a:clrScheme name="Ясность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Ясност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201</TotalTime>
  <Words>2622</Words>
  <Application>Microsoft Office PowerPoint</Application>
  <PresentationFormat>Экран (4:3)</PresentationFormat>
  <Paragraphs>234</Paragraphs>
  <Slides>45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6" baseType="lpstr">
      <vt:lpstr>Ясность</vt:lpstr>
      <vt:lpstr>15 важных изменений в Правилах противопожарного режима</vt:lpstr>
      <vt:lpstr>Что за документ появился?</vt:lpstr>
      <vt:lpstr>Что изменилось?  На что обратить внимание?</vt:lpstr>
      <vt:lpstr>Первое</vt:lpstr>
      <vt:lpstr>Второе</vt:lpstr>
      <vt:lpstr>Третье </vt:lpstr>
      <vt:lpstr>Четвертое</vt:lpstr>
      <vt:lpstr>Пятое</vt:lpstr>
      <vt:lpstr> Шестое</vt:lpstr>
      <vt:lpstr>Седьмое</vt:lpstr>
      <vt:lpstr>Восьмое</vt:lpstr>
      <vt:lpstr>Девятое</vt:lpstr>
      <vt:lpstr>Десятое</vt:lpstr>
      <vt:lpstr>Одиннадцатое </vt:lpstr>
      <vt:lpstr>Двенадцатое </vt:lpstr>
      <vt:lpstr>Тринадцатое </vt:lpstr>
      <vt:lpstr>Четырнадцатое</vt:lpstr>
      <vt:lpstr>Пятнадцатое </vt:lpstr>
      <vt:lpstr>              Пожарная безопасность в учреждении ключевые изменения в 2022 году</vt:lpstr>
      <vt:lpstr> Пожарная безопасность: новые правила пожарной безопасности 2022 года </vt:lpstr>
      <vt:lpstr>Обучение мерам пожарной безопасности</vt:lpstr>
      <vt:lpstr>Перечень работников, которых нужно направить на обучение пожарной безопасности в учебном центре</vt:lpstr>
      <vt:lpstr>ВАЖНО!!!</vt:lpstr>
      <vt:lpstr> Обеспечение пожарной безопасности </vt:lpstr>
      <vt:lpstr>ЧТО ПРОВЕРИТЬ!!!</vt:lpstr>
      <vt:lpstr>Пожарная безопасность.  Внутренние документы</vt:lpstr>
      <vt:lpstr>Какие нужны документы!!!</vt:lpstr>
      <vt:lpstr>ИНСТРУКЦИИ</vt:lpstr>
      <vt:lpstr>ВАЖНО!!!</vt:lpstr>
      <vt:lpstr>ОБУЧЕНИЕ ПЕРСОНАЛА!!!</vt:lpstr>
      <vt:lpstr>Техническая документация и знаки пожарной безопасности</vt:lpstr>
      <vt:lpstr> Ответственные за пожарную безопасность в учреждении </vt:lpstr>
      <vt:lpstr>ПРАКТИКА 2022 года</vt:lpstr>
      <vt:lpstr> При проверке основное внимание инспекторы обращали </vt:lpstr>
      <vt:lpstr>Презентация PowerPoint</vt:lpstr>
      <vt:lpstr>Этапы прохождения проверки Государственного пожарного надзора </vt:lpstr>
      <vt:lpstr>Основные замечания Государственного пожарного надзора по ТЕХ РЕГЛАМЕНТУ</vt:lpstr>
      <vt:lpstr>Основные замечания Государственного пожарного надзора по ТЕХ РЕГЛАМЕНТУ</vt:lpstr>
      <vt:lpstr>Основные замечания Государственного пожарного надзора по ТЕХ РЕГЛАМЕНТУ</vt:lpstr>
      <vt:lpstr>Основные замечания Государственного пожарного надзора по ТЕХ РЕГЛАМЕНТУ</vt:lpstr>
      <vt:lpstr>Основные замечания Государственного пожарного надзора по ТЕХ РЕГЛАМЕНТУ</vt:lpstr>
      <vt:lpstr>Основные замечания Государственного пожарного надзора по ТЕХ РЕГЛАМЕНТУ</vt:lpstr>
      <vt:lpstr>Основные замечания Государственного пожарного надзора по ТЕХ РЕГЛАМЕНТУ</vt:lpstr>
      <vt:lpstr>Основные замечания Государственного пожарного надзора по ТЕХ РЕГЛАМЕНТУ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 важных изменений в Правилах противопожарного режима</dc:title>
  <dc:creator>Admin</dc:creator>
  <cp:lastModifiedBy>Admin</cp:lastModifiedBy>
  <cp:revision>55</cp:revision>
  <dcterms:created xsi:type="dcterms:W3CDTF">2022-11-11T07:42:25Z</dcterms:created>
  <dcterms:modified xsi:type="dcterms:W3CDTF">2023-02-20T16:56:36Z</dcterms:modified>
</cp:coreProperties>
</file>