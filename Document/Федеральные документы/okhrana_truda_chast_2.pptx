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15.03.2023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15.03.2023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15.03.2023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15.03.2023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15.03.2023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&#1073;&#1083;&#1086;&#1075;-&#1080;&#1085;&#1078;&#1077;&#1085;&#1077;&#1088;&#1072;.&#1088;&#1092;/npa/%d0%bf%d0%be%d1%81%d1%82%d0%b0%d0%bd%d0%be%d0%b2%d0%bb%d0%b5%d0%bd%d0%b8%d0%b5-2464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&#1073;&#1083;&#1086;&#1075;-&#1080;&#1085;&#1078;&#1077;&#1085;&#1077;&#1088;&#1072;.&#1088;&#1092;/npa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&#1073;&#1083;&#1086;&#1075;-&#1080;&#1085;&#1078;&#1077;&#1085;&#1077;&#1088;&#1072;.&#1088;&#1092;/trudovoj-kodeks/%d1%81%d1%82%d0%b0%d1%82%d1%8c%d1%8f-214-%d1%82%d0%ba-%d1%80%d1%84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&#1073;&#1083;&#1086;&#1075;-&#1080;&#1085;&#1078;&#1077;&#1085;&#1077;&#1088;&#1072;.&#1088;&#1092;/npa/%d0%bf%d0%be%d1%81%d1%82%d0%b0%d0%bd%d0%be%d0%b2%d0%bb%d0%b5%d0%bd%d0%b8%d0%b5-2464.html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bi-file.ru/archive/15-2-v-1677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/>
              <a:t>Обучение по охране труда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 smtClean="0"/>
              <a:t>Фонд развития детских лагерей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2919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Осенью 2022 года появилось письмо Минтруда от 22 сентября 2022 г. № 15-2/ООГ-2333 “Об обучении по охране труда” с разъяснениями по двум десяткам вопросов, связанных с реализацией требований новых правил обучения по охране труда</a:t>
            </a:r>
            <a:r>
              <a:rPr lang="ru-RU" dirty="0" smtClean="0"/>
              <a:t>.</a:t>
            </a:r>
          </a:p>
          <a:p>
            <a:pPr marL="0" indent="0" algn="just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Следует учесть ЕЩЕ!!!</a:t>
            </a:r>
          </a:p>
          <a:p>
            <a:pPr marL="0" indent="0" algn="just">
              <a:buNone/>
            </a:pPr>
            <a:r>
              <a:rPr lang="ru-RU" dirty="0" smtClean="0"/>
              <a:t>Письмо </a:t>
            </a:r>
            <a:r>
              <a:rPr lang="ru-RU" dirty="0"/>
              <a:t>Минтруда от 30 мая 2022 г. № 15-2/В-1677, </a:t>
            </a:r>
            <a:r>
              <a:rPr lang="ru-RU" dirty="0" smtClean="0"/>
              <a:t>Я выбрал </a:t>
            </a:r>
            <a:r>
              <a:rPr lang="ru-RU" dirty="0"/>
              <a:t>девять разъяснений по самым животрепещущим вопросам, систематизировали и снабдили выводами и полезной информацией.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9450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ru-RU" dirty="0"/>
              <a:t>Внеплановое обучение в некоторых случаях не требуется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b="1" dirty="0"/>
              <a:t>Внеплановое обучение</a:t>
            </a:r>
            <a:r>
              <a:rPr lang="ru-RU" dirty="0"/>
              <a:t> при переводе, при изменении названия должности или переименовании структурного подразделения не требуются только в том случае, если сохраняются условия труда работника, а также идентифицированные ранее источники опасности (п. 7 Правил</a:t>
            </a:r>
            <a:r>
              <a:rPr lang="ru-RU" dirty="0" smtClean="0"/>
              <a:t>).</a:t>
            </a:r>
          </a:p>
          <a:p>
            <a:pPr marL="0" indent="0" algn="just">
              <a:buNone/>
            </a:pPr>
            <a:r>
              <a:rPr lang="ru-RU" dirty="0"/>
              <a:t>Минтруд разъяснил, что под фразой “если сохраняются условия труда работника” следует понимать условия рабочего места работника и оборудование, с которым работник работает.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9338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/>
              <a:t>Точно также, не требуется проходить обучение тем, кто был обучен по охране труда до вступления в силу </a:t>
            </a:r>
            <a:r>
              <a:rPr lang="ru-RU" u="sng" dirty="0">
                <a:hlinkClick r:id="rId2"/>
              </a:rPr>
              <a:t>Постановления 2464</a:t>
            </a:r>
            <a:r>
              <a:rPr lang="ru-RU" dirty="0"/>
              <a:t> до окончания срока действия подтверждающих </a:t>
            </a:r>
            <a:r>
              <a:rPr lang="ru-RU" dirty="0" smtClean="0"/>
              <a:t>документов </a:t>
            </a:r>
            <a:r>
              <a:rPr lang="ru-RU" dirty="0"/>
              <a:t>(п. 2 Правил</a:t>
            </a:r>
            <a:r>
              <a:rPr lang="ru-RU" dirty="0" smtClean="0"/>
              <a:t>).</a:t>
            </a:r>
          </a:p>
          <a:p>
            <a:pPr marL="0" indent="0" algn="just">
              <a:buNone/>
            </a:pPr>
            <a:r>
              <a:rPr lang="ru-RU" dirty="0"/>
              <a:t>Минтруд </a:t>
            </a:r>
            <a:r>
              <a:rPr lang="ru-RU" dirty="0" smtClean="0"/>
              <a:t>разъяснил, </a:t>
            </a:r>
            <a:r>
              <a:rPr lang="ru-RU" dirty="0"/>
              <a:t>что Правилами установлены отдельные требования к лицам, проводящим обучение по охране труда, в зависимости от вида обучения по охране труда</a:t>
            </a:r>
            <a:r>
              <a:rPr lang="ru-RU" dirty="0" smtClean="0"/>
              <a:t>.</a:t>
            </a:r>
          </a:p>
          <a:p>
            <a:pPr marL="0" indent="0" algn="just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ПРИМЕР: Подпунктом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“е” пункта 53 Правил установлено, что лица, проводящие инструктажи по охране труда и обучение требованиям охраны труда, проходят обучение по программе обучения требованиям охраны труда, указанной в подпункте “б” пункта 46 Правил, а также по программам, обязательным для работников, в отношении которых проводится проверка знаний требований охраны труда, и (или) инструктаж по охране труда, и (или) обучение требованиям охраны труда.</a:t>
            </a: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04487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</a:t>
            </a:r>
            <a:r>
              <a:rPr lang="ru-RU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случае, если квалификация указанных лиц соответствует требованиям Правил, дополнительное обучение не требуется.</a:t>
            </a:r>
            <a:endParaRPr lang="ru-RU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1469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такое квалификация 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Квалификация</a:t>
            </a:r>
            <a:r>
              <a:rPr lang="ru-RU" dirty="0"/>
              <a:t> – это уровень знаний, умений, навыков и компетенции, характеризующий подготовленность к выполнению определённого вида профессиональной </a:t>
            </a:r>
            <a:r>
              <a:rPr lang="ru-RU" dirty="0" smtClean="0"/>
              <a:t>деятельности.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Как и кто должен определять соответствует ли квалификации членов комиссии требованиям Правил или нет, Минтруд не разъяснил. Это вне его компетенции. Всё-таки самый безопасный вариант в данном случае, это прохождение членами комиссии обучения в соответствии с Правилами.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6179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ВАЖНО!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К тому же подпунктом “е” пункта 53 Правил установлено, что лица, проводящие инструктажи по охране труда и обучение требованиям охраны труда, проходят обучение по программе обучения требованиям охраны труда, указанной в подпункте “б” пункта 46 Правил, а также по программам, обязательным для работников, в отношении которых проводится проверка знаний требований охраны труда, и (или) инструктаж по охране труда, и (или) обучение требованиям охраны труда.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8241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Разъяснения </a:t>
            </a:r>
            <a:r>
              <a:rPr lang="ru-RU" dirty="0" err="1" smtClean="0"/>
              <a:t>минтруда</a:t>
            </a:r>
            <a:r>
              <a:rPr lang="ru-RU" dirty="0" smtClean="0"/>
              <a:t>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 smtClean="0"/>
              <a:t>«</a:t>
            </a:r>
            <a:r>
              <a:rPr lang="ru-RU" dirty="0"/>
              <a:t>В случае если работник проходит проверку знаний безопасных методов и приёмов выполнения работ на высоте, то, соответственно, лицо, проводящие обучение, также должно быть обучено безопасным методам и приёмам выполнения работ на высоте в соответствии с требованиями, установленными Правилами по охране труда при работе на высоте, утверждёнными приказом Минтруда России от 16 ноября 2020 г. № 782н</a:t>
            </a:r>
            <a:r>
              <a:rPr lang="ru-RU" dirty="0" smtClean="0"/>
              <a:t>.»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8358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Квалификация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лиц, проводящих инструктажи по охране труда, обучение требованиям охраны труда и проверку знаний должна быть не ниже, чем квалификация работников, которых они обучают. В иных случаях обучающих лиц нужно дополнительно обучить, в том числе внепланово.</a:t>
            </a: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6976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ru-RU" dirty="0"/>
              <a:t>Внеплановый инструктаж надо проводить не всегда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Внеплановый инструктаж работникам нужно проводить только в случае, когда </a:t>
            </a:r>
            <a:r>
              <a:rPr lang="ru-RU" u="sng" dirty="0">
                <a:hlinkClick r:id="rId2"/>
              </a:rPr>
              <a:t>новыми НПА</a:t>
            </a:r>
            <a:r>
              <a:rPr lang="ru-RU" dirty="0"/>
              <a:t> вносятся изменения в трудовые функции работника (п. 16 Правил) или изменяются государственные нормативные требования охраны труда, затрагивающем непосредственно трудовые функции работника, а также изменении локальных нормативных актов организации, затрагивающем требования охраны труда в организации.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0041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ru-RU" sz="2800" dirty="0" smtClean="0"/>
          </a:p>
          <a:p>
            <a:pPr marL="0" indent="0" algn="ctr">
              <a:buNone/>
            </a:pPr>
            <a:r>
              <a:rPr lang="ru-RU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Проводите </a:t>
            </a:r>
            <a:r>
              <a:rPr lang="ru-RU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внеплановый инструктаж каждый раз, когда изменяются должностные обязанности работника или требования ОТ в Правилах и Инструкциях по охране труда, непосредственно касающиеся трудовой деятельности работника.</a:t>
            </a:r>
            <a:endParaRPr lang="ru-RU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06615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ru-RU" sz="3200" dirty="0"/>
              <a:t>Освобождение от первичного инструктажа офисных работников возможно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dirty="0"/>
              <a:t>Освобождение от первичного инструктажа “</a:t>
            </a:r>
            <a:r>
              <a:rPr lang="ru-RU" dirty="0" err="1"/>
              <a:t>офисников</a:t>
            </a:r>
            <a:r>
              <a:rPr lang="ru-RU" dirty="0"/>
              <a:t>” возможно в случае если их трудовая деятельность связана с опасностью, источниками которой являются персональные электронно-вычислительные машины (персональные компьютеры), аппараты копировально-множительной техники настольного типа, единичные стационарные копировально-множительные аппараты, используемые периодически для нужд самой организации, иная офисная организационная техника, а также бытовая техника, не используемая в технологическом процессе производства, и при этом другие источники опасности отсутствуют, а условия труда по результатам проведения специальной оценки условий труда являются оптимальными или допустимыми. Информация о безопасных методах и приёмах выполнения работ при наличии такой опасности должна быть включена в программу вводного инструктажа по охране труда (п. 13 Правил). При этом работодателем утверждается Перечень профессий и должностей работников, освобождённых от прохождения первичного инструктажа по охране труда.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8998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/>
              <a:t>Минтруд отметил, что задачей первичного инструктажа по охране труда является в том числе ознакомление работника с технологическим процессом и оборудованием на его рабочем месте, с требованиями безопасности при эксплуатации данного оборудования. В этой связи в пункте 13 Правил указаны те виды оборудования, при работе с которыми допускается освобождение работника от первичного инструктажа по охране труда.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В случае если по результатам оценки профессиональных рисков работодателем выявлены иные опасности, непосредственно не связанные с трудовой деятельностью работника (например, опасность падения со ступеней лестниц, при спотыкании), то информацию о них полагаем достаточным донести до работника в рамках вводного инструктажа по охране труда.</a:t>
            </a:r>
          </a:p>
        </p:txBody>
      </p:sp>
    </p:spTree>
    <p:extLst>
      <p:ext uri="{BB962C8B-B14F-4D97-AF65-F5344CB8AC3E}">
        <p14:creationId xmlns:p14="http://schemas.microsoft.com/office/powerpoint/2010/main" val="1689749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Если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 освободили работника от первичного инструктажа, но идентифицировали опасности, непосредственно не связанные с трудовой деятельностью работника, то информацию о них нужно включить в программу вводного инструктажа.</a:t>
            </a: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83748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ru-RU" sz="2800" dirty="0"/>
              <a:t>Если работник не прошёл обучение или проверку знаний допускать его до работы запрещено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/>
              <a:t>Если работник не прошёл обучение или проверку знаний допускать его до работы запрещено. Вновь принимаемые на работу работники, а также работники, переводимые на другую работу, проходят обучение требованиям охраны труда в сроки, установленные работодателем, но не позднее 60 календарных дней после заключения трудового договора или перевода на другую работу, за исключением случаев, предусмотренных пунктом 7 Правил. При этом не имеет значения 8 часов должен обучаться работник по одной программе или 72 часа по нескольким, оно должно быть пройдено в объёме, предусмотренном программой обучения, и успешно должно быть пройдена проверка знаний. И да, вы можете растянуть его на 60 дней, но имейте ввиду, этот работник будет выключен из процесса </a:t>
            </a:r>
            <a:r>
              <a:rPr lang="ru-RU" dirty="0" smtClean="0"/>
              <a:t>труда </a:t>
            </a:r>
            <a:r>
              <a:rPr lang="ru-RU" dirty="0"/>
              <a:t>все время, пока обучается.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1463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ru-RU" dirty="0"/>
              <a:t>Минтруд пояснил, что согласно </a:t>
            </a:r>
            <a:r>
              <a:rPr lang="ru-RU" u="sng" dirty="0">
                <a:hlinkClick r:id="rId2"/>
              </a:rPr>
              <a:t>статье 214 ТК РФ</a:t>
            </a:r>
            <a:r>
              <a:rPr lang="ru-RU" dirty="0"/>
              <a:t> работодатель обязан обеспечить недопущение работников к исполнению ими трудовых обязанностей без прохождения в установленном порядке обучения по охране труда, в том числе обучения безопасным методам и приёмам выполнения работ, обучения по оказанию первой помощи пострадавшим на производстве, обучения по использованию (применению) средств индивидуальной защиты, инструктажа по охране труда, стажировки на рабочем месте (для определённых категорий работников) и проверки знания требований охраны труда.</a:t>
            </a:r>
          </a:p>
          <a:p>
            <a:pPr marL="0" indent="0" algn="just">
              <a:buNone/>
            </a:pPr>
            <a:r>
              <a:rPr lang="ru-RU" dirty="0"/>
              <a:t>В соответствии с пунктом 79 Правил работник, показавший в рамках проверки знания требований охраны труда неудовлетворительные знания, не допускается к самостоятельному выполнению трудовых обязанностей и направляется работодателем в течение 30 календарных дней со дня проведения проверки знания требований охраны труда повторно на проверку знания требований охраны труда.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3249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Исходя из положений пункта 79 Правил следует, что работник, показавший неудовлетворительные знания по результатам прохождения проверки знания требований охраны труда, не допускается к самостоятельному выполнению трудовых обязанностей и направляется работодателем в течение 30 календарных дней со дня проведения проверки знания требований охраны труда повторно на подготовку и проверку знания требований охраны труда.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Работодателю в таком случае Минтруд рекомендует обратить внимание работника на подготовку к проверке знаний требований охраны труда.</a:t>
            </a:r>
          </a:p>
        </p:txBody>
      </p:sp>
    </p:spTree>
    <p:extLst>
      <p:ext uri="{BB962C8B-B14F-4D97-AF65-F5344CB8AC3E}">
        <p14:creationId xmlns:p14="http://schemas.microsoft.com/office/powerpoint/2010/main" val="2976541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endParaRPr lang="ru-RU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Допускать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работника до работы можно только после завершения всех видов обучения по охране труда, предусмотренных для его должности/профессии.</a:t>
            </a: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09050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ru-RU" sz="2800" dirty="0"/>
              <a:t>Освободить работника от обучения по охране труда нельзя, но можно варьировать программу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b="1" dirty="0"/>
              <a:t>Освободить работника от обучения по охране труда нельзя</a:t>
            </a:r>
            <a:r>
              <a:rPr lang="ru-RU" dirty="0"/>
              <a:t>, но согласно пункту 80 Правил планирование обучения по охране труда осуществляется посредством установления потребности организации в проведении обучения по охране труда с указанием профессии и должности работников, подлежащих обучению по охране труда, прохождению стажировки на рабочем месте, инструктажа по охране труда.</a:t>
            </a:r>
          </a:p>
          <a:p>
            <a:pPr marL="0" indent="0" algn="just">
              <a:buNone/>
            </a:pPr>
            <a:r>
              <a:rPr lang="ru-RU" dirty="0"/>
              <a:t>При этом пунктом 81 Правил установлено, что форма и порядок учёта работников, подлежащих обучению по охране труда, устанавливаются работодателем.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407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Минтруд указал, что при определении перечня работников, подлежащих обучению требованиям охраны труда, необходимо учитывать профессию работника, вид выполняемых работ и специфику деятельности организации.</a:t>
            </a:r>
          </a:p>
          <a:p>
            <a:pPr marL="0" indent="0" algn="just">
              <a:buNone/>
            </a:pPr>
            <a:r>
              <a:rPr lang="ru-RU" dirty="0"/>
              <a:t>Если вы последуете этому совету, по при составлении матрицы потребности в обучении у вас могут оказаться работники, которым достаточно провести только вводный инструктаж. Он, в отличии от иных видов обучения обязателен для всех работников.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2500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Обязательность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обучения по охране труда работников определяется в ходе выявления потребности в обучении. Минимально возможный объем обучения – вводный инструктаж в объёме, предусмотренном программой обучения.</a:t>
            </a: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44747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ru-RU" sz="3200" dirty="0"/>
              <a:t>Инструктажи можно фиксировать в любой форме при указании всех сведений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b="1" dirty="0"/>
              <a:t>Журналы регистрации инструктажа можно не вести</a:t>
            </a:r>
            <a:r>
              <a:rPr lang="ru-RU" dirty="0"/>
              <a:t> – это всего лишь одна из форм его регистрации. Пунктом 87 Правил установлена информация, которая указывается при регистрации проведения инструктажа по охране труда на рабочем месте (первичный, повторный, внеплановый), а также целевого инструктажа по охране труда. При этом пунктом 88 Правил установлено, что порядок регистрации проведённого инструктажа по охране труда и форма его документирования утверждаются работодателем.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1219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практике специалистов по охране труда используются такие формы для фиксации инструктажей, как</a:t>
            </a:r>
            <a:r>
              <a:rPr lang="ru-RU" dirty="0" smtClean="0"/>
              <a:t>:</a:t>
            </a:r>
          </a:p>
          <a:p>
            <a:pPr marL="0" indent="0">
              <a:buNone/>
            </a:pPr>
            <a:endParaRPr lang="ru-RU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smtClean="0"/>
              <a:t>Лист </a:t>
            </a:r>
            <a:r>
              <a:rPr lang="ru-RU" dirty="0"/>
              <a:t>контроля / регистрации инструктажей (может печататься разово на тех сотрудников, которые проходят инструктаж. На каждый новый инструктаж новый лист) СФ</a:t>
            </a:r>
            <a:r>
              <a:rPr lang="ru-RU" dirty="0" smtClean="0"/>
              <a:t>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Личная карточка инструктажей работника СФ;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Личная книжка инструктажей работника СФ.</a:t>
            </a:r>
          </a:p>
          <a:p>
            <a:pPr marL="0" indent="0" algn="just">
              <a:buNone/>
            </a:pP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2207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Инструктаж </a:t>
            </a:r>
            <a:r>
              <a:rPr lang="ru-RU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можно фиксировать в любой форме при условии, что в ней указаны все, предусмотренные Правила, сведения.</a:t>
            </a:r>
            <a:endParaRPr lang="ru-RU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5690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ru-RU" dirty="0"/>
              <a:t>Чем заменить журнал регистрации инструктажа по охране труда?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 smtClean="0"/>
              <a:t>	Согласно</a:t>
            </a:r>
            <a:r>
              <a:rPr lang="ru-RU" dirty="0"/>
              <a:t> </a:t>
            </a:r>
            <a:r>
              <a:rPr lang="ru-RU" u="sng" dirty="0">
                <a:hlinkClick r:id="rId2"/>
              </a:rPr>
              <a:t>Постановлению Правительства РФ от 24 декабря 2021 года № 2464</a:t>
            </a:r>
            <a:r>
              <a:rPr lang="ru-RU" dirty="0"/>
              <a:t> “О порядке обучения по охране труда и проверки знания требований охраны труда” инструктаж по охране труда заканчивается проверкой знания требований охраны труда (п.23</a:t>
            </a:r>
            <a:r>
              <a:rPr lang="ru-RU" dirty="0" smtClean="0"/>
              <a:t>).</a:t>
            </a:r>
          </a:p>
          <a:p>
            <a:pPr marL="0" indent="0" algn="just">
              <a:buNone/>
            </a:pPr>
            <a:r>
              <a:rPr lang="ru-RU" dirty="0" smtClean="0"/>
              <a:t>	Порядок </a:t>
            </a:r>
            <a:r>
              <a:rPr lang="ru-RU" dirty="0"/>
              <a:t>регистрации проведённого инструктажа по охране труда и форма его документирования утверждаются работодателем (п.88).</a:t>
            </a:r>
          </a:p>
          <a:p>
            <a:pPr marL="0" indent="0" algn="just">
              <a:buNone/>
            </a:pPr>
            <a:r>
              <a:rPr lang="ru-RU" dirty="0" smtClean="0"/>
              <a:t>	В </a:t>
            </a:r>
            <a:r>
              <a:rPr lang="ru-RU" dirty="0"/>
              <a:t>п.87. определена информация, которая должна быть отражена при регистрации инструктажа по охране труда на рабочем месте.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0719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ВАЖНО!!!!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Слово “ЖУРНАЛ” по тексту документа не упоминается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 algn="just">
              <a:buNone/>
            </a:pPr>
            <a:r>
              <a:rPr lang="ru-RU" dirty="0"/>
              <a:t>Таким образом, с 1 сентября 2022 г. на усмотрение работодателя взамен журнала регистрации инструктажа по охране труда допускается фиксация его проведения любым способом, утверждённым локальным актом.</a:t>
            </a:r>
          </a:p>
          <a:p>
            <a:pPr marL="0" indent="0" algn="just">
              <a:buNone/>
            </a:pPr>
            <a:r>
              <a:rPr lang="ru-RU" dirty="0"/>
              <a:t>Это же подтверждается </a:t>
            </a:r>
            <a:r>
              <a:rPr lang="ru-RU" u="sng" dirty="0">
                <a:hlinkClick r:id="rId2"/>
              </a:rPr>
              <a:t>письмом Минтруда РФ от 30.05.2022г. № 15-2/В-1677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9641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Варианты наименования документа: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Журнал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Лист контроля / регистрации инструктажей (может печататься разово на тех сотрудников, которые проходят инструктаж. На каждый новый инструктаж новый лист)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Личная карточка инструктажей работника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Личная книжка инструктажей работника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4982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dirty="0"/>
              <a:t>Сроки хранения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Согласно п.423 приказа </a:t>
            </a:r>
            <a:r>
              <a:rPr lang="ru-RU" dirty="0" err="1"/>
              <a:t>Росархива</a:t>
            </a:r>
            <a:r>
              <a:rPr lang="ru-RU" dirty="0"/>
              <a:t> от 20.12.2019 № 236 “Об утверждении Перечня типовых управленческих архивных документов, образующихся в процессе деятельности государственных органов, органов местного самоуправления и организаций, с указанием сроков их хранения” , </a:t>
            </a:r>
            <a:r>
              <a:rPr lang="ru-RU" b="1" dirty="0"/>
              <a:t>журналы, книги учёта</a:t>
            </a:r>
            <a:r>
              <a:rPr lang="ru-RU" b="1" dirty="0" smtClean="0"/>
              <a:t>:</a:t>
            </a:r>
          </a:p>
          <a:p>
            <a:pPr marL="0" indent="0" algn="just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а) инструктажа по охране труда (вводного и на рабочем месте); – 45 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лет»</a:t>
            </a: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78859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dirty="0"/>
              <a:t>Реестры обучения доступны на сайте Минтруда, но использовать их надо после 1 марта 2023 года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Реестр индивидуальных предпринимателей и юридических лиц, осуществляющих деятельность по обучению своих работников вопросам охраны </a:t>
            </a:r>
            <a:r>
              <a:rPr lang="ru-RU" dirty="0" smtClean="0"/>
              <a:t>труда</a:t>
            </a:r>
            <a:r>
              <a:rPr lang="ru-RU" dirty="0"/>
              <a:t> и Реестр обученных по охране </a:t>
            </a:r>
            <a:r>
              <a:rPr lang="ru-RU" dirty="0" smtClean="0"/>
              <a:t>труда</a:t>
            </a:r>
            <a:r>
              <a:rPr lang="ru-RU" dirty="0"/>
              <a:t> уже появились на сайте </a:t>
            </a:r>
            <a:r>
              <a:rPr lang="ru-RU" dirty="0" smtClean="0"/>
              <a:t>ЕСИОТ.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Появилась возможность проверить обучен ли по охране труда работник на сайте ЕСИОТ.</a:t>
            </a: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081624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59300"/>
            <a:ext cx="8229600" cy="2758599"/>
          </a:xfrm>
        </p:spPr>
      </p:pic>
    </p:spTree>
    <p:extLst>
      <p:ext uri="{BB962C8B-B14F-4D97-AF65-F5344CB8AC3E}">
        <p14:creationId xmlns:p14="http://schemas.microsoft.com/office/powerpoint/2010/main" val="1560778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Важно!!!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ru-RU" sz="4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ru-RU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Заполнять </a:t>
            </a:r>
            <a:r>
              <a:rPr lang="ru-RU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Реестры </a:t>
            </a:r>
            <a:r>
              <a:rPr lang="ru-RU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начинаем </a:t>
            </a:r>
            <a:r>
              <a:rPr lang="ru-RU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только </a:t>
            </a:r>
            <a:r>
              <a:rPr lang="ru-RU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 </a:t>
            </a:r>
            <a:r>
              <a:rPr lang="ru-RU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марта 2023 </a:t>
            </a:r>
            <a:r>
              <a:rPr lang="ru-RU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года!!!</a:t>
            </a:r>
            <a:endParaRPr lang="ru-RU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961684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Обратите внимание!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В выпадающем списке в окне «Программы обучения» Реестр обученных лиц поименованы возможные наименования программ:</a:t>
            </a:r>
          </a:p>
          <a:p>
            <a:pPr marL="0" indent="0">
              <a:buNone/>
            </a:pPr>
            <a:r>
              <a:rPr lang="ru-RU" dirty="0"/>
              <a:t>— Оказание первой помощи пострадавшим</a:t>
            </a:r>
          </a:p>
          <a:p>
            <a:pPr marL="0" indent="0">
              <a:buNone/>
            </a:pPr>
            <a:r>
              <a:rPr lang="ru-RU" dirty="0"/>
              <a:t>— Использование (применение) СИЗ</a:t>
            </a:r>
          </a:p>
          <a:p>
            <a:pPr marL="0" indent="0">
              <a:buNone/>
            </a:pPr>
            <a:r>
              <a:rPr lang="ru-RU" dirty="0"/>
              <a:t>— Общие вопросы функционирования СУОТ</a:t>
            </a:r>
          </a:p>
          <a:p>
            <a:pPr marL="0" indent="0">
              <a:buNone/>
            </a:pPr>
            <a:r>
              <a:rPr lang="ru-RU" dirty="0"/>
              <a:t>— Безопасные методы и приёмы </a:t>
            </a:r>
            <a:r>
              <a:rPr lang="ru-RU" dirty="0" smtClean="0"/>
              <a:t>выполнения.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58060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НЕОБХОДИМО ЗАРЕГИСТРИРОВАТЬСЯ В РЕЕСТРЕ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ru-RU" dirty="0" smtClean="0"/>
              <a:t>	Пункт </a:t>
            </a:r>
            <a:r>
              <a:rPr lang="ru-RU" dirty="0"/>
              <a:t>106 Правил содержит сведения, которые указываются при регистрации в реестре индивидуальных предпринимателей и юридических лиц, осуществляющих деятельность по обучению своих работников вопросам охраны труда.</a:t>
            </a:r>
          </a:p>
          <a:p>
            <a:pPr marL="0" indent="0" algn="just">
              <a:buNone/>
            </a:pPr>
            <a:r>
              <a:rPr lang="ru-RU" dirty="0" smtClean="0"/>
              <a:t>	Регистрации </a:t>
            </a:r>
            <a:r>
              <a:rPr lang="ru-RU" dirty="0"/>
              <a:t>в данном реестре подлежат индивидуальные предприниматели и юридические лица, осуществляющие деятельность по обучению своих работников вопросам охраны труда, соответствующие требованиям пунктов 96-98 Правил и проинформировавшие Минтруда о намерении осуществлять деятельность по обучению своих работников вопросам охраны труда.</a:t>
            </a:r>
          </a:p>
          <a:p>
            <a:pPr marL="0" indent="0" algn="just">
              <a:buNone/>
            </a:pPr>
            <a:r>
              <a:rPr lang="ru-RU" dirty="0" smtClean="0"/>
              <a:t>	Регистрация </a:t>
            </a:r>
            <a:r>
              <a:rPr lang="ru-RU" dirty="0"/>
              <a:t>уведомления осуществляется посредством заполнения работодателем электронной формы в ЕСИОТ. Уведомление подписывается электронной подписью (п. 107 Правил).</a:t>
            </a:r>
          </a:p>
          <a:p>
            <a:pPr marL="0" indent="0" algn="just">
              <a:buNone/>
            </a:pPr>
            <a:r>
              <a:rPr lang="ru-RU" dirty="0" smtClean="0"/>
              <a:t>	Передача </a:t>
            </a:r>
            <a:r>
              <a:rPr lang="ru-RU" dirty="0"/>
              <a:t>этих сведений в реестр обученных лиц также осуществляется путём импортирования в виде электронного документа (п.119).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5949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ВЫВОД!!!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Направление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уведомлений индивидуальными предпринимателями и юридическими лицами, планирующими осуществлять деятельность по обучению своих работников вопросам охраны труда до 1 марта 2023 г. не 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требовалось.</a:t>
            </a:r>
          </a:p>
          <a:p>
            <a:pPr marL="0" indent="0" algn="ctr">
              <a:buNone/>
            </a:pP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НО!!! С 01.03.2023 года ЭТА РЕГИСТРАЦИЯ НЕОБХОДИМА!!!</a:t>
            </a: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37902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Новые </a:t>
            </a:r>
            <a:r>
              <a:rPr lang="ru-RU" dirty="0"/>
              <a:t>Правила эвакуации при ЧС</a:t>
            </a:r>
            <a:br>
              <a:rPr lang="ru-RU" dirty="0"/>
            </a:b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66436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b="1" dirty="0"/>
              <a:t>Правительство утвердило Правила эвакуации граждан при чрезвычайных ситуациях природного и техногенного характера или угрозе их возникновения</a:t>
            </a:r>
            <a:r>
              <a:rPr lang="ru-RU" b="1" dirty="0" smtClean="0"/>
              <a:t>.</a:t>
            </a:r>
          </a:p>
          <a:p>
            <a:pPr marL="0" indent="0" algn="just">
              <a:buNone/>
            </a:pPr>
            <a:r>
              <a:rPr lang="ru-RU" dirty="0"/>
              <a:t>Соответствующее Постановление Правительства РФ от 19 сентября 2022 г. № 1654 “Об утверждении Правил проведения эвакуационных мероприятий при угрозе возникновения или возникновении чрезвычайных ситуаций природного и техногенного характера” опубликовано на портале правовой информации.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31063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Отметим некоторые мероприятия, которые проводят работодатели.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!!!! </a:t>
            </a: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Решение об эвакуации может принять в том числе руководитель организации</a:t>
            </a:r>
            <a:r>
              <a:rPr lang="ru-RU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 algn="just">
              <a:buNone/>
            </a:pPr>
            <a:r>
              <a:rPr lang="ru-RU" dirty="0" smtClean="0"/>
              <a:t> </a:t>
            </a:r>
            <a:r>
              <a:rPr lang="ru-RU" dirty="0"/>
              <a:t>Он определяет</a:t>
            </a:r>
            <a:r>
              <a:rPr lang="ru-RU" dirty="0" smtClean="0"/>
              <a:t>:</a:t>
            </a:r>
          </a:p>
          <a:p>
            <a:pPr algn="just"/>
            <a:r>
              <a:rPr lang="ru-RU" dirty="0"/>
              <a:t>места сбора и (или) посадки на транспорт;</a:t>
            </a:r>
          </a:p>
          <a:p>
            <a:pPr algn="just"/>
            <a:r>
              <a:rPr lang="ru-RU" dirty="0"/>
              <a:t>перечень материальных и культурных ценностей;</a:t>
            </a:r>
          </a:p>
          <a:p>
            <a:pPr algn="just"/>
            <a:r>
              <a:rPr lang="ru-RU" dirty="0"/>
              <a:t>маршруты, способы и сроки эвакуации граждан и ценностей;</a:t>
            </a:r>
          </a:p>
          <a:p>
            <a:pPr algn="just"/>
            <a:r>
              <a:rPr lang="ru-RU" dirty="0"/>
              <a:t>список транспорта;</a:t>
            </a:r>
          </a:p>
          <a:p>
            <a:pPr algn="just"/>
            <a:r>
              <a:rPr lang="ru-RU" dirty="0"/>
              <a:t>перечень пунктов временного размещения и питания;</a:t>
            </a:r>
          </a:p>
          <a:p>
            <a:pPr algn="just"/>
            <a:r>
              <a:rPr lang="ru-RU" dirty="0"/>
              <a:t>места хранения ценностей.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33123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эвакуации нужно</a:t>
            </a:r>
            <a:r>
              <a:rPr lang="ru-RU" dirty="0" smtClean="0"/>
              <a:t>:</a:t>
            </a:r>
          </a:p>
          <a:p>
            <a:pPr algn="just"/>
            <a:r>
              <a:rPr lang="ru-RU" dirty="0"/>
              <a:t>оповестить о маршрутах и способах эвакуации работников и всех, кто находится в организации;</a:t>
            </a:r>
          </a:p>
          <a:p>
            <a:pPr algn="just"/>
            <a:r>
              <a:rPr lang="ru-RU" dirty="0"/>
              <a:t>вывести или перевезти людей в безопасное место;</a:t>
            </a:r>
          </a:p>
          <a:p>
            <a:pPr algn="just"/>
            <a:r>
              <a:rPr lang="ru-RU" dirty="0"/>
              <a:t>вынести или вывезти ценности (при необходимости).</a:t>
            </a:r>
          </a:p>
          <a:p>
            <a:pPr marL="0" indent="0" algn="just">
              <a:buNone/>
            </a:pPr>
            <a:endParaRPr lang="ru-RU" dirty="0" smtClean="0"/>
          </a:p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Правила эвакуации вступят в силу в силу с 1 марта 2023 г. и будут действовать до 1 марта 2029 г. включительно.</a:t>
            </a: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96714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98148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Ясность">
  <a:themeElements>
    <a:clrScheme name="Ясность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Классическая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Ясност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74</TotalTime>
  <Words>1614</Words>
  <Application>Microsoft Office PowerPoint</Application>
  <PresentationFormat>Экран (4:3)</PresentationFormat>
  <Paragraphs>126</Paragraphs>
  <Slides>39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0" baseType="lpstr">
      <vt:lpstr>Ясность</vt:lpstr>
      <vt:lpstr>Обучение по охране труда</vt:lpstr>
      <vt:lpstr>Презентация PowerPoint</vt:lpstr>
      <vt:lpstr>Внеплановое обучение в некоторых случаях не требуется</vt:lpstr>
      <vt:lpstr>Презентация PowerPoint</vt:lpstr>
      <vt:lpstr>ВЫВОД</vt:lpstr>
      <vt:lpstr>Что такое квалификация ?</vt:lpstr>
      <vt:lpstr>ВАЖНО!</vt:lpstr>
      <vt:lpstr>Разъяснения минтруда!</vt:lpstr>
      <vt:lpstr>ВЫВОД!</vt:lpstr>
      <vt:lpstr>Внеплановый инструктаж надо проводить не всегда</vt:lpstr>
      <vt:lpstr>ВЫВОД!</vt:lpstr>
      <vt:lpstr>Освобождение от первичного инструктажа офисных работников возможно</vt:lpstr>
      <vt:lpstr>Презентация PowerPoint</vt:lpstr>
      <vt:lpstr>ВЫВОД!</vt:lpstr>
      <vt:lpstr>Если работник не прошёл обучение или проверку знаний допускать его до работы запрещено</vt:lpstr>
      <vt:lpstr>Презентация PowerPoint</vt:lpstr>
      <vt:lpstr>Презентация PowerPoint</vt:lpstr>
      <vt:lpstr>ВЫВОД!!!</vt:lpstr>
      <vt:lpstr>Освободить работника от обучения по охране труда нельзя, но можно варьировать программу</vt:lpstr>
      <vt:lpstr>Презентация PowerPoint</vt:lpstr>
      <vt:lpstr>Вывод!!!</vt:lpstr>
      <vt:lpstr>Инструктажи можно фиксировать в любой форме при указании всех сведений</vt:lpstr>
      <vt:lpstr>Презентация PowerPoint</vt:lpstr>
      <vt:lpstr>Вывод!!!</vt:lpstr>
      <vt:lpstr>Чем заменить журнал регистрации инструктажа по охране труда?</vt:lpstr>
      <vt:lpstr>ВАЖНО!!!!</vt:lpstr>
      <vt:lpstr>Варианты наименования документа:</vt:lpstr>
      <vt:lpstr>Сроки хранения</vt:lpstr>
      <vt:lpstr>Реестры обучения доступны на сайте Минтруда, но использовать их надо после 1 марта 2023 года</vt:lpstr>
      <vt:lpstr>Презентация PowerPoint</vt:lpstr>
      <vt:lpstr>Важно!!!</vt:lpstr>
      <vt:lpstr>Обратите внимание!</vt:lpstr>
      <vt:lpstr>НЕОБХОДИМО ЗАРЕГИСТРИРОВАТЬСЯ В РЕЕСТРЕ</vt:lpstr>
      <vt:lpstr>ВЫВОД!!!</vt:lpstr>
      <vt:lpstr>    Новые Правила эвакуации при ЧС </vt:lpstr>
      <vt:lpstr>Презентация PowerPoint</vt:lpstr>
      <vt:lpstr>Отметим некоторые мероприятия, которые проводят работодатели.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Обучение по охране труда</dc:title>
  <dc:creator>Admin</dc:creator>
  <cp:lastModifiedBy>Admin</cp:lastModifiedBy>
  <cp:revision>39</cp:revision>
  <dcterms:created xsi:type="dcterms:W3CDTF">2023-03-15T05:06:43Z</dcterms:created>
  <dcterms:modified xsi:type="dcterms:W3CDTF">2023-03-15T06:31:33Z</dcterms:modified>
</cp:coreProperties>
</file>